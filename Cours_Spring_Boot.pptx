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3"/>
  </p:notesMasterIdLst>
  <p:sldIdLst>
    <p:sldId id="290" r:id="rId2"/>
    <p:sldId id="320" r:id="rId3"/>
    <p:sldId id="256" r:id="rId4"/>
    <p:sldId id="257" r:id="rId5"/>
    <p:sldId id="258" r:id="rId6"/>
    <p:sldId id="288" r:id="rId7"/>
    <p:sldId id="287" r:id="rId8"/>
    <p:sldId id="261" r:id="rId9"/>
    <p:sldId id="321" r:id="rId10"/>
    <p:sldId id="319" r:id="rId11"/>
    <p:sldId id="292" r:id="rId12"/>
    <p:sldId id="327" r:id="rId13"/>
    <p:sldId id="263" r:id="rId14"/>
    <p:sldId id="289" r:id="rId15"/>
    <p:sldId id="291" r:id="rId16"/>
    <p:sldId id="293" r:id="rId17"/>
    <p:sldId id="328" r:id="rId18"/>
    <p:sldId id="294" r:id="rId19"/>
    <p:sldId id="295" r:id="rId20"/>
    <p:sldId id="299" r:id="rId21"/>
    <p:sldId id="329" r:id="rId22"/>
    <p:sldId id="300" r:id="rId23"/>
    <p:sldId id="301" r:id="rId24"/>
    <p:sldId id="296" r:id="rId25"/>
    <p:sldId id="330" r:id="rId26"/>
    <p:sldId id="297" r:id="rId27"/>
    <p:sldId id="298" r:id="rId28"/>
    <p:sldId id="302" r:id="rId29"/>
    <p:sldId id="331" r:id="rId30"/>
    <p:sldId id="303" r:id="rId31"/>
    <p:sldId id="304" r:id="rId32"/>
    <p:sldId id="332" r:id="rId33"/>
    <p:sldId id="305" r:id="rId34"/>
    <p:sldId id="307" r:id="rId35"/>
    <p:sldId id="308" r:id="rId36"/>
    <p:sldId id="309" r:id="rId37"/>
    <p:sldId id="310" r:id="rId38"/>
    <p:sldId id="306" r:id="rId39"/>
    <p:sldId id="266" r:id="rId40"/>
    <p:sldId id="311" r:id="rId41"/>
    <p:sldId id="313" r:id="rId42"/>
    <p:sldId id="312" r:id="rId43"/>
    <p:sldId id="314" r:id="rId44"/>
    <p:sldId id="315" r:id="rId45"/>
    <p:sldId id="316" r:id="rId46"/>
    <p:sldId id="317" r:id="rId47"/>
    <p:sldId id="318" r:id="rId48"/>
    <p:sldId id="259" r:id="rId49"/>
    <p:sldId id="333" r:id="rId50"/>
    <p:sldId id="334" r:id="rId51"/>
    <p:sldId id="335"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1F2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575" autoAdjust="0"/>
    <p:restoredTop sz="97386" autoAdjust="0"/>
  </p:normalViewPr>
  <p:slideViewPr>
    <p:cSldViewPr snapToGrid="0" snapToObjects="1">
      <p:cViewPr>
        <p:scale>
          <a:sx n="66" d="100"/>
          <a:sy n="66" d="100"/>
        </p:scale>
        <p:origin x="936" y="322"/>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20DDB9-2FF3-4524-881B-0343EB6B0466}" type="datetimeFigureOut">
              <a:rPr lang="fr-FR" smtClean="0"/>
              <a:t>28/09/2026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3BD6FD-15FA-458B-AD64-047F8AC1F39F}" type="slidenum">
              <a:rPr lang="fr-FR" smtClean="0"/>
              <a:t>‹N°›</a:t>
            </a:fld>
            <a:endParaRPr lang="fr-FR"/>
          </a:p>
        </p:txBody>
      </p:sp>
    </p:spTree>
    <p:extLst>
      <p:ext uri="{BB962C8B-B14F-4D97-AF65-F5344CB8AC3E}">
        <p14:creationId xmlns:p14="http://schemas.microsoft.com/office/powerpoint/2010/main" val="342419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965CE2A-03C8-4364-BC55-7F57E3C4757F}" type="datetime1">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EF79438-3C60-412E-9E33-DE6B63950BAC}" type="datetime1">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F2E3FD-11D6-412D-B01C-7470A1E400E2}" type="datetime1">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6E06E79-68BD-4E31-AD7C-E603A9ABF02C}" type="datetime1">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CBCD069-85A8-4901-A545-B0534A28E7CF}" type="datetime1">
              <a:rPr lang="en-US" smtClean="0"/>
              <a:t>9/28/2026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73C8C9-371A-4929-9E38-DC831D8FAE3F}" type="datetime1">
              <a:rPr lang="en-US" smtClean="0"/>
              <a:t>9/28/2026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8E8348-8E7E-4F76-83C4-23716BC43D84}" type="datetime1">
              <a:rPr lang="en-US" smtClean="0"/>
              <a:t>9/28/2026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A2F1E62-9A80-4556-A7C8-11C4B755C817}" type="datetime1">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82F646-E413-4A3B-9A05-ECDB39431F68}" type="datetime1">
              <a:rPr lang="en-US" smtClean="0"/>
              <a:t>9/28/2026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3351AD-4D63-4335-A5E1-E11A36ABCE9E}" type="datetime1">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94026B-8870-4575-8540-E518389DF285}" type="datetime1">
              <a:rPr lang="en-US" smtClean="0"/>
              <a:t>9/28/2026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FA2A17-9DEF-4748-8AAD-44CE0C3DE75C}" type="datetime1">
              <a:rPr lang="en-US" smtClean="0"/>
              <a:t>9/28/2026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hyperlink" Target="https://dbeaver.io/download/" TargetMode="External"/><Relationship Id="rId2" Type="http://schemas.openxmlformats.org/officeDocument/2006/relationships/hyperlink" Target="https://adoptium.net/temurin/releases?version=21&amp;os=any&amp;arch=any" TargetMode="External"/><Relationship Id="rId1" Type="http://schemas.openxmlformats.org/officeDocument/2006/relationships/slideLayout" Target="../slideLayouts/slideLayout7.xml"/><Relationship Id="rId5" Type="http://schemas.openxmlformats.org/officeDocument/2006/relationships/hyperlink" Target="https://nodejs.org/fr/download" TargetMode="External"/><Relationship Id="rId4" Type="http://schemas.openxmlformats.org/officeDocument/2006/relationships/hyperlink" Target="https://www.postgresql.org/download/"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hyperlink" Target="https://github.com/Estellemonv/ludotech-backend-tp" TargetMode="External"/><Relationship Id="rId2" Type="http://schemas.openxmlformats.org/officeDocument/2006/relationships/hyperlink" Target="https://github.com/Estellemonv/ludotech-frontend-tp" TargetMode="Externa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www.liquibase.org/xml/ns/dbchangelog/dbchangelog-4.21.xsd"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2D654-954E-001C-1A14-205E237CB68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DD811A8-0CA8-B52B-1915-F8C843DD264B}"/>
              </a:ext>
            </a:extLst>
          </p:cNvPr>
          <p:cNvSpPr/>
          <p:nvPr/>
        </p:nvSpPr>
        <p:spPr>
          <a:xfrm>
            <a:off x="0" y="0"/>
            <a:ext cx="12191695" cy="68580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E28D57AF-6300-B72F-6A48-4C1BC9EAEB95}"/>
              </a:ext>
            </a:extLst>
          </p:cNvPr>
          <p:cNvSpPr txBox="1"/>
          <p:nvPr/>
        </p:nvSpPr>
        <p:spPr>
          <a:xfrm>
            <a:off x="1752447" y="2859613"/>
            <a:ext cx="8686800" cy="615553"/>
          </a:xfrm>
          <a:prstGeom prst="rect">
            <a:avLst/>
          </a:prstGeom>
          <a:noFill/>
        </p:spPr>
        <p:txBody>
          <a:bodyPr wrap="square">
            <a:spAutoFit/>
          </a:bodyPr>
          <a:lstStyle/>
          <a:p>
            <a:pPr algn="ctr">
              <a:defRPr sz="3400" b="1">
                <a:solidFill>
                  <a:srgbClr val="FFFFFF"/>
                </a:solidFill>
                <a:latin typeface="Aptos"/>
              </a:defRPr>
            </a:pPr>
            <a:r>
              <a:rPr lang="fr-FR" dirty="0"/>
              <a:t>Le métier de </a:t>
            </a:r>
            <a:r>
              <a:rPr lang="fr-FR" dirty="0" err="1"/>
              <a:t>developpeur</a:t>
            </a:r>
            <a:r>
              <a:rPr lang="fr-FR" dirty="0"/>
              <a:t> </a:t>
            </a:r>
            <a:endParaRPr dirty="0"/>
          </a:p>
        </p:txBody>
      </p:sp>
      <p:sp>
        <p:nvSpPr>
          <p:cNvPr id="7" name="Espace réservé du numéro de diapositive 6">
            <a:extLst>
              <a:ext uri="{FF2B5EF4-FFF2-40B4-BE49-F238E27FC236}">
                <a16:creationId xmlns:a16="http://schemas.microsoft.com/office/drawing/2014/main" id="{BDFF1060-8E52-C30E-BFBC-2AF1454A024D}"/>
              </a:ext>
            </a:extLst>
          </p:cNvPr>
          <p:cNvSpPr>
            <a:spLocks noGrp="1"/>
          </p:cNvSpPr>
          <p:nvPr>
            <p:ph type="sldNum" sz="quarter" idx="12"/>
          </p:nvPr>
        </p:nvSpPr>
        <p:spPr/>
        <p:txBody>
          <a:bodyPr/>
          <a:lstStyle/>
          <a:p>
            <a:fld id="{C1FF6DA9-008F-8B48-92A6-B652298478BF}" type="slidenum">
              <a:rPr lang="en-US" smtClean="0"/>
              <a:t>1</a:t>
            </a:fld>
            <a:endParaRPr lang="en-US"/>
          </a:p>
        </p:txBody>
      </p:sp>
    </p:spTree>
    <p:extLst>
      <p:ext uri="{BB962C8B-B14F-4D97-AF65-F5344CB8AC3E}">
        <p14:creationId xmlns:p14="http://schemas.microsoft.com/office/powerpoint/2010/main" val="573001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7CE10-F375-A32E-54B2-E2A3EB214DB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A9FDF3C-26FA-8E5B-9CC4-20AB1B622D90}"/>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86ABC165-BBDC-B26A-63D8-2FFA45713CE7}"/>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28060949-45DD-4D4E-3E9D-885A88A31F72}"/>
              </a:ext>
            </a:extLst>
          </p:cNvPr>
          <p:cNvSpPr txBox="1"/>
          <p:nvPr/>
        </p:nvSpPr>
        <p:spPr>
          <a:xfrm>
            <a:off x="502920" y="118872"/>
            <a:ext cx="2598147" cy="492443"/>
          </a:xfrm>
          <a:prstGeom prst="rect">
            <a:avLst/>
          </a:prstGeom>
          <a:noFill/>
        </p:spPr>
        <p:txBody>
          <a:bodyPr wrap="none">
            <a:spAutoFit/>
          </a:bodyPr>
          <a:lstStyle/>
          <a:p>
            <a:pPr>
              <a:defRPr sz="2600" b="1">
                <a:solidFill>
                  <a:srgbClr val="FFFFFF"/>
                </a:solidFill>
                <a:latin typeface="Aptos Display"/>
              </a:defRPr>
            </a:pPr>
            <a:r>
              <a:rPr lang="fr-FR" dirty="0"/>
              <a:t>Être développeur</a:t>
            </a:r>
            <a:endParaRPr dirty="0"/>
          </a:p>
        </p:txBody>
      </p:sp>
      <p:sp>
        <p:nvSpPr>
          <p:cNvPr id="8" name="TextBox 7">
            <a:extLst>
              <a:ext uri="{FF2B5EF4-FFF2-40B4-BE49-F238E27FC236}">
                <a16:creationId xmlns:a16="http://schemas.microsoft.com/office/drawing/2014/main" id="{8BCC6CC5-7FA6-A66F-89FA-DF59BC386423}"/>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9" name="Espace réservé du numéro de diapositive 8">
            <a:extLst>
              <a:ext uri="{FF2B5EF4-FFF2-40B4-BE49-F238E27FC236}">
                <a16:creationId xmlns:a16="http://schemas.microsoft.com/office/drawing/2014/main" id="{06D91470-FFE5-82F9-1D40-E40033C17140}"/>
              </a:ext>
            </a:extLst>
          </p:cNvPr>
          <p:cNvSpPr>
            <a:spLocks noGrp="1"/>
          </p:cNvSpPr>
          <p:nvPr>
            <p:ph type="sldNum" sz="quarter" idx="12"/>
          </p:nvPr>
        </p:nvSpPr>
        <p:spPr/>
        <p:txBody>
          <a:bodyPr/>
          <a:lstStyle/>
          <a:p>
            <a:fld id="{C1FF6DA9-008F-8B48-92A6-B652298478BF}" type="slidenum">
              <a:rPr lang="en-US" smtClean="0"/>
              <a:t>2</a:t>
            </a:fld>
            <a:endParaRPr lang="en-US"/>
          </a:p>
        </p:txBody>
      </p:sp>
      <p:sp>
        <p:nvSpPr>
          <p:cNvPr id="6" name="ZoneTexte 5">
            <a:extLst>
              <a:ext uri="{FF2B5EF4-FFF2-40B4-BE49-F238E27FC236}">
                <a16:creationId xmlns:a16="http://schemas.microsoft.com/office/drawing/2014/main" id="{1D6F5303-14EE-77F9-D5E2-0DA231F75B30}"/>
              </a:ext>
            </a:extLst>
          </p:cNvPr>
          <p:cNvSpPr txBox="1"/>
          <p:nvPr/>
        </p:nvSpPr>
        <p:spPr>
          <a:xfrm>
            <a:off x="158620" y="791530"/>
            <a:ext cx="11644604" cy="1323439"/>
          </a:xfrm>
          <a:prstGeom prst="rect">
            <a:avLst/>
          </a:prstGeom>
          <a:noFill/>
        </p:spPr>
        <p:txBody>
          <a:bodyPr wrap="square" rtlCol="0">
            <a:spAutoFit/>
          </a:bodyPr>
          <a:lstStyle/>
          <a:p>
            <a:r>
              <a:rPr lang="fr-FR" sz="1600" dirty="0">
                <a:latin typeface="Aptos" panose="020B0004020202020204" pitchFamily="34" charset="0"/>
              </a:rPr>
              <a:t>De nos jours le métier de développeur a beaucoup évolué </a:t>
            </a:r>
            <a:r>
              <a:rPr lang="fr-FR" sz="1600" dirty="0">
                <a:latin typeface="Aptos" panose="020B0004020202020204" pitchFamily="34" charset="0"/>
                <a:sym typeface="Wingdings" panose="05000000000000000000" pitchFamily="2" charset="2"/>
              </a:rPr>
              <a:t> utilisation de l’IA </a:t>
            </a:r>
          </a:p>
          <a:p>
            <a:r>
              <a:rPr lang="fr-FR" sz="1600" b="1" dirty="0">
                <a:latin typeface="Aptos" panose="020B0004020202020204" pitchFamily="34" charset="0"/>
                <a:sym typeface="Wingdings" panose="05000000000000000000" pitchFamily="2" charset="2"/>
              </a:rPr>
              <a:t>Mais </a:t>
            </a:r>
            <a:r>
              <a:rPr lang="fr-FR" sz="1600" dirty="0">
                <a:latin typeface="Aptos" panose="020B0004020202020204" pitchFamily="34" charset="0"/>
                <a:sym typeface="Wingdings" panose="05000000000000000000" pitchFamily="2" charset="2"/>
              </a:rPr>
              <a:t>l’essence même du métier en est que meilleur !  Le plus gros de notre travail est dans le </a:t>
            </a:r>
            <a:r>
              <a:rPr lang="fr-FR" sz="1600" b="1" dirty="0">
                <a:latin typeface="Aptos" panose="020B0004020202020204" pitchFamily="34" charset="0"/>
                <a:sym typeface="Wingdings" panose="05000000000000000000" pitchFamily="2" charset="2"/>
              </a:rPr>
              <a:t>design de la solution </a:t>
            </a:r>
            <a:r>
              <a:rPr lang="fr-FR" sz="1600" dirty="0">
                <a:latin typeface="Aptos" panose="020B0004020202020204" pitchFamily="34" charset="0"/>
                <a:sym typeface="Wingdings" panose="05000000000000000000" pitchFamily="2" charset="2"/>
              </a:rPr>
              <a:t>et pas dans le code</a:t>
            </a:r>
          </a:p>
          <a:p>
            <a:endParaRPr lang="fr-FR" sz="1600" dirty="0">
              <a:latin typeface="Aptos" panose="020B0004020202020204" pitchFamily="34" charset="0"/>
              <a:sym typeface="Wingdings" panose="05000000000000000000" pitchFamily="2" charset="2"/>
            </a:endParaRPr>
          </a:p>
          <a:p>
            <a:r>
              <a:rPr lang="fr-FR" sz="1600" dirty="0">
                <a:latin typeface="Aptos" panose="020B0004020202020204" pitchFamily="34" charset="0"/>
                <a:sym typeface="Wingdings" panose="05000000000000000000" pitchFamily="2" charset="2"/>
              </a:rPr>
              <a:t>Exemple de fonctionnement d’une équipe :  </a:t>
            </a:r>
            <a:endParaRPr lang="fr-FR" sz="1600" dirty="0">
              <a:latin typeface="Aptos" panose="020B0004020202020204" pitchFamily="34" charset="0"/>
            </a:endParaRPr>
          </a:p>
        </p:txBody>
      </p:sp>
      <p:grpSp>
        <p:nvGrpSpPr>
          <p:cNvPr id="16" name="Groupe 15">
            <a:extLst>
              <a:ext uri="{FF2B5EF4-FFF2-40B4-BE49-F238E27FC236}">
                <a16:creationId xmlns:a16="http://schemas.microsoft.com/office/drawing/2014/main" id="{D39545F3-AF1E-6072-4522-952459FEFCF1}"/>
              </a:ext>
            </a:extLst>
          </p:cNvPr>
          <p:cNvGrpSpPr/>
          <p:nvPr/>
        </p:nvGrpSpPr>
        <p:grpSpPr>
          <a:xfrm>
            <a:off x="454334" y="2195439"/>
            <a:ext cx="2146041" cy="1371707"/>
            <a:chOff x="578030" y="2352877"/>
            <a:chExt cx="2146041" cy="1371707"/>
          </a:xfrm>
        </p:grpSpPr>
        <p:sp>
          <p:nvSpPr>
            <p:cNvPr id="10" name="Ellipse 9">
              <a:extLst>
                <a:ext uri="{FF2B5EF4-FFF2-40B4-BE49-F238E27FC236}">
                  <a16:creationId xmlns:a16="http://schemas.microsoft.com/office/drawing/2014/main" id="{4F141583-BD8A-A8DC-653D-2C240291A977}"/>
                </a:ext>
              </a:extLst>
            </p:cNvPr>
            <p:cNvSpPr/>
            <p:nvPr/>
          </p:nvSpPr>
          <p:spPr>
            <a:xfrm>
              <a:off x="578030" y="2352877"/>
              <a:ext cx="2146041" cy="835090"/>
            </a:xfrm>
            <a:prstGeom prst="ellipse">
              <a:avLst/>
            </a:prstGeom>
            <a:solidFill>
              <a:schemeClr val="tx1">
                <a:lumMod val="50000"/>
                <a:lumOff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200" dirty="0"/>
                <a:t>Equipe de développeur</a:t>
              </a:r>
            </a:p>
          </p:txBody>
        </p:sp>
        <p:sp>
          <p:nvSpPr>
            <p:cNvPr id="11" name="ZoneTexte 10">
              <a:extLst>
                <a:ext uri="{FF2B5EF4-FFF2-40B4-BE49-F238E27FC236}">
                  <a16:creationId xmlns:a16="http://schemas.microsoft.com/office/drawing/2014/main" id="{33E2FB2A-57B3-F21D-6D07-75DD69466BCC}"/>
                </a:ext>
              </a:extLst>
            </p:cNvPr>
            <p:cNvSpPr txBox="1"/>
            <p:nvPr/>
          </p:nvSpPr>
          <p:spPr>
            <a:xfrm>
              <a:off x="773507" y="3293697"/>
              <a:ext cx="1755088" cy="430887"/>
            </a:xfrm>
            <a:prstGeom prst="rect">
              <a:avLst/>
            </a:prstGeom>
            <a:noFill/>
          </p:spPr>
          <p:txBody>
            <a:bodyPr wrap="square" rtlCol="0">
              <a:spAutoFit/>
            </a:bodyPr>
            <a:lstStyle/>
            <a:p>
              <a:pPr algn="ctr"/>
              <a:r>
                <a:rPr lang="fr-FR" sz="1100" dirty="0"/>
                <a:t>Développe et design les nouvelles fonctionnalités</a:t>
              </a:r>
            </a:p>
          </p:txBody>
        </p:sp>
      </p:grpSp>
      <p:grpSp>
        <p:nvGrpSpPr>
          <p:cNvPr id="15" name="Groupe 14">
            <a:extLst>
              <a:ext uri="{FF2B5EF4-FFF2-40B4-BE49-F238E27FC236}">
                <a16:creationId xmlns:a16="http://schemas.microsoft.com/office/drawing/2014/main" id="{520C93A4-40F3-601A-9393-10B9E68BA2B7}"/>
              </a:ext>
            </a:extLst>
          </p:cNvPr>
          <p:cNvGrpSpPr/>
          <p:nvPr/>
        </p:nvGrpSpPr>
        <p:grpSpPr>
          <a:xfrm>
            <a:off x="8491218" y="2074164"/>
            <a:ext cx="2146041" cy="1664520"/>
            <a:chOff x="5909387" y="2413337"/>
            <a:chExt cx="2146041" cy="1664520"/>
          </a:xfrm>
        </p:grpSpPr>
        <p:sp>
          <p:nvSpPr>
            <p:cNvPr id="13" name="Ellipse 12">
              <a:extLst>
                <a:ext uri="{FF2B5EF4-FFF2-40B4-BE49-F238E27FC236}">
                  <a16:creationId xmlns:a16="http://schemas.microsoft.com/office/drawing/2014/main" id="{7F8149B8-C96B-124C-9BB9-4922E979AA6C}"/>
                </a:ext>
              </a:extLst>
            </p:cNvPr>
            <p:cNvSpPr/>
            <p:nvPr/>
          </p:nvSpPr>
          <p:spPr>
            <a:xfrm>
              <a:off x="5909387" y="2413337"/>
              <a:ext cx="2146041" cy="835090"/>
            </a:xfrm>
            <a:prstGeom prst="ellipse">
              <a:avLst/>
            </a:prstGeom>
            <a:solidFill>
              <a:schemeClr val="tx1">
                <a:lumMod val="50000"/>
                <a:lumOff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200" dirty="0"/>
                <a:t>Equipe métier (</a:t>
              </a:r>
              <a:r>
                <a:rPr lang="fr-FR" sz="1200" dirty="0" err="1"/>
                <a:t>product</a:t>
              </a:r>
              <a:r>
                <a:rPr lang="fr-FR" sz="1200" dirty="0"/>
                <a:t> </a:t>
              </a:r>
              <a:r>
                <a:rPr lang="fr-FR" sz="1200" dirty="0" err="1"/>
                <a:t>Owner</a:t>
              </a:r>
              <a:r>
                <a:rPr lang="fr-FR" sz="1200" dirty="0"/>
                <a:t> et/ou Business </a:t>
              </a:r>
              <a:r>
                <a:rPr lang="fr-FR" sz="1200" dirty="0" err="1"/>
                <a:t>Analyst</a:t>
              </a:r>
              <a:r>
                <a:rPr lang="fr-FR" sz="1200" dirty="0"/>
                <a:t>)</a:t>
              </a:r>
            </a:p>
          </p:txBody>
        </p:sp>
        <p:sp>
          <p:nvSpPr>
            <p:cNvPr id="14" name="ZoneTexte 13">
              <a:extLst>
                <a:ext uri="{FF2B5EF4-FFF2-40B4-BE49-F238E27FC236}">
                  <a16:creationId xmlns:a16="http://schemas.microsoft.com/office/drawing/2014/main" id="{71EF566C-25BD-C21B-A419-08F7DD696705}"/>
                </a:ext>
              </a:extLst>
            </p:cNvPr>
            <p:cNvSpPr txBox="1"/>
            <p:nvPr/>
          </p:nvSpPr>
          <p:spPr>
            <a:xfrm>
              <a:off x="6033082" y="3308416"/>
              <a:ext cx="1898650" cy="769441"/>
            </a:xfrm>
            <a:prstGeom prst="rect">
              <a:avLst/>
            </a:prstGeom>
            <a:noFill/>
          </p:spPr>
          <p:txBody>
            <a:bodyPr wrap="square" rtlCol="0">
              <a:spAutoFit/>
            </a:bodyPr>
            <a:lstStyle/>
            <a:p>
              <a:pPr algn="ctr"/>
              <a:r>
                <a:rPr lang="fr-FR" sz="1100" dirty="0"/>
                <a:t>A la connaissance métier de l’application, le process, donne les directives sans connaissance technique </a:t>
              </a:r>
            </a:p>
          </p:txBody>
        </p:sp>
      </p:grpSp>
      <p:grpSp>
        <p:nvGrpSpPr>
          <p:cNvPr id="20" name="Groupe 19">
            <a:extLst>
              <a:ext uri="{FF2B5EF4-FFF2-40B4-BE49-F238E27FC236}">
                <a16:creationId xmlns:a16="http://schemas.microsoft.com/office/drawing/2014/main" id="{430A2B25-39FF-B3F9-EEE9-BE5E8E732715}"/>
              </a:ext>
            </a:extLst>
          </p:cNvPr>
          <p:cNvGrpSpPr/>
          <p:nvPr/>
        </p:nvGrpSpPr>
        <p:grpSpPr>
          <a:xfrm>
            <a:off x="4277300" y="2052580"/>
            <a:ext cx="2146041" cy="1498769"/>
            <a:chOff x="4577208" y="2395092"/>
            <a:chExt cx="2146041" cy="1498769"/>
          </a:xfrm>
        </p:grpSpPr>
        <p:sp>
          <p:nvSpPr>
            <p:cNvPr id="18" name="Ellipse 17">
              <a:extLst>
                <a:ext uri="{FF2B5EF4-FFF2-40B4-BE49-F238E27FC236}">
                  <a16:creationId xmlns:a16="http://schemas.microsoft.com/office/drawing/2014/main" id="{F74807D8-F3D6-0662-EED8-1EF67A4936B8}"/>
                </a:ext>
              </a:extLst>
            </p:cNvPr>
            <p:cNvSpPr/>
            <p:nvPr/>
          </p:nvSpPr>
          <p:spPr>
            <a:xfrm>
              <a:off x="4577208" y="2395092"/>
              <a:ext cx="2146041" cy="835090"/>
            </a:xfrm>
            <a:prstGeom prst="ellipse">
              <a:avLst/>
            </a:prstGeom>
            <a:solidFill>
              <a:schemeClr val="tx1">
                <a:lumMod val="50000"/>
                <a:lumOff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200" dirty="0"/>
                <a:t>Analyste Fonctionnel</a:t>
              </a:r>
            </a:p>
          </p:txBody>
        </p:sp>
        <p:sp>
          <p:nvSpPr>
            <p:cNvPr id="19" name="ZoneTexte 18">
              <a:extLst>
                <a:ext uri="{FF2B5EF4-FFF2-40B4-BE49-F238E27FC236}">
                  <a16:creationId xmlns:a16="http://schemas.microsoft.com/office/drawing/2014/main" id="{EBE848E4-C973-31F2-46D2-AE02D7EEFCC0}"/>
                </a:ext>
              </a:extLst>
            </p:cNvPr>
            <p:cNvSpPr txBox="1"/>
            <p:nvPr/>
          </p:nvSpPr>
          <p:spPr>
            <a:xfrm>
              <a:off x="4772684" y="3293697"/>
              <a:ext cx="1755088" cy="600164"/>
            </a:xfrm>
            <a:prstGeom prst="rect">
              <a:avLst/>
            </a:prstGeom>
            <a:noFill/>
          </p:spPr>
          <p:txBody>
            <a:bodyPr wrap="square" rtlCol="0">
              <a:spAutoFit/>
            </a:bodyPr>
            <a:lstStyle/>
            <a:p>
              <a:pPr algn="ctr"/>
              <a:r>
                <a:rPr lang="fr-FR" sz="1100" dirty="0"/>
                <a:t>Aide à la communication entre la technique et le métier</a:t>
              </a:r>
            </a:p>
          </p:txBody>
        </p:sp>
      </p:grpSp>
      <p:cxnSp>
        <p:nvCxnSpPr>
          <p:cNvPr id="22" name="Connecteur : en angle 21">
            <a:extLst>
              <a:ext uri="{FF2B5EF4-FFF2-40B4-BE49-F238E27FC236}">
                <a16:creationId xmlns:a16="http://schemas.microsoft.com/office/drawing/2014/main" id="{01E37506-A2AB-CC76-49D6-C542BEE2FF6F}"/>
              </a:ext>
            </a:extLst>
          </p:cNvPr>
          <p:cNvCxnSpPr>
            <a:stCxn id="10" idx="6"/>
            <a:endCxn id="18" idx="2"/>
          </p:cNvCxnSpPr>
          <p:nvPr/>
        </p:nvCxnSpPr>
        <p:spPr>
          <a:xfrm flipV="1">
            <a:off x="2600375" y="2470125"/>
            <a:ext cx="1676925" cy="142859"/>
          </a:xfrm>
          <a:prstGeom prst="bentConnector3">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4" name="Connecteur : en angle 23">
            <a:extLst>
              <a:ext uri="{FF2B5EF4-FFF2-40B4-BE49-F238E27FC236}">
                <a16:creationId xmlns:a16="http://schemas.microsoft.com/office/drawing/2014/main" id="{03613BDD-A7DA-F434-C3E4-24F56AD64E55}"/>
              </a:ext>
            </a:extLst>
          </p:cNvPr>
          <p:cNvCxnSpPr>
            <a:stCxn id="18" idx="6"/>
            <a:endCxn id="13" idx="2"/>
          </p:cNvCxnSpPr>
          <p:nvPr/>
        </p:nvCxnSpPr>
        <p:spPr>
          <a:xfrm>
            <a:off x="6423341" y="2470125"/>
            <a:ext cx="2067877" cy="21584"/>
          </a:xfrm>
          <a:prstGeom prst="bentConnector3">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5" name="ZoneTexte 24">
            <a:extLst>
              <a:ext uri="{FF2B5EF4-FFF2-40B4-BE49-F238E27FC236}">
                <a16:creationId xmlns:a16="http://schemas.microsoft.com/office/drawing/2014/main" id="{3505ABB1-B504-0524-807F-374FBCDC2DAD}"/>
              </a:ext>
            </a:extLst>
          </p:cNvPr>
          <p:cNvSpPr txBox="1"/>
          <p:nvPr/>
        </p:nvSpPr>
        <p:spPr>
          <a:xfrm>
            <a:off x="314325" y="3976707"/>
            <a:ext cx="10467975" cy="2616101"/>
          </a:xfrm>
          <a:prstGeom prst="rect">
            <a:avLst/>
          </a:prstGeom>
          <a:noFill/>
        </p:spPr>
        <p:txBody>
          <a:bodyPr wrap="square" rtlCol="0">
            <a:spAutoFit/>
          </a:bodyPr>
          <a:lstStyle/>
          <a:p>
            <a:r>
              <a:rPr lang="fr-FR" sz="1600" dirty="0"/>
              <a:t>L’équipe métier réalise des JIRA avec le besoin, la présente aux analyste fonctionnel (et au développeur suivant l’équipe), ils </a:t>
            </a:r>
            <a:r>
              <a:rPr lang="fr-FR" sz="1600" b="1" dirty="0"/>
              <a:t>discutent</a:t>
            </a:r>
            <a:r>
              <a:rPr lang="fr-FR" sz="1600" dirty="0"/>
              <a:t>, </a:t>
            </a:r>
            <a:r>
              <a:rPr lang="fr-FR" sz="1600" b="1" dirty="0"/>
              <a:t>posent des questions </a:t>
            </a:r>
            <a:r>
              <a:rPr lang="fr-FR" sz="1600" dirty="0"/>
              <a:t>afin de s ’assurer que le </a:t>
            </a:r>
            <a:r>
              <a:rPr lang="fr-FR" sz="1600" b="1" dirty="0"/>
              <a:t>besoin est clair</a:t>
            </a:r>
            <a:r>
              <a:rPr lang="fr-FR" sz="1600" dirty="0"/>
              <a:t>. Les développeurs vont faire une </a:t>
            </a:r>
            <a:r>
              <a:rPr lang="fr-FR" sz="1600" b="1" dirty="0"/>
              <a:t>analyse technique </a:t>
            </a:r>
            <a:r>
              <a:rPr lang="fr-FR" sz="1600" dirty="0"/>
              <a:t>de celui-ci : </a:t>
            </a:r>
          </a:p>
          <a:p>
            <a:pPr marL="285750" indent="-285750">
              <a:buFont typeface="Arial" panose="020B0604020202020204" pitchFamily="34" charset="0"/>
              <a:buChar char="•"/>
            </a:pPr>
            <a:r>
              <a:rPr lang="fr-FR" sz="1600" dirty="0"/>
              <a:t>Quelle table faut-il créer ? Quelle colonne ? Quel type ?</a:t>
            </a:r>
          </a:p>
          <a:p>
            <a:pPr marL="285750" indent="-285750">
              <a:buFont typeface="Arial" panose="020B0604020202020204" pitchFamily="34" charset="0"/>
              <a:buChar char="•"/>
            </a:pPr>
            <a:r>
              <a:rPr lang="fr-FR" sz="1600" dirty="0"/>
              <a:t>Quels impacts cela a dans le code existant ?</a:t>
            </a:r>
          </a:p>
          <a:p>
            <a:pPr marL="285750" indent="-285750">
              <a:buFont typeface="Arial" panose="020B0604020202020204" pitchFamily="34" charset="0"/>
              <a:buChar char="•"/>
            </a:pPr>
            <a:r>
              <a:rPr lang="fr-FR" sz="1600" dirty="0"/>
              <a:t>Qu’est ce qui est nouveau ? Qu’est ce qui est réutilisable ?</a:t>
            </a:r>
          </a:p>
          <a:p>
            <a:pPr marL="285750" indent="-285750">
              <a:buFont typeface="Arial" panose="020B0604020202020204" pitchFamily="34" charset="0"/>
              <a:buChar char="•"/>
            </a:pPr>
            <a:endParaRPr lang="fr-FR" sz="1600" dirty="0"/>
          </a:p>
          <a:p>
            <a:r>
              <a:rPr lang="fr-FR" sz="1600" dirty="0"/>
              <a:t>Grace a celle-ci, le développeur en charge de l’analyse va la chiffrer </a:t>
            </a:r>
            <a:r>
              <a:rPr lang="fr-FR" sz="1600" dirty="0">
                <a:sym typeface="Wingdings" panose="05000000000000000000" pitchFamily="2" charset="2"/>
              </a:rPr>
              <a:t> </a:t>
            </a:r>
            <a:r>
              <a:rPr lang="fr-FR" sz="1600" b="1" dirty="0">
                <a:sym typeface="Wingdings" panose="05000000000000000000" pitchFamily="2" charset="2"/>
              </a:rPr>
              <a:t>combien de temps cela prend </a:t>
            </a:r>
            <a:r>
              <a:rPr lang="fr-FR" sz="1600" dirty="0">
                <a:sym typeface="Wingdings" panose="05000000000000000000" pitchFamily="2" charset="2"/>
              </a:rPr>
              <a:t>?</a:t>
            </a:r>
          </a:p>
          <a:p>
            <a:r>
              <a:rPr lang="fr-FR" sz="1600" dirty="0">
                <a:sym typeface="Wingdings" panose="05000000000000000000" pitchFamily="2" charset="2"/>
              </a:rPr>
              <a:t> Cet exercice est assez compliqué ! C’est très fréquent d’être </a:t>
            </a:r>
            <a:r>
              <a:rPr lang="fr-FR" sz="1600" b="1" dirty="0">
                <a:sym typeface="Wingdings" panose="05000000000000000000" pitchFamily="2" charset="2"/>
              </a:rPr>
              <a:t>loin de la vérité</a:t>
            </a:r>
            <a:r>
              <a:rPr lang="fr-FR" sz="1600" dirty="0">
                <a:sym typeface="Wingdings" panose="05000000000000000000" pitchFamily="2" charset="2"/>
              </a:rPr>
              <a:t> au début, mais à force d’en faire nous sommes de plus en plus précis. Ce n’est pas grave de mettre un chiffrage élevé si cela correspond au besoin ! </a:t>
            </a:r>
            <a:endParaRPr lang="fr-FR" sz="1600" dirty="0"/>
          </a:p>
        </p:txBody>
      </p:sp>
    </p:spTree>
    <p:extLst>
      <p:ext uri="{BB962C8B-B14F-4D97-AF65-F5344CB8AC3E}">
        <p14:creationId xmlns:p14="http://schemas.microsoft.com/office/powerpoint/2010/main" val="4162376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326880" y="-731520"/>
            <a:ext cx="4114800" cy="4114800"/>
          </a:xfrm>
          <a:prstGeom prst="ellipse">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355574" y="4983480"/>
            <a:ext cx="3200400" cy="3200400"/>
          </a:xfrm>
          <a:prstGeom prst="ellipse">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508760"/>
            <a:ext cx="8686800" cy="1463040"/>
          </a:xfrm>
          <a:prstGeom prst="rect">
            <a:avLst/>
          </a:prstGeom>
          <a:noFill/>
        </p:spPr>
        <p:txBody>
          <a:bodyPr wrap="square">
            <a:spAutoFit/>
          </a:bodyPr>
          <a:lstStyle/>
          <a:p>
            <a:pPr algn="l">
              <a:defRPr sz="3400" b="1">
                <a:solidFill>
                  <a:srgbClr val="FFFFFF"/>
                </a:solidFill>
                <a:latin typeface="Aptos"/>
              </a:defRPr>
            </a:pPr>
            <a:r>
              <a:rPr dirty="0" err="1"/>
              <a:t>Développer</a:t>
            </a:r>
            <a:r>
              <a:rPr dirty="0"/>
              <a:t> des applications</a:t>
            </a:r>
            <a:br>
              <a:rPr dirty="0"/>
            </a:br>
            <a:r>
              <a:rPr dirty="0"/>
              <a:t>Java avec Spring Boot</a:t>
            </a:r>
          </a:p>
        </p:txBody>
      </p:sp>
      <p:sp>
        <p:nvSpPr>
          <p:cNvPr id="6" name="TextBox 5"/>
          <p:cNvSpPr txBox="1"/>
          <p:nvPr/>
        </p:nvSpPr>
        <p:spPr>
          <a:xfrm>
            <a:off x="822960" y="3337560"/>
            <a:ext cx="7772400" cy="430887"/>
          </a:xfrm>
          <a:prstGeom prst="rect">
            <a:avLst/>
          </a:prstGeom>
          <a:noFill/>
        </p:spPr>
        <p:txBody>
          <a:bodyPr wrap="square">
            <a:spAutoFit/>
          </a:bodyPr>
          <a:lstStyle/>
          <a:p>
            <a:pPr algn="l">
              <a:defRPr sz="2200" b="0">
                <a:solidFill>
                  <a:srgbClr val="DCE6F0"/>
                </a:solidFill>
                <a:latin typeface="Aptos"/>
              </a:defRPr>
            </a:pPr>
            <a:r>
              <a:rPr lang="fr-FR" dirty="0"/>
              <a:t>Comprendre Spring Boot en partant de 0 </a:t>
            </a:r>
            <a:endParaRPr dirty="0"/>
          </a:p>
        </p:txBody>
      </p:sp>
      <p:sp>
        <p:nvSpPr>
          <p:cNvPr id="8" name="TextBox 7"/>
          <p:cNvSpPr txBox="1"/>
          <p:nvPr/>
        </p:nvSpPr>
        <p:spPr>
          <a:xfrm>
            <a:off x="822960" y="5715000"/>
            <a:ext cx="3657600" cy="320040"/>
          </a:xfrm>
          <a:prstGeom prst="rect">
            <a:avLst/>
          </a:prstGeom>
          <a:noFill/>
        </p:spPr>
        <p:txBody>
          <a:bodyPr wrap="square">
            <a:spAutoFit/>
          </a:bodyPr>
          <a:lstStyle/>
          <a:p>
            <a:pPr algn="l">
              <a:defRPr sz="1500" b="0">
                <a:solidFill>
                  <a:srgbClr val="FFFFFF"/>
                </a:solidFill>
                <a:latin typeface="Aptos"/>
              </a:defRPr>
            </a:pPr>
            <a:r>
              <a:t>Support de cours</a:t>
            </a:r>
          </a:p>
        </p:txBody>
      </p:sp>
      <p:sp>
        <p:nvSpPr>
          <p:cNvPr id="9" name="Espace réservé du numéro de diapositive 8">
            <a:extLst>
              <a:ext uri="{FF2B5EF4-FFF2-40B4-BE49-F238E27FC236}">
                <a16:creationId xmlns:a16="http://schemas.microsoft.com/office/drawing/2014/main" id="{7A3D7CC5-D3F4-2E76-209A-F91600DB1FC4}"/>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18872"/>
            <a:ext cx="10058400" cy="411480"/>
          </a:xfrm>
          <a:prstGeom prst="rect">
            <a:avLst/>
          </a:prstGeom>
          <a:noFill/>
        </p:spPr>
        <p:txBody>
          <a:bodyPr wrap="none">
            <a:spAutoFit/>
          </a:bodyPr>
          <a:lstStyle/>
          <a:p>
            <a:pPr>
              <a:defRPr sz="2600" b="1">
                <a:solidFill>
                  <a:srgbClr val="FFFFFF"/>
                </a:solidFill>
                <a:latin typeface="Aptos Display"/>
              </a:defRPr>
            </a:pPr>
            <a:r>
              <a:t>Objectifs du cours</a:t>
            </a:r>
          </a:p>
        </p:txBody>
      </p:sp>
      <p:sp>
        <p:nvSpPr>
          <p:cNvPr id="8" name="TextBox 7"/>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rPr dirty="0"/>
              <a:t>Cours Spring Boot — Java 17/21 — Spring Boot 3</a:t>
            </a:r>
          </a:p>
        </p:txBody>
      </p:sp>
      <p:grpSp>
        <p:nvGrpSpPr>
          <p:cNvPr id="37" name="Groupe 36">
            <a:extLst>
              <a:ext uri="{FF2B5EF4-FFF2-40B4-BE49-F238E27FC236}">
                <a16:creationId xmlns:a16="http://schemas.microsoft.com/office/drawing/2014/main" id="{E681CD8D-47B0-7BEA-1A08-FF28DCA880B3}"/>
              </a:ext>
            </a:extLst>
          </p:cNvPr>
          <p:cNvGrpSpPr/>
          <p:nvPr/>
        </p:nvGrpSpPr>
        <p:grpSpPr>
          <a:xfrm>
            <a:off x="784919" y="1429761"/>
            <a:ext cx="8213485" cy="4374580"/>
            <a:chOff x="430958" y="1542832"/>
            <a:chExt cx="8213485" cy="4374580"/>
          </a:xfrm>
        </p:grpSpPr>
        <p:sp>
          <p:nvSpPr>
            <p:cNvPr id="14" name="Text Placeholder 7">
              <a:extLst>
                <a:ext uri="{FF2B5EF4-FFF2-40B4-BE49-F238E27FC236}">
                  <a16:creationId xmlns:a16="http://schemas.microsoft.com/office/drawing/2014/main" id="{82D61F07-12A7-C67F-0D12-4622B6E60096}"/>
                </a:ext>
                <a:ext uri="{C183D7F6-B498-43B3-948B-1728B52AA6E4}">
                  <adec:decorative xmlns:adec="http://schemas.microsoft.com/office/drawing/2017/decorative" val="1"/>
                </a:ext>
              </a:extLst>
            </p:cNvPr>
            <p:cNvSpPr txBox="1">
              <a:spLocks noChangeAspect="1"/>
            </p:cNvSpPr>
            <p:nvPr/>
          </p:nvSpPr>
          <p:spPr>
            <a:xfrm>
              <a:off x="430958" y="1542832"/>
              <a:ext cx="576000" cy="576000"/>
            </a:xfrm>
            <a:prstGeom prst="ellipse">
              <a:avLst/>
            </a:prstGeom>
            <a:solidFill>
              <a:schemeClr val="bg1"/>
            </a:solidFill>
            <a:ln w="28575">
              <a:solidFill>
                <a:schemeClr val="tx2">
                  <a:lumMod val="75000"/>
                </a:schemeClr>
              </a:soli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r>
                <a:rPr lang="en-CA" sz="1400" b="1" dirty="0"/>
                <a:t>1</a:t>
              </a:r>
            </a:p>
          </p:txBody>
        </p:sp>
        <p:sp>
          <p:nvSpPr>
            <p:cNvPr id="16" name="Text Placeholder 7">
              <a:extLst>
                <a:ext uri="{FF2B5EF4-FFF2-40B4-BE49-F238E27FC236}">
                  <a16:creationId xmlns:a16="http://schemas.microsoft.com/office/drawing/2014/main" id="{4D14C97F-1ADB-13CF-9080-A3C48C0F37EC}"/>
                </a:ext>
                <a:ext uri="{C183D7F6-B498-43B3-948B-1728B52AA6E4}">
                  <adec:decorative xmlns:adec="http://schemas.microsoft.com/office/drawing/2017/decorative" val="1"/>
                </a:ext>
              </a:extLst>
            </p:cNvPr>
            <p:cNvSpPr txBox="1">
              <a:spLocks noChangeAspect="1"/>
            </p:cNvSpPr>
            <p:nvPr/>
          </p:nvSpPr>
          <p:spPr>
            <a:xfrm>
              <a:off x="430958" y="2302548"/>
              <a:ext cx="576000" cy="576000"/>
            </a:xfrm>
            <a:prstGeom prst="ellipse">
              <a:avLst/>
            </a:prstGeom>
            <a:solidFill>
              <a:schemeClr val="bg1"/>
            </a:solidFill>
            <a:ln w="28575">
              <a:solidFill>
                <a:schemeClr val="tx2">
                  <a:lumMod val="75000"/>
                </a:schemeClr>
              </a:soli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r>
                <a:rPr lang="en-CA" sz="1400" b="1" dirty="0"/>
                <a:t>2</a:t>
              </a:r>
            </a:p>
          </p:txBody>
        </p:sp>
        <p:sp>
          <p:nvSpPr>
            <p:cNvPr id="18" name="Text Placeholder 7">
              <a:extLst>
                <a:ext uri="{FF2B5EF4-FFF2-40B4-BE49-F238E27FC236}">
                  <a16:creationId xmlns:a16="http://schemas.microsoft.com/office/drawing/2014/main" id="{B248F02C-B8FF-0905-4AE3-DCE852418010}"/>
                </a:ext>
                <a:ext uri="{C183D7F6-B498-43B3-948B-1728B52AA6E4}">
                  <adec:decorative xmlns:adec="http://schemas.microsoft.com/office/drawing/2017/decorative" val="1"/>
                </a:ext>
              </a:extLst>
            </p:cNvPr>
            <p:cNvSpPr txBox="1">
              <a:spLocks noChangeAspect="1"/>
            </p:cNvSpPr>
            <p:nvPr/>
          </p:nvSpPr>
          <p:spPr>
            <a:xfrm>
              <a:off x="430958" y="3062264"/>
              <a:ext cx="576000" cy="576000"/>
            </a:xfrm>
            <a:prstGeom prst="ellipse">
              <a:avLst/>
            </a:prstGeom>
            <a:solidFill>
              <a:schemeClr val="bg1"/>
            </a:solidFill>
            <a:ln w="28575">
              <a:solidFill>
                <a:schemeClr val="tx2">
                  <a:lumMod val="75000"/>
                </a:schemeClr>
              </a:soli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r>
                <a:rPr lang="en-CA" sz="1400" b="1" dirty="0"/>
                <a:t>3</a:t>
              </a:r>
            </a:p>
          </p:txBody>
        </p:sp>
        <p:sp>
          <p:nvSpPr>
            <p:cNvPr id="20" name="Text Placeholder 7">
              <a:extLst>
                <a:ext uri="{FF2B5EF4-FFF2-40B4-BE49-F238E27FC236}">
                  <a16:creationId xmlns:a16="http://schemas.microsoft.com/office/drawing/2014/main" id="{5E383EF9-F95B-CB84-6D95-B83502BAC06A}"/>
                </a:ext>
                <a:ext uri="{C183D7F6-B498-43B3-948B-1728B52AA6E4}">
                  <adec:decorative xmlns:adec="http://schemas.microsoft.com/office/drawing/2017/decorative" val="1"/>
                </a:ext>
              </a:extLst>
            </p:cNvPr>
            <p:cNvSpPr txBox="1">
              <a:spLocks noChangeAspect="1"/>
            </p:cNvSpPr>
            <p:nvPr/>
          </p:nvSpPr>
          <p:spPr>
            <a:xfrm>
              <a:off x="430958" y="3821980"/>
              <a:ext cx="576000" cy="576000"/>
            </a:xfrm>
            <a:prstGeom prst="ellipse">
              <a:avLst/>
            </a:prstGeom>
            <a:solidFill>
              <a:schemeClr val="bg1"/>
            </a:solidFill>
            <a:ln w="28575">
              <a:solidFill>
                <a:schemeClr val="tx2">
                  <a:lumMod val="75000"/>
                </a:schemeClr>
              </a:soli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r>
                <a:rPr lang="en-CA" sz="1400" b="1" dirty="0"/>
                <a:t>4</a:t>
              </a:r>
            </a:p>
          </p:txBody>
        </p:sp>
        <p:sp>
          <p:nvSpPr>
            <p:cNvPr id="22" name="Text Placeholder 7">
              <a:extLst>
                <a:ext uri="{FF2B5EF4-FFF2-40B4-BE49-F238E27FC236}">
                  <a16:creationId xmlns:a16="http://schemas.microsoft.com/office/drawing/2014/main" id="{BA9A6D41-F3B1-13E9-860E-D84D84F30425}"/>
                </a:ext>
                <a:ext uri="{C183D7F6-B498-43B3-948B-1728B52AA6E4}">
                  <adec:decorative xmlns:adec="http://schemas.microsoft.com/office/drawing/2017/decorative" val="1"/>
                </a:ext>
              </a:extLst>
            </p:cNvPr>
            <p:cNvSpPr txBox="1">
              <a:spLocks noChangeAspect="1"/>
            </p:cNvSpPr>
            <p:nvPr/>
          </p:nvSpPr>
          <p:spPr>
            <a:xfrm>
              <a:off x="430958" y="4581696"/>
              <a:ext cx="576000" cy="576000"/>
            </a:xfrm>
            <a:prstGeom prst="ellipse">
              <a:avLst/>
            </a:prstGeom>
            <a:solidFill>
              <a:schemeClr val="bg1"/>
            </a:solidFill>
            <a:ln w="28575">
              <a:solidFill>
                <a:schemeClr val="tx2">
                  <a:lumMod val="75000"/>
                </a:schemeClr>
              </a:soli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r>
                <a:rPr lang="en-CA" sz="1400" b="1" dirty="0"/>
                <a:t>5</a:t>
              </a:r>
            </a:p>
          </p:txBody>
        </p:sp>
        <p:sp>
          <p:nvSpPr>
            <p:cNvPr id="24" name="Text Placeholder 7">
              <a:extLst>
                <a:ext uri="{FF2B5EF4-FFF2-40B4-BE49-F238E27FC236}">
                  <a16:creationId xmlns:a16="http://schemas.microsoft.com/office/drawing/2014/main" id="{77D19870-92DD-BE33-5612-AA45AE2D2F01}"/>
                </a:ext>
                <a:ext uri="{C183D7F6-B498-43B3-948B-1728B52AA6E4}">
                  <adec:decorative xmlns:adec="http://schemas.microsoft.com/office/drawing/2017/decorative" val="1"/>
                </a:ext>
              </a:extLst>
            </p:cNvPr>
            <p:cNvSpPr txBox="1">
              <a:spLocks noChangeAspect="1"/>
            </p:cNvSpPr>
            <p:nvPr/>
          </p:nvSpPr>
          <p:spPr>
            <a:xfrm>
              <a:off x="430958" y="5341412"/>
              <a:ext cx="576000" cy="576000"/>
            </a:xfrm>
            <a:prstGeom prst="ellipse">
              <a:avLst/>
            </a:prstGeom>
            <a:solidFill>
              <a:schemeClr val="bg1"/>
            </a:solidFill>
            <a:ln w="28575">
              <a:solidFill>
                <a:schemeClr val="tx2">
                  <a:lumMod val="75000"/>
                </a:schemeClr>
              </a:solidFill>
            </a:ln>
            <a:effectLst>
              <a:outerShdw blurRad="114300" dist="25400" dir="3600000" algn="tl" rotWithShape="0">
                <a:prstClr val="black">
                  <a:alpha val="34343"/>
                </a:prstClr>
              </a:outerShdw>
            </a:effectLst>
          </p:spPr>
          <p:style>
            <a:lnRef idx="2">
              <a:schemeClr val="accent6"/>
            </a:lnRef>
            <a:fillRef idx="1">
              <a:schemeClr val="lt1"/>
            </a:fillRef>
            <a:effectRef idx="0">
              <a:schemeClr val="accent6"/>
            </a:effectRef>
            <a:fontRef idx="minor">
              <a:schemeClr val="dk1"/>
            </a:fontRef>
          </p:style>
          <p:txBody>
            <a:bodyPr lIns="0" tIns="0" rIns="0" bIns="0" anchor="ct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ct val="0"/>
                </a:spcBef>
                <a:buSzPct val="90000"/>
                <a:buNone/>
              </a:pPr>
              <a:r>
                <a:rPr lang="en-CA" sz="1400" b="1" dirty="0"/>
                <a:t>6</a:t>
              </a:r>
            </a:p>
          </p:txBody>
        </p:sp>
        <p:sp>
          <p:nvSpPr>
            <p:cNvPr id="26" name="ZoneTexte 25">
              <a:extLst>
                <a:ext uri="{FF2B5EF4-FFF2-40B4-BE49-F238E27FC236}">
                  <a16:creationId xmlns:a16="http://schemas.microsoft.com/office/drawing/2014/main" id="{8EBD8D98-4AEB-06BD-CD0F-26B928537AB4}"/>
                </a:ext>
              </a:extLst>
            </p:cNvPr>
            <p:cNvSpPr txBox="1"/>
            <p:nvPr/>
          </p:nvSpPr>
          <p:spPr>
            <a:xfrm>
              <a:off x="1259795" y="1630777"/>
              <a:ext cx="7384648" cy="400110"/>
            </a:xfrm>
            <a:prstGeom prst="rect">
              <a:avLst/>
            </a:prstGeom>
            <a:noFill/>
          </p:spPr>
          <p:txBody>
            <a:bodyPr wrap="square" rtlCol="0">
              <a:spAutoFit/>
            </a:bodyPr>
            <a:lstStyle/>
            <a:p>
              <a:r>
                <a:rPr lang="fr-FR" sz="2000" dirty="0"/>
                <a:t>Découvrir et comprendre l’architecture d’une Application Spring</a:t>
              </a:r>
            </a:p>
          </p:txBody>
        </p:sp>
        <p:sp>
          <p:nvSpPr>
            <p:cNvPr id="28" name="ZoneTexte 27">
              <a:extLst>
                <a:ext uri="{FF2B5EF4-FFF2-40B4-BE49-F238E27FC236}">
                  <a16:creationId xmlns:a16="http://schemas.microsoft.com/office/drawing/2014/main" id="{9171E37A-9292-4200-D4CF-2F31B0DBEAE8}"/>
                </a:ext>
              </a:extLst>
            </p:cNvPr>
            <p:cNvSpPr txBox="1"/>
            <p:nvPr/>
          </p:nvSpPr>
          <p:spPr>
            <a:xfrm>
              <a:off x="1259795" y="2390993"/>
              <a:ext cx="7384648" cy="400110"/>
            </a:xfrm>
            <a:prstGeom prst="rect">
              <a:avLst/>
            </a:prstGeom>
            <a:noFill/>
          </p:spPr>
          <p:txBody>
            <a:bodyPr wrap="square" rtlCol="0">
              <a:spAutoFit/>
            </a:bodyPr>
            <a:lstStyle/>
            <a:p>
              <a:r>
                <a:rPr lang="fr-FR" sz="2000" dirty="0"/>
                <a:t>Connecter une application a une base de données</a:t>
              </a:r>
            </a:p>
          </p:txBody>
        </p:sp>
        <p:sp>
          <p:nvSpPr>
            <p:cNvPr id="30" name="ZoneTexte 29">
              <a:extLst>
                <a:ext uri="{FF2B5EF4-FFF2-40B4-BE49-F238E27FC236}">
                  <a16:creationId xmlns:a16="http://schemas.microsoft.com/office/drawing/2014/main" id="{54424116-448B-6D06-1643-815E3E3A1107}"/>
                </a:ext>
              </a:extLst>
            </p:cNvPr>
            <p:cNvSpPr txBox="1"/>
            <p:nvPr/>
          </p:nvSpPr>
          <p:spPr>
            <a:xfrm>
              <a:off x="1259795" y="3909925"/>
              <a:ext cx="7384648" cy="400110"/>
            </a:xfrm>
            <a:prstGeom prst="rect">
              <a:avLst/>
            </a:prstGeom>
            <a:noFill/>
          </p:spPr>
          <p:txBody>
            <a:bodyPr wrap="square" rtlCol="0">
              <a:spAutoFit/>
            </a:bodyPr>
            <a:lstStyle/>
            <a:p>
              <a:r>
                <a:rPr lang="fr-FR" sz="2000" dirty="0"/>
                <a:t>Utiliser JPA, Hibernate et </a:t>
              </a:r>
              <a:r>
                <a:rPr lang="fr-FR" sz="2000" dirty="0" err="1"/>
                <a:t>liquibase</a:t>
              </a:r>
              <a:endParaRPr lang="fr-FR" sz="2000" dirty="0"/>
            </a:p>
          </p:txBody>
        </p:sp>
        <p:sp>
          <p:nvSpPr>
            <p:cNvPr id="32" name="ZoneTexte 31">
              <a:extLst>
                <a:ext uri="{FF2B5EF4-FFF2-40B4-BE49-F238E27FC236}">
                  <a16:creationId xmlns:a16="http://schemas.microsoft.com/office/drawing/2014/main" id="{DB5012CB-F364-801D-AE50-65A80EAB9539}"/>
                </a:ext>
              </a:extLst>
            </p:cNvPr>
            <p:cNvSpPr txBox="1"/>
            <p:nvPr/>
          </p:nvSpPr>
          <p:spPr>
            <a:xfrm>
              <a:off x="1259795" y="5428271"/>
              <a:ext cx="7384648" cy="400110"/>
            </a:xfrm>
            <a:prstGeom prst="rect">
              <a:avLst/>
            </a:prstGeom>
            <a:noFill/>
          </p:spPr>
          <p:txBody>
            <a:bodyPr wrap="square" rtlCol="0">
              <a:spAutoFit/>
            </a:bodyPr>
            <a:lstStyle/>
            <a:p>
              <a:r>
                <a:rPr lang="fr-FR" sz="2000" dirty="0"/>
                <a:t>Ecrire des tests</a:t>
              </a:r>
            </a:p>
          </p:txBody>
        </p:sp>
        <p:sp>
          <p:nvSpPr>
            <p:cNvPr id="34" name="ZoneTexte 33">
              <a:extLst>
                <a:ext uri="{FF2B5EF4-FFF2-40B4-BE49-F238E27FC236}">
                  <a16:creationId xmlns:a16="http://schemas.microsoft.com/office/drawing/2014/main" id="{4B2F99FC-1CFC-ED13-680F-F7C6791E6194}"/>
                </a:ext>
              </a:extLst>
            </p:cNvPr>
            <p:cNvSpPr txBox="1"/>
            <p:nvPr/>
          </p:nvSpPr>
          <p:spPr>
            <a:xfrm>
              <a:off x="1259795" y="4669098"/>
              <a:ext cx="7384648" cy="400110"/>
            </a:xfrm>
            <a:prstGeom prst="rect">
              <a:avLst/>
            </a:prstGeom>
            <a:noFill/>
          </p:spPr>
          <p:txBody>
            <a:bodyPr wrap="square" rtlCol="0">
              <a:spAutoFit/>
            </a:bodyPr>
            <a:lstStyle/>
            <a:p>
              <a:r>
                <a:rPr lang="fr-FR" sz="2000" dirty="0"/>
                <a:t>Gérer les erreurs</a:t>
              </a:r>
            </a:p>
          </p:txBody>
        </p:sp>
        <p:sp>
          <p:nvSpPr>
            <p:cNvPr id="36" name="ZoneTexte 35">
              <a:extLst>
                <a:ext uri="{FF2B5EF4-FFF2-40B4-BE49-F238E27FC236}">
                  <a16:creationId xmlns:a16="http://schemas.microsoft.com/office/drawing/2014/main" id="{E1B15B15-AECA-56D0-8788-DE022127A33C}"/>
                </a:ext>
              </a:extLst>
            </p:cNvPr>
            <p:cNvSpPr txBox="1"/>
            <p:nvPr/>
          </p:nvSpPr>
          <p:spPr>
            <a:xfrm>
              <a:off x="1259795" y="3149666"/>
              <a:ext cx="7384648" cy="400110"/>
            </a:xfrm>
            <a:prstGeom prst="rect">
              <a:avLst/>
            </a:prstGeom>
            <a:noFill/>
          </p:spPr>
          <p:txBody>
            <a:bodyPr wrap="square" rtlCol="0">
              <a:spAutoFit/>
            </a:bodyPr>
            <a:lstStyle/>
            <a:p>
              <a:r>
                <a:rPr lang="fr-FR" sz="2000" dirty="0"/>
                <a:t>Valider les données</a:t>
              </a:r>
            </a:p>
          </p:txBody>
        </p:sp>
      </p:grpSp>
      <p:sp>
        <p:nvSpPr>
          <p:cNvPr id="38" name="Espace réservé du numéro de diapositive 37">
            <a:extLst>
              <a:ext uri="{FF2B5EF4-FFF2-40B4-BE49-F238E27FC236}">
                <a16:creationId xmlns:a16="http://schemas.microsoft.com/office/drawing/2014/main" id="{B0CE3DBF-D97F-F4B8-2FB3-A4629BCF8CFC}"/>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18872"/>
            <a:ext cx="4428713" cy="492443"/>
          </a:xfrm>
          <a:prstGeom prst="rect">
            <a:avLst/>
          </a:prstGeom>
          <a:noFill/>
        </p:spPr>
        <p:txBody>
          <a:bodyPr wrap="none">
            <a:spAutoFit/>
          </a:bodyPr>
          <a:lstStyle/>
          <a:p>
            <a:pPr>
              <a:defRPr sz="2600" b="1">
                <a:solidFill>
                  <a:srgbClr val="FFFFFF"/>
                </a:solidFill>
                <a:latin typeface="Aptos Display"/>
              </a:defRPr>
            </a:pPr>
            <a:r>
              <a:rPr dirty="0" err="1"/>
              <a:t>Pourquoi</a:t>
            </a:r>
            <a:r>
              <a:rPr dirty="0"/>
              <a:t> </a:t>
            </a:r>
            <a:r>
              <a:rPr lang="fr-FR" dirty="0"/>
              <a:t>utiliser </a:t>
            </a:r>
            <a:r>
              <a:rPr dirty="0"/>
              <a:t>Spring Boot ?</a:t>
            </a:r>
          </a:p>
        </p:txBody>
      </p:sp>
      <p:sp>
        <p:nvSpPr>
          <p:cNvPr id="7" name="TextBox 6"/>
          <p:cNvSpPr txBox="1"/>
          <p:nvPr/>
        </p:nvSpPr>
        <p:spPr>
          <a:xfrm>
            <a:off x="502920" y="2074783"/>
            <a:ext cx="10515600" cy="3077766"/>
          </a:xfrm>
          <a:prstGeom prst="rect">
            <a:avLst/>
          </a:prstGeom>
          <a:noFill/>
        </p:spPr>
        <p:txBody>
          <a:bodyPr wrap="square">
            <a:spAutoFit/>
          </a:bodyPr>
          <a:lstStyle/>
          <a:p>
            <a:pPr marL="342900" indent="-342900">
              <a:spcAft>
                <a:spcPts val="1200"/>
              </a:spcAft>
              <a:buFont typeface="Arial" panose="020B0604020202020204" pitchFamily="34" charset="0"/>
              <a:buChar char="•"/>
              <a:defRPr sz="2000">
                <a:solidFill>
                  <a:srgbClr val="232323"/>
                </a:solidFill>
                <a:latin typeface="Aptos"/>
              </a:defRPr>
            </a:pPr>
            <a:r>
              <a:rPr sz="1600" dirty="0" err="1"/>
              <a:t>Démarrer</a:t>
            </a:r>
            <a:r>
              <a:rPr sz="1600" dirty="0"/>
              <a:t> </a:t>
            </a:r>
            <a:r>
              <a:rPr sz="1600" dirty="0" err="1"/>
              <a:t>rapidement</a:t>
            </a:r>
            <a:r>
              <a:rPr sz="1600" dirty="0"/>
              <a:t> un </a:t>
            </a:r>
            <a:r>
              <a:rPr sz="1600" dirty="0" err="1"/>
              <a:t>projet</a:t>
            </a:r>
            <a:r>
              <a:rPr sz="1600" dirty="0"/>
              <a:t> Java</a:t>
            </a:r>
          </a:p>
          <a:p>
            <a:pPr marL="342900" indent="-342900">
              <a:spcAft>
                <a:spcPts val="1200"/>
              </a:spcAft>
              <a:buFont typeface="Arial" panose="020B0604020202020204" pitchFamily="34" charset="0"/>
              <a:buChar char="•"/>
              <a:defRPr sz="2000">
                <a:solidFill>
                  <a:srgbClr val="232323"/>
                </a:solidFill>
                <a:latin typeface="Aptos"/>
              </a:defRPr>
            </a:pPr>
            <a:r>
              <a:rPr sz="1600" dirty="0" err="1"/>
              <a:t>Éviter</a:t>
            </a:r>
            <a:r>
              <a:rPr sz="1600" dirty="0"/>
              <a:t> </a:t>
            </a:r>
            <a:r>
              <a:rPr sz="1600" dirty="0" err="1"/>
              <a:t>une</a:t>
            </a:r>
            <a:r>
              <a:rPr sz="1600" dirty="0"/>
              <a:t> configuration </a:t>
            </a:r>
            <a:r>
              <a:rPr sz="1600" dirty="0" err="1"/>
              <a:t>complexe</a:t>
            </a:r>
            <a:endParaRPr sz="1600" dirty="0"/>
          </a:p>
          <a:p>
            <a:pPr marL="342900" indent="-342900">
              <a:spcAft>
                <a:spcPts val="1200"/>
              </a:spcAft>
              <a:buFont typeface="Arial" panose="020B0604020202020204" pitchFamily="34" charset="0"/>
              <a:buChar char="•"/>
              <a:defRPr sz="2000">
                <a:solidFill>
                  <a:srgbClr val="232323"/>
                </a:solidFill>
                <a:latin typeface="Aptos"/>
              </a:defRPr>
            </a:pPr>
            <a:r>
              <a:rPr sz="1600" dirty="0" err="1"/>
              <a:t>Créer</a:t>
            </a:r>
            <a:r>
              <a:rPr sz="1600" dirty="0"/>
              <a:t> </a:t>
            </a:r>
            <a:r>
              <a:rPr sz="1600" dirty="0" err="1"/>
              <a:t>facilement</a:t>
            </a:r>
            <a:r>
              <a:rPr sz="1600" dirty="0"/>
              <a:t> des API REST</a:t>
            </a:r>
            <a:r>
              <a:rPr lang="fr-FR" sz="1600" dirty="0"/>
              <a:t> </a:t>
            </a:r>
            <a:r>
              <a:rPr lang="fr-FR" sz="1600" dirty="0">
                <a:sym typeface="Wingdings" panose="05000000000000000000" pitchFamily="2" charset="2"/>
              </a:rPr>
              <a:t> permet de communiquer via des requêtes HTTP</a:t>
            </a:r>
            <a:endParaRPr sz="1600" dirty="0"/>
          </a:p>
          <a:p>
            <a:pPr marL="342900" indent="-342900">
              <a:spcAft>
                <a:spcPts val="1200"/>
              </a:spcAft>
              <a:buFont typeface="Arial" panose="020B0604020202020204" pitchFamily="34" charset="0"/>
              <a:buChar char="•"/>
              <a:defRPr sz="2000">
                <a:solidFill>
                  <a:srgbClr val="232323"/>
                </a:solidFill>
                <a:latin typeface="Aptos"/>
              </a:defRPr>
            </a:pPr>
            <a:r>
              <a:rPr sz="1600" dirty="0"/>
              <a:t>Se connecter à </a:t>
            </a:r>
            <a:r>
              <a:rPr sz="1600" dirty="0" err="1"/>
              <a:t>une</a:t>
            </a:r>
            <a:r>
              <a:rPr sz="1600" dirty="0"/>
              <a:t> base de données</a:t>
            </a:r>
          </a:p>
          <a:p>
            <a:pPr marL="342900" indent="-342900">
              <a:spcAft>
                <a:spcPts val="1200"/>
              </a:spcAft>
              <a:buFont typeface="Arial" panose="020B0604020202020204" pitchFamily="34" charset="0"/>
              <a:buChar char="•"/>
              <a:defRPr sz="2000">
                <a:solidFill>
                  <a:srgbClr val="232323"/>
                </a:solidFill>
                <a:latin typeface="Aptos"/>
              </a:defRPr>
            </a:pPr>
            <a:r>
              <a:rPr sz="1600" dirty="0" err="1"/>
              <a:t>Développer</a:t>
            </a:r>
            <a:r>
              <a:rPr sz="1600" dirty="0"/>
              <a:t> des applications </a:t>
            </a:r>
            <a:r>
              <a:rPr sz="1600" dirty="0" err="1"/>
              <a:t>maintenables</a:t>
            </a:r>
            <a:r>
              <a:rPr sz="1600" dirty="0"/>
              <a:t> et </a:t>
            </a:r>
            <a:r>
              <a:rPr sz="1600" dirty="0" err="1"/>
              <a:t>testables</a:t>
            </a:r>
            <a:endParaRPr sz="1600" dirty="0"/>
          </a:p>
          <a:p>
            <a:pPr marL="342900" indent="-342900">
              <a:spcAft>
                <a:spcPts val="1200"/>
              </a:spcAft>
              <a:buFont typeface="Arial" panose="020B0604020202020204" pitchFamily="34" charset="0"/>
              <a:buChar char="•"/>
              <a:defRPr sz="2000">
                <a:solidFill>
                  <a:srgbClr val="232323"/>
                </a:solidFill>
                <a:latin typeface="Aptos"/>
              </a:defRPr>
            </a:pPr>
            <a:r>
              <a:rPr lang="fr-FR" sz="1600" dirty="0"/>
              <a:t>Spring Framework fournit les fonctionnalités principales : injection de dépendances, gestion des composants, accès aux bases de données, sécurité, développement web, etc.</a:t>
            </a:r>
            <a:br>
              <a:rPr lang="fr-FR" sz="1600" dirty="0"/>
            </a:br>
            <a:r>
              <a:rPr lang="fr-FR" sz="1600" dirty="0"/>
              <a:t>Spring Boot s’appuie sur Spring et évite une grande partie de la configuration nécessaire pour démarrer rapidement une application.</a:t>
            </a:r>
            <a:endParaRPr sz="1600" dirty="0"/>
          </a:p>
        </p:txBody>
      </p:sp>
      <p:sp>
        <p:nvSpPr>
          <p:cNvPr id="8" name="TextBox 7"/>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9" name="Espace réservé du numéro de diapositive 8">
            <a:extLst>
              <a:ext uri="{FF2B5EF4-FFF2-40B4-BE49-F238E27FC236}">
                <a16:creationId xmlns:a16="http://schemas.microsoft.com/office/drawing/2014/main" id="{59775115-ADCD-1F9E-963F-181414A5AD67}"/>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A3143-5AB4-07BD-38D1-722CD185E82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669CEF-0222-E41C-F4D1-248AE48C84BE}"/>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48CE24F4-43D7-B9E1-4A0D-45DE64E866E5}"/>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CD4221D0-0EDF-681B-B566-3E3D5F7BCAFB}"/>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BFE51A8-A0B8-4BDF-1758-D9CCA3695959}"/>
              </a:ext>
            </a:extLst>
          </p:cNvPr>
          <p:cNvSpPr txBox="1"/>
          <p:nvPr/>
        </p:nvSpPr>
        <p:spPr>
          <a:xfrm>
            <a:off x="502920" y="118872"/>
            <a:ext cx="10058400" cy="411480"/>
          </a:xfrm>
          <a:prstGeom prst="rect">
            <a:avLst/>
          </a:prstGeom>
          <a:noFill/>
        </p:spPr>
        <p:txBody>
          <a:bodyPr wrap="none">
            <a:spAutoFit/>
          </a:bodyPr>
          <a:lstStyle/>
          <a:p>
            <a:pPr>
              <a:defRPr sz="2600" b="1">
                <a:solidFill>
                  <a:srgbClr val="FFFFFF"/>
                </a:solidFill>
                <a:latin typeface="Aptos Display"/>
              </a:defRPr>
            </a:pPr>
            <a:r>
              <a:t>Structure d’un projet Spring Boot</a:t>
            </a:r>
          </a:p>
        </p:txBody>
      </p:sp>
      <p:sp>
        <p:nvSpPr>
          <p:cNvPr id="8" name="TextBox 7">
            <a:extLst>
              <a:ext uri="{FF2B5EF4-FFF2-40B4-BE49-F238E27FC236}">
                <a16:creationId xmlns:a16="http://schemas.microsoft.com/office/drawing/2014/main" id="{EABE6790-0804-BA62-23BC-85689C662C2C}"/>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pic>
        <p:nvPicPr>
          <p:cNvPr id="10" name="Image 9">
            <a:extLst>
              <a:ext uri="{FF2B5EF4-FFF2-40B4-BE49-F238E27FC236}">
                <a16:creationId xmlns:a16="http://schemas.microsoft.com/office/drawing/2014/main" id="{2677A13C-CE8A-4E20-D7FB-7CAC64649E80}"/>
              </a:ext>
            </a:extLst>
          </p:cNvPr>
          <p:cNvPicPr>
            <a:picLocks noChangeAspect="1"/>
          </p:cNvPicPr>
          <p:nvPr/>
        </p:nvPicPr>
        <p:blipFill>
          <a:blip r:embed="rId2"/>
          <a:stretch>
            <a:fillRect/>
          </a:stretch>
        </p:blipFill>
        <p:spPr>
          <a:xfrm>
            <a:off x="244332" y="1648453"/>
            <a:ext cx="6288520" cy="4642619"/>
          </a:xfrm>
          <a:prstGeom prst="rect">
            <a:avLst/>
          </a:prstGeom>
        </p:spPr>
      </p:pic>
      <p:sp>
        <p:nvSpPr>
          <p:cNvPr id="11" name="ZoneTexte 10">
            <a:extLst>
              <a:ext uri="{FF2B5EF4-FFF2-40B4-BE49-F238E27FC236}">
                <a16:creationId xmlns:a16="http://schemas.microsoft.com/office/drawing/2014/main" id="{B8911C4E-1794-D3F9-8383-648E3575844F}"/>
              </a:ext>
            </a:extLst>
          </p:cNvPr>
          <p:cNvSpPr txBox="1"/>
          <p:nvPr/>
        </p:nvSpPr>
        <p:spPr>
          <a:xfrm>
            <a:off x="6777183" y="1997839"/>
            <a:ext cx="4515657" cy="2616101"/>
          </a:xfrm>
          <a:prstGeom prst="rect">
            <a:avLst/>
          </a:prstGeom>
          <a:noFill/>
        </p:spPr>
        <p:txBody>
          <a:bodyPr wrap="square" rtlCol="0">
            <a:spAutoFit/>
          </a:bodyPr>
          <a:lstStyle/>
          <a:p>
            <a:r>
              <a:rPr lang="fr-FR" sz="1600" dirty="0">
                <a:latin typeface="Aptos" panose="020B0004020202020204" pitchFamily="34" charset="0"/>
              </a:rPr>
              <a:t>Se base sur un modèle MVC (model-</a:t>
            </a:r>
            <a:r>
              <a:rPr lang="fr-FR" sz="1600" dirty="0" err="1">
                <a:latin typeface="Aptos" panose="020B0004020202020204" pitchFamily="34" charset="0"/>
              </a:rPr>
              <a:t>view</a:t>
            </a:r>
            <a:r>
              <a:rPr lang="fr-FR" sz="1600" dirty="0">
                <a:latin typeface="Aptos" panose="020B0004020202020204" pitchFamily="34" charset="0"/>
              </a:rPr>
              <a:t>-</a:t>
            </a:r>
            <a:r>
              <a:rPr lang="fr-FR" sz="1600" dirty="0" err="1">
                <a:latin typeface="Aptos" panose="020B0004020202020204" pitchFamily="34" charset="0"/>
              </a:rPr>
              <a:t>controller</a:t>
            </a:r>
            <a:r>
              <a:rPr lang="fr-FR" sz="1600" dirty="0">
                <a:latin typeface="Aptos" panose="020B0004020202020204" pitchFamily="34" charset="0"/>
              </a:rPr>
              <a:t>)</a:t>
            </a:r>
          </a:p>
          <a:p>
            <a:endParaRPr lang="fr-FR" sz="1600" dirty="0">
              <a:latin typeface="Aptos" panose="020B0004020202020204" pitchFamily="34" charset="0"/>
            </a:endParaRPr>
          </a:p>
          <a:p>
            <a:r>
              <a:rPr lang="fr-FR" sz="1600" b="1" dirty="0">
                <a:latin typeface="Aptos" panose="020B0004020202020204" pitchFamily="34" charset="0"/>
              </a:rPr>
              <a:t>Vue</a:t>
            </a:r>
            <a:r>
              <a:rPr lang="fr-FR" sz="1600" dirty="0">
                <a:latin typeface="Aptos" panose="020B0004020202020204" pitchFamily="34" charset="0"/>
              </a:rPr>
              <a:t> = notre application front (ce que voit l’utilisateur)</a:t>
            </a:r>
          </a:p>
          <a:p>
            <a:r>
              <a:rPr lang="fr-FR" sz="1600" b="1" dirty="0">
                <a:latin typeface="Aptos" panose="020B0004020202020204" pitchFamily="34" charset="0"/>
              </a:rPr>
              <a:t>Modèle</a:t>
            </a:r>
            <a:r>
              <a:rPr lang="fr-FR" sz="1600" dirty="0">
                <a:latin typeface="Aptos" panose="020B0004020202020204" pitchFamily="34" charset="0"/>
              </a:rPr>
              <a:t> = notre modèle de donnée </a:t>
            </a:r>
            <a:r>
              <a:rPr lang="fr-FR" sz="1600" dirty="0">
                <a:latin typeface="Aptos" panose="020B0004020202020204" pitchFamily="34" charset="0"/>
                <a:sym typeface="Wingdings" panose="05000000000000000000" pitchFamily="2" charset="2"/>
              </a:rPr>
              <a:t> BDD</a:t>
            </a:r>
          </a:p>
          <a:p>
            <a:r>
              <a:rPr lang="fr-FR" sz="1600" b="1" dirty="0">
                <a:latin typeface="Aptos" panose="020B0004020202020204" pitchFamily="34" charset="0"/>
                <a:sym typeface="Wingdings" panose="05000000000000000000" pitchFamily="2" charset="2"/>
              </a:rPr>
              <a:t>Contrôleur</a:t>
            </a:r>
            <a:r>
              <a:rPr lang="fr-FR" sz="1600" dirty="0">
                <a:latin typeface="Aptos" panose="020B0004020202020204" pitchFamily="34" charset="0"/>
                <a:sym typeface="Wingdings" panose="05000000000000000000" pitchFamily="2" charset="2"/>
              </a:rPr>
              <a:t> = ce qu’il y a entre les deux  Notre point d’entrée du backend</a:t>
            </a:r>
          </a:p>
          <a:p>
            <a:endParaRPr lang="fr-FR" dirty="0">
              <a:sym typeface="Wingdings" panose="05000000000000000000" pitchFamily="2" charset="2"/>
            </a:endParaRPr>
          </a:p>
          <a:p>
            <a:endParaRPr lang="fr-FR" dirty="0"/>
          </a:p>
        </p:txBody>
      </p:sp>
      <p:sp>
        <p:nvSpPr>
          <p:cNvPr id="12" name="Espace réservé du numéro de diapositive 11">
            <a:extLst>
              <a:ext uri="{FF2B5EF4-FFF2-40B4-BE49-F238E27FC236}">
                <a16:creationId xmlns:a16="http://schemas.microsoft.com/office/drawing/2014/main" id="{35628210-133F-DCE1-298A-378ABB6D8F8C}"/>
              </a:ext>
            </a:extLst>
          </p:cNvPr>
          <p:cNvSpPr>
            <a:spLocks noGrp="1"/>
          </p:cNvSpPr>
          <p:nvPr>
            <p:ph type="sldNum" sz="quarter" idx="12"/>
          </p:nvPr>
        </p:nvSpPr>
        <p:spPr/>
        <p:txBody>
          <a:bodyPr/>
          <a:lstStyle/>
          <a:p>
            <a:fld id="{C1FF6DA9-008F-8B48-92A6-B652298478BF}" type="slidenum">
              <a:rPr lang="en-US" smtClean="0"/>
              <a:t>6</a:t>
            </a:fld>
            <a:endParaRPr lang="en-US"/>
          </a:p>
        </p:txBody>
      </p:sp>
    </p:spTree>
    <p:extLst>
      <p:ext uri="{BB962C8B-B14F-4D97-AF65-F5344CB8AC3E}">
        <p14:creationId xmlns:p14="http://schemas.microsoft.com/office/powerpoint/2010/main" val="39008734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18872"/>
            <a:ext cx="10058400" cy="411480"/>
          </a:xfrm>
          <a:prstGeom prst="rect">
            <a:avLst/>
          </a:prstGeom>
          <a:noFill/>
        </p:spPr>
        <p:txBody>
          <a:bodyPr wrap="none">
            <a:spAutoFit/>
          </a:bodyPr>
          <a:lstStyle/>
          <a:p>
            <a:pPr>
              <a:defRPr sz="2600" b="1">
                <a:solidFill>
                  <a:srgbClr val="FFFFFF"/>
                </a:solidFill>
                <a:latin typeface="Aptos Display"/>
              </a:defRPr>
            </a:pPr>
            <a:r>
              <a:t>Architecture d’une application Spring Boot</a:t>
            </a:r>
          </a:p>
        </p:txBody>
      </p:sp>
      <p:sp>
        <p:nvSpPr>
          <p:cNvPr id="7" name="Rounded Rectangle 6"/>
          <p:cNvSpPr/>
          <p:nvPr/>
        </p:nvSpPr>
        <p:spPr>
          <a:xfrm>
            <a:off x="3200400" y="1234440"/>
            <a:ext cx="5760720" cy="502920"/>
          </a:xfrm>
          <a:prstGeom prst="round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83280" y="1325880"/>
            <a:ext cx="5394960" cy="274320"/>
          </a:xfrm>
          <a:prstGeom prst="rect">
            <a:avLst/>
          </a:prstGeom>
          <a:noFill/>
        </p:spPr>
        <p:txBody>
          <a:bodyPr wrap="none">
            <a:spAutoFit/>
          </a:bodyPr>
          <a:lstStyle/>
          <a:p>
            <a:pPr algn="ctr">
              <a:defRPr sz="1900" b="1">
                <a:solidFill>
                  <a:srgbClr val="FFFFFF"/>
                </a:solidFill>
                <a:latin typeface="Aptos"/>
              </a:defRPr>
            </a:pPr>
            <a:r>
              <a:t>Client Web / Mobile</a:t>
            </a:r>
          </a:p>
        </p:txBody>
      </p:sp>
      <p:sp>
        <p:nvSpPr>
          <p:cNvPr id="9" name="TextBox 8"/>
          <p:cNvSpPr txBox="1"/>
          <p:nvPr/>
        </p:nvSpPr>
        <p:spPr>
          <a:xfrm>
            <a:off x="5715000" y="1764792"/>
            <a:ext cx="731520" cy="274320"/>
          </a:xfrm>
          <a:prstGeom prst="rect">
            <a:avLst/>
          </a:prstGeom>
          <a:noFill/>
        </p:spPr>
        <p:txBody>
          <a:bodyPr wrap="none">
            <a:spAutoFit/>
          </a:bodyPr>
          <a:lstStyle/>
          <a:p>
            <a:pPr algn="ctr">
              <a:defRPr sz="2200" b="1">
                <a:solidFill>
                  <a:srgbClr val="0D274B"/>
                </a:solidFill>
              </a:defRPr>
            </a:pPr>
            <a:r>
              <a:t>↓</a:t>
            </a:r>
          </a:p>
        </p:txBody>
      </p:sp>
      <p:sp>
        <p:nvSpPr>
          <p:cNvPr id="10" name="Rounded Rectangle 9"/>
          <p:cNvSpPr/>
          <p:nvPr/>
        </p:nvSpPr>
        <p:spPr>
          <a:xfrm>
            <a:off x="3200400" y="2057400"/>
            <a:ext cx="5760720" cy="502920"/>
          </a:xfrm>
          <a:prstGeom prst="round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83280" y="2148840"/>
            <a:ext cx="5394960" cy="274320"/>
          </a:xfrm>
          <a:prstGeom prst="rect">
            <a:avLst/>
          </a:prstGeom>
          <a:noFill/>
        </p:spPr>
        <p:txBody>
          <a:bodyPr wrap="none">
            <a:spAutoFit/>
          </a:bodyPr>
          <a:lstStyle/>
          <a:p>
            <a:pPr algn="ctr">
              <a:defRPr sz="1900" b="1">
                <a:solidFill>
                  <a:srgbClr val="FFFFFF"/>
                </a:solidFill>
                <a:latin typeface="Aptos"/>
              </a:defRPr>
            </a:pPr>
            <a:r>
              <a:t>REST Controller</a:t>
            </a:r>
          </a:p>
        </p:txBody>
      </p:sp>
      <p:sp>
        <p:nvSpPr>
          <p:cNvPr id="12" name="TextBox 11"/>
          <p:cNvSpPr txBox="1"/>
          <p:nvPr/>
        </p:nvSpPr>
        <p:spPr>
          <a:xfrm>
            <a:off x="5715000" y="2587752"/>
            <a:ext cx="731520" cy="274320"/>
          </a:xfrm>
          <a:prstGeom prst="rect">
            <a:avLst/>
          </a:prstGeom>
          <a:noFill/>
        </p:spPr>
        <p:txBody>
          <a:bodyPr wrap="none">
            <a:spAutoFit/>
          </a:bodyPr>
          <a:lstStyle/>
          <a:p>
            <a:pPr algn="ctr">
              <a:defRPr sz="2200" b="1">
                <a:solidFill>
                  <a:srgbClr val="0D274B"/>
                </a:solidFill>
              </a:defRPr>
            </a:pPr>
            <a:r>
              <a:t>↓</a:t>
            </a:r>
          </a:p>
        </p:txBody>
      </p:sp>
      <p:sp>
        <p:nvSpPr>
          <p:cNvPr id="13" name="Rounded Rectangle 12"/>
          <p:cNvSpPr/>
          <p:nvPr/>
        </p:nvSpPr>
        <p:spPr>
          <a:xfrm>
            <a:off x="3200400" y="2880360"/>
            <a:ext cx="5760720" cy="502920"/>
          </a:xfrm>
          <a:prstGeom prst="round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383280" y="2971800"/>
            <a:ext cx="5394960" cy="274320"/>
          </a:xfrm>
          <a:prstGeom prst="rect">
            <a:avLst/>
          </a:prstGeom>
          <a:noFill/>
        </p:spPr>
        <p:txBody>
          <a:bodyPr wrap="none">
            <a:spAutoFit/>
          </a:bodyPr>
          <a:lstStyle/>
          <a:p>
            <a:pPr algn="ctr">
              <a:defRPr sz="1900" b="1">
                <a:solidFill>
                  <a:srgbClr val="FFFFFF"/>
                </a:solidFill>
                <a:latin typeface="Aptos"/>
              </a:defRPr>
            </a:pPr>
            <a:r>
              <a:t>Service métier</a:t>
            </a:r>
          </a:p>
        </p:txBody>
      </p:sp>
      <p:sp>
        <p:nvSpPr>
          <p:cNvPr id="15" name="TextBox 14"/>
          <p:cNvSpPr txBox="1"/>
          <p:nvPr/>
        </p:nvSpPr>
        <p:spPr>
          <a:xfrm>
            <a:off x="5715000" y="3410712"/>
            <a:ext cx="731520" cy="274320"/>
          </a:xfrm>
          <a:prstGeom prst="rect">
            <a:avLst/>
          </a:prstGeom>
          <a:noFill/>
        </p:spPr>
        <p:txBody>
          <a:bodyPr wrap="none">
            <a:spAutoFit/>
          </a:bodyPr>
          <a:lstStyle/>
          <a:p>
            <a:pPr algn="ctr">
              <a:defRPr sz="2200" b="1">
                <a:solidFill>
                  <a:srgbClr val="0D274B"/>
                </a:solidFill>
              </a:defRPr>
            </a:pPr>
            <a:r>
              <a:t>↓</a:t>
            </a:r>
          </a:p>
        </p:txBody>
      </p:sp>
      <p:sp>
        <p:nvSpPr>
          <p:cNvPr id="16" name="Rounded Rectangle 15"/>
          <p:cNvSpPr/>
          <p:nvPr/>
        </p:nvSpPr>
        <p:spPr>
          <a:xfrm>
            <a:off x="3200400" y="3703320"/>
            <a:ext cx="5760720" cy="502920"/>
          </a:xfrm>
          <a:prstGeom prst="round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83280" y="3794760"/>
            <a:ext cx="5394960" cy="274320"/>
          </a:xfrm>
          <a:prstGeom prst="rect">
            <a:avLst/>
          </a:prstGeom>
          <a:noFill/>
        </p:spPr>
        <p:txBody>
          <a:bodyPr wrap="none">
            <a:spAutoFit/>
          </a:bodyPr>
          <a:lstStyle/>
          <a:p>
            <a:pPr algn="ctr">
              <a:defRPr sz="1900" b="1">
                <a:solidFill>
                  <a:srgbClr val="FFFFFF"/>
                </a:solidFill>
                <a:latin typeface="Aptos"/>
              </a:defRPr>
            </a:pPr>
            <a:r>
              <a:t>Repository JPA</a:t>
            </a:r>
          </a:p>
        </p:txBody>
      </p:sp>
      <p:sp>
        <p:nvSpPr>
          <p:cNvPr id="18" name="TextBox 17"/>
          <p:cNvSpPr txBox="1"/>
          <p:nvPr/>
        </p:nvSpPr>
        <p:spPr>
          <a:xfrm>
            <a:off x="5715000" y="4233672"/>
            <a:ext cx="731520" cy="274320"/>
          </a:xfrm>
          <a:prstGeom prst="rect">
            <a:avLst/>
          </a:prstGeom>
          <a:noFill/>
        </p:spPr>
        <p:txBody>
          <a:bodyPr wrap="none">
            <a:spAutoFit/>
          </a:bodyPr>
          <a:lstStyle/>
          <a:p>
            <a:pPr algn="ctr">
              <a:defRPr sz="2200" b="1">
                <a:solidFill>
                  <a:srgbClr val="0D274B"/>
                </a:solidFill>
              </a:defRPr>
            </a:pPr>
            <a:r>
              <a:t>↓</a:t>
            </a:r>
          </a:p>
        </p:txBody>
      </p:sp>
      <p:sp>
        <p:nvSpPr>
          <p:cNvPr id="19" name="Rounded Rectangle 18"/>
          <p:cNvSpPr/>
          <p:nvPr/>
        </p:nvSpPr>
        <p:spPr>
          <a:xfrm>
            <a:off x="3200400" y="4526280"/>
            <a:ext cx="5760720" cy="502920"/>
          </a:xfrm>
          <a:prstGeom prst="roundRect">
            <a:avLst/>
          </a:prstGeom>
          <a:solidFill>
            <a:srgbClr val="1E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383280" y="4617720"/>
            <a:ext cx="5394960" cy="274320"/>
          </a:xfrm>
          <a:prstGeom prst="rect">
            <a:avLst/>
          </a:prstGeom>
          <a:noFill/>
        </p:spPr>
        <p:txBody>
          <a:bodyPr wrap="none">
            <a:spAutoFit/>
          </a:bodyPr>
          <a:lstStyle/>
          <a:p>
            <a:pPr algn="ctr">
              <a:defRPr sz="1900" b="1">
                <a:solidFill>
                  <a:srgbClr val="FFFFFF"/>
                </a:solidFill>
                <a:latin typeface="Aptos"/>
              </a:defRPr>
            </a:pPr>
            <a:r>
              <a:t>Base PostgreSQL</a:t>
            </a:r>
          </a:p>
        </p:txBody>
      </p:sp>
      <p:sp>
        <p:nvSpPr>
          <p:cNvPr id="21" name="TextBox 20"/>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rPr dirty="0"/>
              <a:t>Cours Spring Boot — Java 17/21 — Spring Boot 3</a:t>
            </a:r>
          </a:p>
        </p:txBody>
      </p:sp>
      <p:sp>
        <p:nvSpPr>
          <p:cNvPr id="22" name="Espace réservé du numéro de diapositive 21">
            <a:extLst>
              <a:ext uri="{FF2B5EF4-FFF2-40B4-BE49-F238E27FC236}">
                <a16:creationId xmlns:a16="http://schemas.microsoft.com/office/drawing/2014/main" id="{55D07185-C963-7C2C-72C2-B15C576CA3B4}"/>
              </a:ext>
            </a:extLst>
          </p:cNvPr>
          <p:cNvSpPr>
            <a:spLocks noGrp="1"/>
          </p:cNvSpPr>
          <p:nvPr>
            <p:ph type="sldNum" sz="quarter" idx="12"/>
          </p:nvPr>
        </p:nvSpPr>
        <p:spPr/>
        <p:txBody>
          <a:bodyPr/>
          <a:lstStyle/>
          <a:p>
            <a:fld id="{C1FF6DA9-008F-8B48-92A6-B652298478BF}" type="slidenum">
              <a:rPr lang="en-US" smtClean="0"/>
              <a:t>7</a:t>
            </a:fld>
            <a:endParaRPr lang="en-US"/>
          </a:p>
        </p:txBody>
      </p:sp>
      <p:sp>
        <p:nvSpPr>
          <p:cNvPr id="6" name="ZoneTexte 5">
            <a:extLst>
              <a:ext uri="{FF2B5EF4-FFF2-40B4-BE49-F238E27FC236}">
                <a16:creationId xmlns:a16="http://schemas.microsoft.com/office/drawing/2014/main" id="{1159372B-68C5-602F-ED53-E50C34847CEA}"/>
              </a:ext>
            </a:extLst>
          </p:cNvPr>
          <p:cNvSpPr txBox="1"/>
          <p:nvPr/>
        </p:nvSpPr>
        <p:spPr>
          <a:xfrm>
            <a:off x="2796540" y="5585198"/>
            <a:ext cx="10469880" cy="369332"/>
          </a:xfrm>
          <a:prstGeom prst="rect">
            <a:avLst/>
          </a:prstGeom>
          <a:noFill/>
        </p:spPr>
        <p:txBody>
          <a:bodyPr wrap="square" rtlCol="0">
            <a:spAutoFit/>
          </a:bodyPr>
          <a:lstStyle/>
          <a:p>
            <a:r>
              <a:rPr lang="fr-FR" dirty="0">
                <a:solidFill>
                  <a:schemeClr val="accent6">
                    <a:lumMod val="75000"/>
                  </a:schemeClr>
                </a:solidFill>
              </a:rPr>
              <a:t>/!\ Il s’agit d’une organisation courante, mais il se peux qu’elle diffère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18872"/>
            <a:ext cx="10058400" cy="411480"/>
          </a:xfrm>
          <a:prstGeom prst="rect">
            <a:avLst/>
          </a:prstGeom>
          <a:noFill/>
        </p:spPr>
        <p:txBody>
          <a:bodyPr wrap="none">
            <a:spAutoFit/>
          </a:bodyPr>
          <a:lstStyle/>
          <a:p>
            <a:pPr>
              <a:defRPr sz="2600" b="1">
                <a:solidFill>
                  <a:srgbClr val="FFFFFF"/>
                </a:solidFill>
                <a:latin typeface="Aptos Display"/>
              </a:defRPr>
            </a:pPr>
            <a:r>
              <a:t>Structure d’un projet Spring Boot</a:t>
            </a:r>
          </a:p>
        </p:txBody>
      </p:sp>
      <p:sp>
        <p:nvSpPr>
          <p:cNvPr id="7" name="TextBox 6"/>
          <p:cNvSpPr txBox="1"/>
          <p:nvPr/>
        </p:nvSpPr>
        <p:spPr>
          <a:xfrm>
            <a:off x="6238014" y="1632274"/>
            <a:ext cx="5678682" cy="3477875"/>
          </a:xfrm>
          <a:prstGeom prst="rect">
            <a:avLst/>
          </a:prstGeom>
          <a:noFill/>
        </p:spPr>
        <p:txBody>
          <a:bodyPr wrap="square">
            <a:spAutoFit/>
          </a:bodyPr>
          <a:lstStyle/>
          <a:p>
            <a:pPr>
              <a:spcAft>
                <a:spcPts val="1200"/>
              </a:spcAft>
              <a:defRPr sz="2000">
                <a:solidFill>
                  <a:srgbClr val="232323"/>
                </a:solidFill>
                <a:latin typeface="Aptos"/>
              </a:defRPr>
            </a:pPr>
            <a:r>
              <a:rPr sz="1600" b="1" dirty="0"/>
              <a:t>controller</a:t>
            </a:r>
            <a:r>
              <a:rPr sz="1600" dirty="0"/>
              <a:t> : </a:t>
            </a:r>
            <a:r>
              <a:rPr sz="1600" dirty="0" err="1"/>
              <a:t>reçoit</a:t>
            </a:r>
            <a:r>
              <a:rPr sz="1600" dirty="0"/>
              <a:t> les </a:t>
            </a:r>
            <a:r>
              <a:rPr sz="1600" dirty="0" err="1"/>
              <a:t>requêtes</a:t>
            </a:r>
            <a:r>
              <a:rPr sz="1600" dirty="0"/>
              <a:t> HTTP</a:t>
            </a:r>
            <a:r>
              <a:rPr lang="fr-FR" sz="1600" dirty="0"/>
              <a:t> (requête envoyer par le front end)</a:t>
            </a:r>
            <a:endParaRPr sz="1600" dirty="0"/>
          </a:p>
          <a:p>
            <a:pPr>
              <a:spcAft>
                <a:spcPts val="1200"/>
              </a:spcAft>
              <a:defRPr sz="2000">
                <a:solidFill>
                  <a:srgbClr val="232323"/>
                </a:solidFill>
                <a:latin typeface="Aptos"/>
              </a:defRPr>
            </a:pPr>
            <a:r>
              <a:rPr sz="1600" b="1" dirty="0"/>
              <a:t>service</a:t>
            </a:r>
            <a:r>
              <a:rPr sz="1600" dirty="0"/>
              <a:t> : </a:t>
            </a:r>
            <a:r>
              <a:rPr sz="1600" dirty="0" err="1"/>
              <a:t>contient</a:t>
            </a:r>
            <a:r>
              <a:rPr sz="1600" dirty="0"/>
              <a:t> la </a:t>
            </a:r>
            <a:r>
              <a:rPr sz="1600" dirty="0" err="1"/>
              <a:t>logique</a:t>
            </a:r>
            <a:r>
              <a:rPr sz="1600" dirty="0"/>
              <a:t> métier</a:t>
            </a:r>
            <a:r>
              <a:rPr lang="fr-FR" sz="1600" dirty="0"/>
              <a:t> (ce qu’on fait de cette requête, action a faire </a:t>
            </a:r>
            <a:r>
              <a:rPr lang="fr-FR" sz="1600" dirty="0" err="1"/>
              <a:t>ensuire</a:t>
            </a:r>
            <a:r>
              <a:rPr lang="fr-FR" sz="1600" dirty="0"/>
              <a:t> avec)</a:t>
            </a:r>
            <a:endParaRPr sz="1600" dirty="0"/>
          </a:p>
          <a:p>
            <a:pPr>
              <a:spcAft>
                <a:spcPts val="1200"/>
              </a:spcAft>
              <a:defRPr sz="2000">
                <a:solidFill>
                  <a:srgbClr val="232323"/>
                </a:solidFill>
                <a:latin typeface="Aptos"/>
              </a:defRPr>
            </a:pPr>
            <a:r>
              <a:rPr sz="1600" b="1" dirty="0"/>
              <a:t>repository</a:t>
            </a:r>
            <a:r>
              <a:rPr sz="1600" dirty="0"/>
              <a:t> : communique avec la base</a:t>
            </a:r>
          </a:p>
          <a:p>
            <a:pPr>
              <a:spcAft>
                <a:spcPts val="1200"/>
              </a:spcAft>
              <a:defRPr sz="2000">
                <a:solidFill>
                  <a:srgbClr val="232323"/>
                </a:solidFill>
                <a:latin typeface="Aptos"/>
              </a:defRPr>
            </a:pPr>
            <a:r>
              <a:rPr sz="1600" b="1" dirty="0"/>
              <a:t>entity</a:t>
            </a:r>
            <a:r>
              <a:rPr sz="1600" dirty="0"/>
              <a:t> : </a:t>
            </a:r>
            <a:r>
              <a:rPr sz="1600" dirty="0" err="1"/>
              <a:t>représente</a:t>
            </a:r>
            <a:r>
              <a:rPr sz="1600" dirty="0"/>
              <a:t> les tables de la base</a:t>
            </a:r>
          </a:p>
          <a:p>
            <a:pPr>
              <a:spcAft>
                <a:spcPts val="1200"/>
              </a:spcAft>
              <a:defRPr sz="2000">
                <a:solidFill>
                  <a:srgbClr val="232323"/>
                </a:solidFill>
                <a:latin typeface="Aptos"/>
              </a:defRPr>
            </a:pPr>
            <a:r>
              <a:rPr sz="1600" b="1" dirty="0" err="1"/>
              <a:t>dto</a:t>
            </a:r>
            <a:r>
              <a:rPr sz="1600" dirty="0"/>
              <a:t> : </a:t>
            </a:r>
            <a:r>
              <a:rPr sz="1600" dirty="0" err="1"/>
              <a:t>représente</a:t>
            </a:r>
            <a:r>
              <a:rPr sz="1600" dirty="0"/>
              <a:t> les données </a:t>
            </a:r>
            <a:r>
              <a:rPr sz="1600" dirty="0" err="1"/>
              <a:t>échangées</a:t>
            </a:r>
            <a:endParaRPr sz="1600" dirty="0"/>
          </a:p>
          <a:p>
            <a:pPr>
              <a:spcAft>
                <a:spcPts val="1200"/>
              </a:spcAft>
              <a:defRPr sz="2000">
                <a:solidFill>
                  <a:srgbClr val="232323"/>
                </a:solidFill>
                <a:latin typeface="Aptos"/>
              </a:defRPr>
            </a:pPr>
            <a:r>
              <a:rPr sz="1600" b="1" dirty="0"/>
              <a:t>exception</a:t>
            </a:r>
            <a:r>
              <a:rPr sz="1600" dirty="0"/>
              <a:t> : </a:t>
            </a:r>
            <a:r>
              <a:rPr sz="1600" dirty="0" err="1"/>
              <a:t>contient</a:t>
            </a:r>
            <a:r>
              <a:rPr sz="1600" dirty="0"/>
              <a:t> les </a:t>
            </a:r>
            <a:r>
              <a:rPr sz="1600" dirty="0" err="1"/>
              <a:t>erreurs</a:t>
            </a:r>
            <a:r>
              <a:rPr sz="1600" dirty="0"/>
              <a:t> </a:t>
            </a:r>
            <a:r>
              <a:rPr sz="1600" dirty="0" err="1"/>
              <a:t>personnalisées</a:t>
            </a:r>
            <a:r>
              <a:rPr lang="fr-FR" sz="1600" dirty="0"/>
              <a:t> (dans le dossier </a:t>
            </a:r>
            <a:r>
              <a:rPr lang="fr-FR" sz="1600" dirty="0" err="1"/>
              <a:t>shared</a:t>
            </a:r>
            <a:r>
              <a:rPr lang="fr-FR" sz="1600" dirty="0"/>
              <a:t>)</a:t>
            </a:r>
            <a:endParaRPr sz="1600" dirty="0"/>
          </a:p>
          <a:p>
            <a:pPr>
              <a:spcAft>
                <a:spcPts val="1200"/>
              </a:spcAft>
              <a:defRPr sz="2000">
                <a:solidFill>
                  <a:srgbClr val="232323"/>
                </a:solidFill>
                <a:latin typeface="Aptos"/>
              </a:defRPr>
            </a:pPr>
            <a:r>
              <a:rPr sz="1600" b="1" dirty="0"/>
              <a:t>resources</a:t>
            </a:r>
            <a:r>
              <a:rPr sz="1600" dirty="0"/>
              <a:t> : configuration et </a:t>
            </a:r>
            <a:r>
              <a:rPr sz="1600" dirty="0" err="1"/>
              <a:t>fichiers</a:t>
            </a:r>
            <a:r>
              <a:rPr sz="1600" dirty="0"/>
              <a:t> </a:t>
            </a:r>
            <a:r>
              <a:rPr sz="1600" dirty="0" err="1"/>
              <a:t>statiques</a:t>
            </a:r>
            <a:endParaRPr sz="1600" dirty="0"/>
          </a:p>
        </p:txBody>
      </p:sp>
      <p:sp>
        <p:nvSpPr>
          <p:cNvPr id="8" name="TextBox 7"/>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pic>
        <p:nvPicPr>
          <p:cNvPr id="10" name="Image 9">
            <a:extLst>
              <a:ext uri="{FF2B5EF4-FFF2-40B4-BE49-F238E27FC236}">
                <a16:creationId xmlns:a16="http://schemas.microsoft.com/office/drawing/2014/main" id="{BC72E97C-F0EA-899B-1F9C-042A675872F8}"/>
              </a:ext>
            </a:extLst>
          </p:cNvPr>
          <p:cNvPicPr>
            <a:picLocks noChangeAspect="1"/>
          </p:cNvPicPr>
          <p:nvPr/>
        </p:nvPicPr>
        <p:blipFill>
          <a:blip r:embed="rId2"/>
          <a:stretch>
            <a:fillRect/>
          </a:stretch>
        </p:blipFill>
        <p:spPr>
          <a:xfrm>
            <a:off x="235822" y="1221695"/>
            <a:ext cx="5766370" cy="4414610"/>
          </a:xfrm>
          <a:prstGeom prst="rect">
            <a:avLst/>
          </a:prstGeom>
        </p:spPr>
      </p:pic>
      <p:sp>
        <p:nvSpPr>
          <p:cNvPr id="13" name="Espace réservé du numéro de diapositive 12">
            <a:extLst>
              <a:ext uri="{FF2B5EF4-FFF2-40B4-BE49-F238E27FC236}">
                <a16:creationId xmlns:a16="http://schemas.microsoft.com/office/drawing/2014/main" id="{4B8770A4-5C18-4000-0E4F-8720B85B6873}"/>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0033E-5ED3-D568-3608-5C347C1E0F0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5D99393-A7A4-AF1B-F6A1-A77AF75E2827}"/>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83887411-85F8-A467-57B4-E70683DDC858}"/>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7497D229-74BC-2416-9D67-BFC00E0425C0}"/>
              </a:ext>
            </a:extLst>
          </p:cNvPr>
          <p:cNvSpPr txBox="1"/>
          <p:nvPr/>
        </p:nvSpPr>
        <p:spPr>
          <a:xfrm>
            <a:off x="502920" y="118872"/>
            <a:ext cx="1518942" cy="492443"/>
          </a:xfrm>
          <a:prstGeom prst="rect">
            <a:avLst/>
          </a:prstGeom>
          <a:noFill/>
        </p:spPr>
        <p:txBody>
          <a:bodyPr wrap="none">
            <a:spAutoFit/>
          </a:bodyPr>
          <a:lstStyle/>
          <a:p>
            <a:pPr>
              <a:defRPr sz="2600" b="1">
                <a:solidFill>
                  <a:srgbClr val="FFFFFF"/>
                </a:solidFill>
                <a:latin typeface="Aptos Display"/>
              </a:defRPr>
            </a:pPr>
            <a:r>
              <a:rPr lang="fr-FR" dirty="0"/>
              <a:t>Structure</a:t>
            </a:r>
            <a:endParaRPr dirty="0"/>
          </a:p>
        </p:txBody>
      </p:sp>
      <p:sp>
        <p:nvSpPr>
          <p:cNvPr id="8" name="TextBox 7">
            <a:extLst>
              <a:ext uri="{FF2B5EF4-FFF2-40B4-BE49-F238E27FC236}">
                <a16:creationId xmlns:a16="http://schemas.microsoft.com/office/drawing/2014/main" id="{E213819F-782C-83DE-5188-48449C1C905F}"/>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13" name="Espace réservé du numéro de diapositive 12">
            <a:extLst>
              <a:ext uri="{FF2B5EF4-FFF2-40B4-BE49-F238E27FC236}">
                <a16:creationId xmlns:a16="http://schemas.microsoft.com/office/drawing/2014/main" id="{4B54D61B-B1A6-7247-66DE-769CAF5644F4}"/>
              </a:ext>
            </a:extLst>
          </p:cNvPr>
          <p:cNvSpPr>
            <a:spLocks noGrp="1"/>
          </p:cNvSpPr>
          <p:nvPr>
            <p:ph type="sldNum" sz="quarter" idx="12"/>
          </p:nvPr>
        </p:nvSpPr>
        <p:spPr/>
        <p:txBody>
          <a:bodyPr/>
          <a:lstStyle/>
          <a:p>
            <a:fld id="{C1FF6DA9-008F-8B48-92A6-B652298478BF}" type="slidenum">
              <a:rPr lang="en-US" smtClean="0"/>
              <a:t>9</a:t>
            </a:fld>
            <a:endParaRPr lang="en-US"/>
          </a:p>
        </p:txBody>
      </p:sp>
      <p:pic>
        <p:nvPicPr>
          <p:cNvPr id="14" name="Image 13">
            <a:extLst>
              <a:ext uri="{FF2B5EF4-FFF2-40B4-BE49-F238E27FC236}">
                <a16:creationId xmlns:a16="http://schemas.microsoft.com/office/drawing/2014/main" id="{2078F600-3774-CFC5-11A0-7B947F03EF71}"/>
              </a:ext>
            </a:extLst>
          </p:cNvPr>
          <p:cNvPicPr>
            <a:picLocks noChangeAspect="1"/>
          </p:cNvPicPr>
          <p:nvPr/>
        </p:nvPicPr>
        <p:blipFill>
          <a:blip r:embed="rId2"/>
          <a:stretch>
            <a:fillRect/>
          </a:stretch>
        </p:blipFill>
        <p:spPr>
          <a:xfrm>
            <a:off x="1192946" y="1736641"/>
            <a:ext cx="1095432" cy="1146383"/>
          </a:xfrm>
          <a:prstGeom prst="rect">
            <a:avLst/>
          </a:prstGeom>
        </p:spPr>
      </p:pic>
      <p:sp>
        <p:nvSpPr>
          <p:cNvPr id="15" name="Rectangle : coins arrondis 14">
            <a:extLst>
              <a:ext uri="{FF2B5EF4-FFF2-40B4-BE49-F238E27FC236}">
                <a16:creationId xmlns:a16="http://schemas.microsoft.com/office/drawing/2014/main" id="{7167DFA2-03A9-293F-9342-0E1466EBEC9D}"/>
              </a:ext>
            </a:extLst>
          </p:cNvPr>
          <p:cNvSpPr/>
          <p:nvPr/>
        </p:nvSpPr>
        <p:spPr>
          <a:xfrm>
            <a:off x="1454941"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err="1">
                <a:solidFill>
                  <a:schemeClr val="tx1"/>
                </a:solidFill>
              </a:rPr>
              <a:t>Controlleur</a:t>
            </a:r>
            <a:endParaRPr lang="fr-FR" dirty="0">
              <a:solidFill>
                <a:schemeClr val="tx1"/>
              </a:solidFill>
            </a:endParaRPr>
          </a:p>
        </p:txBody>
      </p:sp>
      <p:sp>
        <p:nvSpPr>
          <p:cNvPr id="17" name="Rectangle : coins arrondis 16">
            <a:extLst>
              <a:ext uri="{FF2B5EF4-FFF2-40B4-BE49-F238E27FC236}">
                <a16:creationId xmlns:a16="http://schemas.microsoft.com/office/drawing/2014/main" id="{AF0BAB1C-4B41-9141-82FC-2C41CDA69D56}"/>
              </a:ext>
            </a:extLst>
          </p:cNvPr>
          <p:cNvSpPr/>
          <p:nvPr/>
        </p:nvSpPr>
        <p:spPr>
          <a:xfrm>
            <a:off x="4283866"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solidFill>
                  <a:schemeClr val="tx1"/>
                </a:solidFill>
              </a:rPr>
              <a:t>Service</a:t>
            </a:r>
          </a:p>
        </p:txBody>
      </p:sp>
      <p:sp>
        <p:nvSpPr>
          <p:cNvPr id="19" name="Rectangle : coins arrondis 18">
            <a:extLst>
              <a:ext uri="{FF2B5EF4-FFF2-40B4-BE49-F238E27FC236}">
                <a16:creationId xmlns:a16="http://schemas.microsoft.com/office/drawing/2014/main" id="{44D47307-8534-2DD0-29B2-78894FDF838E}"/>
              </a:ext>
            </a:extLst>
          </p:cNvPr>
          <p:cNvSpPr/>
          <p:nvPr/>
        </p:nvSpPr>
        <p:spPr>
          <a:xfrm>
            <a:off x="7389016"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solidFill>
                  <a:schemeClr val="tx1"/>
                </a:solidFill>
              </a:rPr>
              <a:t>Repository</a:t>
            </a:r>
          </a:p>
        </p:txBody>
      </p:sp>
      <p:grpSp>
        <p:nvGrpSpPr>
          <p:cNvPr id="21" name="Groupe 20">
            <a:extLst>
              <a:ext uri="{FF2B5EF4-FFF2-40B4-BE49-F238E27FC236}">
                <a16:creationId xmlns:a16="http://schemas.microsoft.com/office/drawing/2014/main" id="{2D8222CE-AFCD-8FB8-9606-8FA48CA031DA}"/>
              </a:ext>
            </a:extLst>
          </p:cNvPr>
          <p:cNvGrpSpPr/>
          <p:nvPr/>
        </p:nvGrpSpPr>
        <p:grpSpPr>
          <a:xfrm>
            <a:off x="10003567" y="2207240"/>
            <a:ext cx="1281173" cy="1552639"/>
            <a:chOff x="9634476" y="1876361"/>
            <a:chExt cx="1281173" cy="1552639"/>
          </a:xfrm>
        </p:grpSpPr>
        <p:pic>
          <p:nvPicPr>
            <p:cNvPr id="11" name="Image 10">
              <a:extLst>
                <a:ext uri="{FF2B5EF4-FFF2-40B4-BE49-F238E27FC236}">
                  <a16:creationId xmlns:a16="http://schemas.microsoft.com/office/drawing/2014/main" id="{575B4BBF-627E-27DB-BF39-F6C768C11122}"/>
                </a:ext>
              </a:extLst>
            </p:cNvPr>
            <p:cNvPicPr>
              <a:picLocks noChangeAspect="1"/>
            </p:cNvPicPr>
            <p:nvPr/>
          </p:nvPicPr>
          <p:blipFill>
            <a:blip r:embed="rId3"/>
            <a:stretch>
              <a:fillRect/>
            </a:stretch>
          </p:blipFill>
          <p:spPr>
            <a:xfrm>
              <a:off x="9634476" y="1876361"/>
              <a:ext cx="1281173" cy="1351568"/>
            </a:xfrm>
            <a:prstGeom prst="rect">
              <a:avLst/>
            </a:prstGeom>
          </p:spPr>
        </p:pic>
        <p:sp>
          <p:nvSpPr>
            <p:cNvPr id="20" name="ZoneTexte 19">
              <a:extLst>
                <a:ext uri="{FF2B5EF4-FFF2-40B4-BE49-F238E27FC236}">
                  <a16:creationId xmlns:a16="http://schemas.microsoft.com/office/drawing/2014/main" id="{E2DA9728-01E2-2DBE-96A7-2BB5F8FDAB3D}"/>
                </a:ext>
              </a:extLst>
            </p:cNvPr>
            <p:cNvSpPr txBox="1"/>
            <p:nvPr/>
          </p:nvSpPr>
          <p:spPr>
            <a:xfrm>
              <a:off x="10003599" y="3121223"/>
              <a:ext cx="542925" cy="307777"/>
            </a:xfrm>
            <a:prstGeom prst="rect">
              <a:avLst/>
            </a:prstGeom>
            <a:noFill/>
          </p:spPr>
          <p:txBody>
            <a:bodyPr wrap="square" rtlCol="0">
              <a:spAutoFit/>
            </a:bodyPr>
            <a:lstStyle/>
            <a:p>
              <a:r>
                <a:rPr lang="fr-FR" sz="1400" dirty="0"/>
                <a:t>BDD</a:t>
              </a:r>
              <a:endParaRPr lang="fr-FR" dirty="0"/>
            </a:p>
          </p:txBody>
        </p:sp>
      </p:grpSp>
      <p:cxnSp>
        <p:nvCxnSpPr>
          <p:cNvPr id="23" name="Connecteur droit avec flèche 22">
            <a:extLst>
              <a:ext uri="{FF2B5EF4-FFF2-40B4-BE49-F238E27FC236}">
                <a16:creationId xmlns:a16="http://schemas.microsoft.com/office/drawing/2014/main" id="{B626ED1D-9CF5-5609-2DDC-63EAD17B2A8C}"/>
              </a:ext>
            </a:extLst>
          </p:cNvPr>
          <p:cNvCxnSpPr>
            <a:stCxn id="14" idx="2"/>
            <a:endCxn id="15" idx="0"/>
          </p:cNvCxnSpPr>
          <p:nvPr/>
        </p:nvCxnSpPr>
        <p:spPr>
          <a:xfrm>
            <a:off x="1740662" y="2883024"/>
            <a:ext cx="547717" cy="10864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ZoneTexte 23">
            <a:extLst>
              <a:ext uri="{FF2B5EF4-FFF2-40B4-BE49-F238E27FC236}">
                <a16:creationId xmlns:a16="http://schemas.microsoft.com/office/drawing/2014/main" id="{3DCED8DD-C26D-9FCD-5284-D75E2D85D2F9}"/>
              </a:ext>
            </a:extLst>
          </p:cNvPr>
          <p:cNvSpPr txBox="1"/>
          <p:nvPr/>
        </p:nvSpPr>
        <p:spPr>
          <a:xfrm>
            <a:off x="2064510" y="2826276"/>
            <a:ext cx="1281173" cy="646331"/>
          </a:xfrm>
          <a:prstGeom prst="rect">
            <a:avLst/>
          </a:prstGeom>
          <a:noFill/>
        </p:spPr>
        <p:txBody>
          <a:bodyPr wrap="square" rtlCol="0">
            <a:spAutoFit/>
          </a:bodyPr>
          <a:lstStyle/>
          <a:p>
            <a:r>
              <a:rPr lang="fr-FR" sz="1200" dirty="0"/>
              <a:t>Envoie d’une requête par un utilisateur</a:t>
            </a:r>
          </a:p>
        </p:txBody>
      </p:sp>
      <p:sp>
        <p:nvSpPr>
          <p:cNvPr id="25" name="ZoneTexte 24">
            <a:extLst>
              <a:ext uri="{FF2B5EF4-FFF2-40B4-BE49-F238E27FC236}">
                <a16:creationId xmlns:a16="http://schemas.microsoft.com/office/drawing/2014/main" id="{4F4CCB44-1C75-A2B6-7F66-435C1D14D1EC}"/>
              </a:ext>
            </a:extLst>
          </p:cNvPr>
          <p:cNvSpPr txBox="1"/>
          <p:nvPr/>
        </p:nvSpPr>
        <p:spPr>
          <a:xfrm>
            <a:off x="1707325" y="4828812"/>
            <a:ext cx="1162050" cy="276999"/>
          </a:xfrm>
          <a:prstGeom prst="rect">
            <a:avLst/>
          </a:prstGeom>
          <a:noFill/>
        </p:spPr>
        <p:txBody>
          <a:bodyPr wrap="square" rtlCol="0">
            <a:spAutoFit/>
          </a:bodyPr>
          <a:lstStyle/>
          <a:p>
            <a:r>
              <a:rPr lang="fr-FR" sz="1200" dirty="0"/>
              <a:t>DTO &lt;-&gt; </a:t>
            </a:r>
            <a:r>
              <a:rPr lang="fr-FR" sz="1200" dirty="0" err="1"/>
              <a:t>Entity</a:t>
            </a:r>
            <a:endParaRPr lang="fr-FR" sz="1200" dirty="0"/>
          </a:p>
        </p:txBody>
      </p:sp>
      <p:cxnSp>
        <p:nvCxnSpPr>
          <p:cNvPr id="27" name="Connecteur droit avec flèche 26">
            <a:extLst>
              <a:ext uri="{FF2B5EF4-FFF2-40B4-BE49-F238E27FC236}">
                <a16:creationId xmlns:a16="http://schemas.microsoft.com/office/drawing/2014/main" id="{E217D185-13AE-F263-ECA3-8F0CC36B6D69}"/>
              </a:ext>
            </a:extLst>
          </p:cNvPr>
          <p:cNvCxnSpPr>
            <a:cxnSpLocks/>
          </p:cNvCxnSpPr>
          <p:nvPr/>
        </p:nvCxnSpPr>
        <p:spPr>
          <a:xfrm>
            <a:off x="3121816" y="4544517"/>
            <a:ext cx="1162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ZoneTexte 27">
            <a:extLst>
              <a:ext uri="{FF2B5EF4-FFF2-40B4-BE49-F238E27FC236}">
                <a16:creationId xmlns:a16="http://schemas.microsoft.com/office/drawing/2014/main" id="{12B15C48-DE17-F22F-F386-F5291E01BC7D}"/>
              </a:ext>
            </a:extLst>
          </p:cNvPr>
          <p:cNvSpPr txBox="1"/>
          <p:nvPr/>
        </p:nvSpPr>
        <p:spPr>
          <a:xfrm>
            <a:off x="3369466" y="4560196"/>
            <a:ext cx="690533" cy="276999"/>
          </a:xfrm>
          <a:prstGeom prst="rect">
            <a:avLst/>
          </a:prstGeom>
          <a:noFill/>
        </p:spPr>
        <p:txBody>
          <a:bodyPr wrap="square" rtlCol="0">
            <a:spAutoFit/>
          </a:bodyPr>
          <a:lstStyle/>
          <a:p>
            <a:r>
              <a:rPr lang="fr-FR" sz="1200" dirty="0" err="1"/>
              <a:t>entity</a:t>
            </a:r>
            <a:endParaRPr lang="fr-FR" sz="1400" dirty="0"/>
          </a:p>
        </p:txBody>
      </p:sp>
      <p:cxnSp>
        <p:nvCxnSpPr>
          <p:cNvPr id="30" name="Connecteur droit avec flèche 29">
            <a:extLst>
              <a:ext uri="{FF2B5EF4-FFF2-40B4-BE49-F238E27FC236}">
                <a16:creationId xmlns:a16="http://schemas.microsoft.com/office/drawing/2014/main" id="{212390B6-ADC5-C401-0507-6D2CC7421BB1}"/>
              </a:ext>
            </a:extLst>
          </p:cNvPr>
          <p:cNvCxnSpPr>
            <a:cxnSpLocks/>
          </p:cNvCxnSpPr>
          <p:nvPr/>
        </p:nvCxnSpPr>
        <p:spPr>
          <a:xfrm>
            <a:off x="5950741" y="4560196"/>
            <a:ext cx="14382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ZoneTexte 31">
            <a:extLst>
              <a:ext uri="{FF2B5EF4-FFF2-40B4-BE49-F238E27FC236}">
                <a16:creationId xmlns:a16="http://schemas.microsoft.com/office/drawing/2014/main" id="{4E8BF277-DD18-C18C-EE45-3831E1DD4F75}"/>
              </a:ext>
            </a:extLst>
          </p:cNvPr>
          <p:cNvSpPr txBox="1"/>
          <p:nvPr/>
        </p:nvSpPr>
        <p:spPr>
          <a:xfrm>
            <a:off x="6396511" y="4618619"/>
            <a:ext cx="690533" cy="276999"/>
          </a:xfrm>
          <a:prstGeom prst="rect">
            <a:avLst/>
          </a:prstGeom>
          <a:noFill/>
        </p:spPr>
        <p:txBody>
          <a:bodyPr wrap="square" rtlCol="0">
            <a:spAutoFit/>
          </a:bodyPr>
          <a:lstStyle/>
          <a:p>
            <a:r>
              <a:rPr lang="fr-FR" sz="1200" dirty="0" err="1"/>
              <a:t>entity</a:t>
            </a:r>
            <a:endParaRPr lang="fr-FR" sz="1400" dirty="0"/>
          </a:p>
        </p:txBody>
      </p:sp>
      <p:cxnSp>
        <p:nvCxnSpPr>
          <p:cNvPr id="34" name="Connecteur droit avec flèche 33">
            <a:extLst>
              <a:ext uri="{FF2B5EF4-FFF2-40B4-BE49-F238E27FC236}">
                <a16:creationId xmlns:a16="http://schemas.microsoft.com/office/drawing/2014/main" id="{C5A66A36-02E6-4303-A864-490124C5AAE6}"/>
              </a:ext>
            </a:extLst>
          </p:cNvPr>
          <p:cNvCxnSpPr>
            <a:cxnSpLocks/>
            <a:stCxn id="19" idx="3"/>
          </p:cNvCxnSpPr>
          <p:nvPr/>
        </p:nvCxnSpPr>
        <p:spPr>
          <a:xfrm flipV="1">
            <a:off x="9055891" y="3391058"/>
            <a:ext cx="1204819" cy="9722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AB1FDBA1-B8B9-C6D2-185F-F917EC48CD91}"/>
              </a:ext>
            </a:extLst>
          </p:cNvPr>
          <p:cNvSpPr txBox="1"/>
          <p:nvPr/>
        </p:nvSpPr>
        <p:spPr>
          <a:xfrm>
            <a:off x="9424982" y="3976903"/>
            <a:ext cx="690533" cy="276999"/>
          </a:xfrm>
          <a:prstGeom prst="rect">
            <a:avLst/>
          </a:prstGeom>
          <a:noFill/>
        </p:spPr>
        <p:txBody>
          <a:bodyPr wrap="square" rtlCol="0">
            <a:spAutoFit/>
          </a:bodyPr>
          <a:lstStyle/>
          <a:p>
            <a:r>
              <a:rPr lang="fr-FR" sz="1200" dirty="0" err="1"/>
              <a:t>entity</a:t>
            </a:r>
            <a:endParaRPr lang="fr-FR" sz="1400" dirty="0"/>
          </a:p>
        </p:txBody>
      </p:sp>
      <p:cxnSp>
        <p:nvCxnSpPr>
          <p:cNvPr id="38" name="Connecteur droit avec flèche 37">
            <a:extLst>
              <a:ext uri="{FF2B5EF4-FFF2-40B4-BE49-F238E27FC236}">
                <a16:creationId xmlns:a16="http://schemas.microsoft.com/office/drawing/2014/main" id="{ED8BC572-A38F-7790-AE5A-4C8DA119D5A0}"/>
              </a:ext>
            </a:extLst>
          </p:cNvPr>
          <p:cNvCxnSpPr/>
          <p:nvPr/>
        </p:nvCxnSpPr>
        <p:spPr>
          <a:xfrm flipH="1" flipV="1">
            <a:off x="1454941" y="2826276"/>
            <a:ext cx="252384" cy="10902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ZoneTexte 38">
            <a:extLst>
              <a:ext uri="{FF2B5EF4-FFF2-40B4-BE49-F238E27FC236}">
                <a16:creationId xmlns:a16="http://schemas.microsoft.com/office/drawing/2014/main" id="{8E205635-C84A-E212-594A-D234728BD15A}"/>
              </a:ext>
            </a:extLst>
          </p:cNvPr>
          <p:cNvSpPr txBox="1"/>
          <p:nvPr/>
        </p:nvSpPr>
        <p:spPr>
          <a:xfrm>
            <a:off x="807241" y="3165938"/>
            <a:ext cx="942946" cy="461665"/>
          </a:xfrm>
          <a:prstGeom prst="rect">
            <a:avLst/>
          </a:prstGeom>
          <a:noFill/>
        </p:spPr>
        <p:txBody>
          <a:bodyPr wrap="square" rtlCol="0">
            <a:spAutoFit/>
          </a:bodyPr>
          <a:lstStyle/>
          <a:p>
            <a:r>
              <a:rPr lang="fr-FR" sz="1200" dirty="0"/>
              <a:t>Réponse HTTP</a:t>
            </a:r>
          </a:p>
        </p:txBody>
      </p:sp>
      <p:cxnSp>
        <p:nvCxnSpPr>
          <p:cNvPr id="42" name="Connecteur droit avec flèche 41">
            <a:extLst>
              <a:ext uri="{FF2B5EF4-FFF2-40B4-BE49-F238E27FC236}">
                <a16:creationId xmlns:a16="http://schemas.microsoft.com/office/drawing/2014/main" id="{DEFF90E4-F6B1-5844-CC6B-0B21BECE2987}"/>
              </a:ext>
            </a:extLst>
          </p:cNvPr>
          <p:cNvCxnSpPr>
            <a:cxnSpLocks/>
          </p:cNvCxnSpPr>
          <p:nvPr/>
        </p:nvCxnSpPr>
        <p:spPr>
          <a:xfrm flipH="1">
            <a:off x="8953482" y="2997213"/>
            <a:ext cx="1159713" cy="9443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onnecteur droit avec flèche 43">
            <a:extLst>
              <a:ext uri="{FF2B5EF4-FFF2-40B4-BE49-F238E27FC236}">
                <a16:creationId xmlns:a16="http://schemas.microsoft.com/office/drawing/2014/main" id="{9EE8A7C3-5E3B-1135-D76D-C2F7DCFDD64B}"/>
              </a:ext>
            </a:extLst>
          </p:cNvPr>
          <p:cNvCxnSpPr>
            <a:cxnSpLocks/>
          </p:cNvCxnSpPr>
          <p:nvPr/>
        </p:nvCxnSpPr>
        <p:spPr>
          <a:xfrm flipH="1">
            <a:off x="5950741" y="4253902"/>
            <a:ext cx="14382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5786D0D8-59A0-261C-9447-AB8352921D5B}"/>
              </a:ext>
            </a:extLst>
          </p:cNvPr>
          <p:cNvCxnSpPr>
            <a:cxnSpLocks/>
          </p:cNvCxnSpPr>
          <p:nvPr/>
        </p:nvCxnSpPr>
        <p:spPr>
          <a:xfrm flipH="1">
            <a:off x="3133707" y="4238172"/>
            <a:ext cx="1162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1730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C4EDD-A931-53BC-3C2C-57A13BC66B3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E844508-2CD1-2E7C-8ED9-8A0E51BA0664}"/>
              </a:ext>
            </a:extLst>
          </p:cNvPr>
          <p:cNvSpPr/>
          <p:nvPr/>
        </p:nvSpPr>
        <p:spPr>
          <a:xfrm>
            <a:off x="0" y="0"/>
            <a:ext cx="12191695" cy="68580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C4D6933-4152-5A3F-7755-32DF103308E2}"/>
              </a:ext>
            </a:extLst>
          </p:cNvPr>
          <p:cNvSpPr txBox="1"/>
          <p:nvPr/>
        </p:nvSpPr>
        <p:spPr>
          <a:xfrm>
            <a:off x="1752447" y="2859613"/>
            <a:ext cx="8686800" cy="1138773"/>
          </a:xfrm>
          <a:prstGeom prst="rect">
            <a:avLst/>
          </a:prstGeom>
          <a:noFill/>
        </p:spPr>
        <p:txBody>
          <a:bodyPr wrap="square">
            <a:spAutoFit/>
          </a:bodyPr>
          <a:lstStyle/>
          <a:p>
            <a:pPr algn="ctr">
              <a:defRPr sz="3400" b="1">
                <a:solidFill>
                  <a:srgbClr val="FFFFFF"/>
                </a:solidFill>
                <a:latin typeface="Aptos"/>
              </a:defRPr>
            </a:pPr>
            <a:r>
              <a:rPr lang="fr-FR" dirty="0"/>
              <a:t>Les différents éléments qui constituent l’application</a:t>
            </a:r>
            <a:endParaRPr dirty="0"/>
          </a:p>
        </p:txBody>
      </p:sp>
      <p:sp>
        <p:nvSpPr>
          <p:cNvPr id="7" name="Espace réservé du numéro de diapositive 6">
            <a:extLst>
              <a:ext uri="{FF2B5EF4-FFF2-40B4-BE49-F238E27FC236}">
                <a16:creationId xmlns:a16="http://schemas.microsoft.com/office/drawing/2014/main" id="{2C076269-9BAC-A6DA-2EDC-A4C92DC72FD4}"/>
              </a:ext>
            </a:extLst>
          </p:cNvPr>
          <p:cNvSpPr>
            <a:spLocks noGrp="1"/>
          </p:cNvSpPr>
          <p:nvPr>
            <p:ph type="sldNum" sz="quarter" idx="12"/>
          </p:nvPr>
        </p:nvSpPr>
        <p:spPr/>
        <p:txBody>
          <a:bodyPr/>
          <a:lstStyle/>
          <a:p>
            <a:fld id="{C1FF6DA9-008F-8B48-92A6-B652298478BF}" type="slidenum">
              <a:rPr lang="en-US" smtClean="0"/>
              <a:t>10</a:t>
            </a:fld>
            <a:endParaRPr lang="en-US"/>
          </a:p>
        </p:txBody>
      </p:sp>
    </p:spTree>
    <p:extLst>
      <p:ext uri="{BB962C8B-B14F-4D97-AF65-F5344CB8AC3E}">
        <p14:creationId xmlns:p14="http://schemas.microsoft.com/office/powerpoint/2010/main" val="1627562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B061E-9A6A-EC2C-9F5C-7789DC0A7D4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562C605-D0A9-9C11-C250-1C4CF01CE820}"/>
              </a:ext>
            </a:extLst>
          </p:cNvPr>
          <p:cNvSpPr/>
          <p:nvPr/>
        </p:nvSpPr>
        <p:spPr>
          <a:xfrm>
            <a:off x="0" y="0"/>
            <a:ext cx="12191695" cy="685800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7D3DB96F-652B-82B0-C1CA-2B688A04C632}"/>
              </a:ext>
            </a:extLst>
          </p:cNvPr>
          <p:cNvSpPr txBox="1"/>
          <p:nvPr/>
        </p:nvSpPr>
        <p:spPr>
          <a:xfrm>
            <a:off x="1752447" y="2859613"/>
            <a:ext cx="8686800" cy="615553"/>
          </a:xfrm>
          <a:prstGeom prst="rect">
            <a:avLst/>
          </a:prstGeom>
          <a:noFill/>
        </p:spPr>
        <p:txBody>
          <a:bodyPr wrap="square">
            <a:spAutoFit/>
          </a:bodyPr>
          <a:lstStyle/>
          <a:p>
            <a:pPr algn="ctr">
              <a:defRPr sz="3400" b="1">
                <a:solidFill>
                  <a:srgbClr val="FFFFFF"/>
                </a:solidFill>
                <a:latin typeface="Aptos"/>
              </a:defRPr>
            </a:pPr>
            <a:r>
              <a:rPr lang="fr-FR" dirty="0"/>
              <a:t>Les Contrôleurs</a:t>
            </a:r>
            <a:endParaRPr dirty="0"/>
          </a:p>
        </p:txBody>
      </p:sp>
      <p:sp>
        <p:nvSpPr>
          <p:cNvPr id="3" name="Espace réservé du numéro de diapositive 2">
            <a:extLst>
              <a:ext uri="{FF2B5EF4-FFF2-40B4-BE49-F238E27FC236}">
                <a16:creationId xmlns:a16="http://schemas.microsoft.com/office/drawing/2014/main" id="{3888989D-FF04-053F-1F7E-DD47C26AC818}"/>
              </a:ext>
            </a:extLst>
          </p:cNvPr>
          <p:cNvSpPr>
            <a:spLocks noGrp="1"/>
          </p:cNvSpPr>
          <p:nvPr>
            <p:ph type="sldNum" sz="quarter" idx="12"/>
          </p:nvPr>
        </p:nvSpPr>
        <p:spPr/>
        <p:txBody>
          <a:bodyPr/>
          <a:lstStyle/>
          <a:p>
            <a:fld id="{C1FF6DA9-008F-8B48-92A6-B652298478BF}" type="slidenum">
              <a:rPr lang="en-US" smtClean="0"/>
              <a:t>11</a:t>
            </a:fld>
            <a:endParaRPr lang="en-US"/>
          </a:p>
        </p:txBody>
      </p:sp>
    </p:spTree>
    <p:extLst>
      <p:ext uri="{BB962C8B-B14F-4D97-AF65-F5344CB8AC3E}">
        <p14:creationId xmlns:p14="http://schemas.microsoft.com/office/powerpoint/2010/main" val="1618472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AA895-4900-4112-1248-455F6FFF39C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6513839-2DAE-B695-2A04-F8B70F66181B}"/>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0C902779-6BDA-B7ED-399E-DC2AFCA9AC6C}"/>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C0F3BD48-0D8C-2438-0C45-1CF1D250CB92}"/>
              </a:ext>
            </a:extLst>
          </p:cNvPr>
          <p:cNvSpPr txBox="1"/>
          <p:nvPr/>
        </p:nvSpPr>
        <p:spPr>
          <a:xfrm>
            <a:off x="502920" y="118872"/>
            <a:ext cx="1518942" cy="492443"/>
          </a:xfrm>
          <a:prstGeom prst="rect">
            <a:avLst/>
          </a:prstGeom>
          <a:noFill/>
        </p:spPr>
        <p:txBody>
          <a:bodyPr wrap="none">
            <a:spAutoFit/>
          </a:bodyPr>
          <a:lstStyle/>
          <a:p>
            <a:pPr>
              <a:defRPr sz="2600" b="1">
                <a:solidFill>
                  <a:srgbClr val="FFFFFF"/>
                </a:solidFill>
                <a:latin typeface="Aptos Display"/>
              </a:defRPr>
            </a:pPr>
            <a:r>
              <a:rPr lang="fr-FR" dirty="0"/>
              <a:t>Structure</a:t>
            </a:r>
            <a:endParaRPr dirty="0"/>
          </a:p>
        </p:txBody>
      </p:sp>
      <p:sp>
        <p:nvSpPr>
          <p:cNvPr id="8" name="TextBox 7">
            <a:extLst>
              <a:ext uri="{FF2B5EF4-FFF2-40B4-BE49-F238E27FC236}">
                <a16:creationId xmlns:a16="http://schemas.microsoft.com/office/drawing/2014/main" id="{9A5A2DF7-9FBB-928C-FCD8-F4CB072D2BAC}"/>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13" name="Espace réservé du numéro de diapositive 12">
            <a:extLst>
              <a:ext uri="{FF2B5EF4-FFF2-40B4-BE49-F238E27FC236}">
                <a16:creationId xmlns:a16="http://schemas.microsoft.com/office/drawing/2014/main" id="{B6A557F9-1CF8-DB61-E24B-564CCDFF3A74}"/>
              </a:ext>
            </a:extLst>
          </p:cNvPr>
          <p:cNvSpPr>
            <a:spLocks noGrp="1"/>
          </p:cNvSpPr>
          <p:nvPr>
            <p:ph type="sldNum" sz="quarter" idx="12"/>
          </p:nvPr>
        </p:nvSpPr>
        <p:spPr/>
        <p:txBody>
          <a:bodyPr/>
          <a:lstStyle/>
          <a:p>
            <a:fld id="{C1FF6DA9-008F-8B48-92A6-B652298478BF}" type="slidenum">
              <a:rPr lang="en-US" smtClean="0"/>
              <a:t>12</a:t>
            </a:fld>
            <a:endParaRPr lang="en-US"/>
          </a:p>
        </p:txBody>
      </p:sp>
      <p:pic>
        <p:nvPicPr>
          <p:cNvPr id="14" name="Image 13">
            <a:extLst>
              <a:ext uri="{FF2B5EF4-FFF2-40B4-BE49-F238E27FC236}">
                <a16:creationId xmlns:a16="http://schemas.microsoft.com/office/drawing/2014/main" id="{385A3418-6662-F1BF-1856-407CB4DF7C70}"/>
              </a:ext>
            </a:extLst>
          </p:cNvPr>
          <p:cNvPicPr>
            <a:picLocks noChangeAspect="1"/>
          </p:cNvPicPr>
          <p:nvPr/>
        </p:nvPicPr>
        <p:blipFill>
          <a:blip r:embed="rId2"/>
          <a:stretch>
            <a:fillRect/>
          </a:stretch>
        </p:blipFill>
        <p:spPr>
          <a:xfrm>
            <a:off x="1192946" y="1736641"/>
            <a:ext cx="1095432" cy="1146383"/>
          </a:xfrm>
          <a:prstGeom prst="rect">
            <a:avLst/>
          </a:prstGeom>
        </p:spPr>
      </p:pic>
      <p:sp>
        <p:nvSpPr>
          <p:cNvPr id="15" name="Rectangle : coins arrondis 14">
            <a:extLst>
              <a:ext uri="{FF2B5EF4-FFF2-40B4-BE49-F238E27FC236}">
                <a16:creationId xmlns:a16="http://schemas.microsoft.com/office/drawing/2014/main" id="{8E458204-6C83-B139-0201-0E4E6678A7BC}"/>
              </a:ext>
            </a:extLst>
          </p:cNvPr>
          <p:cNvSpPr/>
          <p:nvPr/>
        </p:nvSpPr>
        <p:spPr>
          <a:xfrm>
            <a:off x="1454941"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err="1">
                <a:solidFill>
                  <a:schemeClr val="tx1"/>
                </a:solidFill>
              </a:rPr>
              <a:t>Controlleur</a:t>
            </a:r>
            <a:endParaRPr lang="fr-FR" dirty="0">
              <a:solidFill>
                <a:schemeClr val="tx1"/>
              </a:solidFill>
            </a:endParaRPr>
          </a:p>
        </p:txBody>
      </p:sp>
      <p:sp>
        <p:nvSpPr>
          <p:cNvPr id="17" name="Rectangle : coins arrondis 16">
            <a:extLst>
              <a:ext uri="{FF2B5EF4-FFF2-40B4-BE49-F238E27FC236}">
                <a16:creationId xmlns:a16="http://schemas.microsoft.com/office/drawing/2014/main" id="{FD1E2D14-F5B1-ADA5-A82F-05A939608CDA}"/>
              </a:ext>
            </a:extLst>
          </p:cNvPr>
          <p:cNvSpPr/>
          <p:nvPr/>
        </p:nvSpPr>
        <p:spPr>
          <a:xfrm>
            <a:off x="4283866"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solidFill>
                  <a:schemeClr val="tx1"/>
                </a:solidFill>
              </a:rPr>
              <a:t>Service</a:t>
            </a:r>
          </a:p>
        </p:txBody>
      </p:sp>
      <p:sp>
        <p:nvSpPr>
          <p:cNvPr id="19" name="Rectangle : coins arrondis 18">
            <a:extLst>
              <a:ext uri="{FF2B5EF4-FFF2-40B4-BE49-F238E27FC236}">
                <a16:creationId xmlns:a16="http://schemas.microsoft.com/office/drawing/2014/main" id="{CBF75980-E63C-00BD-8BE2-1783D94EF170}"/>
              </a:ext>
            </a:extLst>
          </p:cNvPr>
          <p:cNvSpPr/>
          <p:nvPr/>
        </p:nvSpPr>
        <p:spPr>
          <a:xfrm>
            <a:off x="7389016"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solidFill>
                  <a:schemeClr val="tx1"/>
                </a:solidFill>
              </a:rPr>
              <a:t>Repository</a:t>
            </a:r>
          </a:p>
        </p:txBody>
      </p:sp>
      <p:grpSp>
        <p:nvGrpSpPr>
          <p:cNvPr id="21" name="Groupe 20">
            <a:extLst>
              <a:ext uri="{FF2B5EF4-FFF2-40B4-BE49-F238E27FC236}">
                <a16:creationId xmlns:a16="http://schemas.microsoft.com/office/drawing/2014/main" id="{135B998C-EBED-6B26-6AD3-77CCEC968AD7}"/>
              </a:ext>
            </a:extLst>
          </p:cNvPr>
          <p:cNvGrpSpPr/>
          <p:nvPr/>
        </p:nvGrpSpPr>
        <p:grpSpPr>
          <a:xfrm>
            <a:off x="10003567" y="2207240"/>
            <a:ext cx="1281173" cy="1552639"/>
            <a:chOff x="9634476" y="1876361"/>
            <a:chExt cx="1281173" cy="1552639"/>
          </a:xfrm>
        </p:grpSpPr>
        <p:pic>
          <p:nvPicPr>
            <p:cNvPr id="11" name="Image 10">
              <a:extLst>
                <a:ext uri="{FF2B5EF4-FFF2-40B4-BE49-F238E27FC236}">
                  <a16:creationId xmlns:a16="http://schemas.microsoft.com/office/drawing/2014/main" id="{4928EFED-4C5D-B3E0-3789-C8F6D21ADA45}"/>
                </a:ext>
              </a:extLst>
            </p:cNvPr>
            <p:cNvPicPr>
              <a:picLocks noChangeAspect="1"/>
            </p:cNvPicPr>
            <p:nvPr/>
          </p:nvPicPr>
          <p:blipFill>
            <a:blip r:embed="rId3"/>
            <a:stretch>
              <a:fillRect/>
            </a:stretch>
          </p:blipFill>
          <p:spPr>
            <a:xfrm>
              <a:off x="9634476" y="1876361"/>
              <a:ext cx="1281173" cy="1351568"/>
            </a:xfrm>
            <a:prstGeom prst="rect">
              <a:avLst/>
            </a:prstGeom>
          </p:spPr>
        </p:pic>
        <p:sp>
          <p:nvSpPr>
            <p:cNvPr id="20" name="ZoneTexte 19">
              <a:extLst>
                <a:ext uri="{FF2B5EF4-FFF2-40B4-BE49-F238E27FC236}">
                  <a16:creationId xmlns:a16="http://schemas.microsoft.com/office/drawing/2014/main" id="{7FF77C73-96B7-4CFE-FDBF-FFC5FFF8D1E5}"/>
                </a:ext>
              </a:extLst>
            </p:cNvPr>
            <p:cNvSpPr txBox="1"/>
            <p:nvPr/>
          </p:nvSpPr>
          <p:spPr>
            <a:xfrm>
              <a:off x="10003599" y="3121223"/>
              <a:ext cx="542925" cy="307777"/>
            </a:xfrm>
            <a:prstGeom prst="rect">
              <a:avLst/>
            </a:prstGeom>
            <a:noFill/>
          </p:spPr>
          <p:txBody>
            <a:bodyPr wrap="square" rtlCol="0">
              <a:spAutoFit/>
            </a:bodyPr>
            <a:lstStyle/>
            <a:p>
              <a:r>
                <a:rPr lang="fr-FR" sz="1400" dirty="0"/>
                <a:t>BDD</a:t>
              </a:r>
              <a:endParaRPr lang="fr-FR" dirty="0"/>
            </a:p>
          </p:txBody>
        </p:sp>
      </p:grpSp>
      <p:cxnSp>
        <p:nvCxnSpPr>
          <p:cNvPr id="23" name="Connecteur droit avec flèche 22">
            <a:extLst>
              <a:ext uri="{FF2B5EF4-FFF2-40B4-BE49-F238E27FC236}">
                <a16:creationId xmlns:a16="http://schemas.microsoft.com/office/drawing/2014/main" id="{4F6B96F6-1732-E532-A27E-8139B725D4AC}"/>
              </a:ext>
            </a:extLst>
          </p:cNvPr>
          <p:cNvCxnSpPr>
            <a:stCxn id="14" idx="2"/>
            <a:endCxn id="15" idx="0"/>
          </p:cNvCxnSpPr>
          <p:nvPr/>
        </p:nvCxnSpPr>
        <p:spPr>
          <a:xfrm>
            <a:off x="1740662" y="2883024"/>
            <a:ext cx="547717" cy="10864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ZoneTexte 23">
            <a:extLst>
              <a:ext uri="{FF2B5EF4-FFF2-40B4-BE49-F238E27FC236}">
                <a16:creationId xmlns:a16="http://schemas.microsoft.com/office/drawing/2014/main" id="{458F61DC-314C-4AB1-7937-9B43442C5A65}"/>
              </a:ext>
            </a:extLst>
          </p:cNvPr>
          <p:cNvSpPr txBox="1"/>
          <p:nvPr/>
        </p:nvSpPr>
        <p:spPr>
          <a:xfrm>
            <a:off x="2064510" y="2826276"/>
            <a:ext cx="1281173" cy="646331"/>
          </a:xfrm>
          <a:prstGeom prst="rect">
            <a:avLst/>
          </a:prstGeom>
          <a:noFill/>
        </p:spPr>
        <p:txBody>
          <a:bodyPr wrap="square" rtlCol="0">
            <a:spAutoFit/>
          </a:bodyPr>
          <a:lstStyle/>
          <a:p>
            <a:r>
              <a:rPr lang="fr-FR" sz="1200" dirty="0"/>
              <a:t>Envoie d’une requête par un utilisateur</a:t>
            </a:r>
          </a:p>
        </p:txBody>
      </p:sp>
      <p:sp>
        <p:nvSpPr>
          <p:cNvPr id="25" name="ZoneTexte 24">
            <a:extLst>
              <a:ext uri="{FF2B5EF4-FFF2-40B4-BE49-F238E27FC236}">
                <a16:creationId xmlns:a16="http://schemas.microsoft.com/office/drawing/2014/main" id="{420619E1-82D7-BD52-E6A1-7CC628018BA6}"/>
              </a:ext>
            </a:extLst>
          </p:cNvPr>
          <p:cNvSpPr txBox="1"/>
          <p:nvPr/>
        </p:nvSpPr>
        <p:spPr>
          <a:xfrm>
            <a:off x="1707325" y="4828812"/>
            <a:ext cx="1162050" cy="276999"/>
          </a:xfrm>
          <a:prstGeom prst="rect">
            <a:avLst/>
          </a:prstGeom>
          <a:noFill/>
        </p:spPr>
        <p:txBody>
          <a:bodyPr wrap="square" rtlCol="0">
            <a:spAutoFit/>
          </a:bodyPr>
          <a:lstStyle/>
          <a:p>
            <a:r>
              <a:rPr lang="fr-FR" sz="1200" dirty="0"/>
              <a:t>DTO &lt;-&gt; </a:t>
            </a:r>
            <a:r>
              <a:rPr lang="fr-FR" sz="1200" dirty="0" err="1"/>
              <a:t>Entity</a:t>
            </a:r>
            <a:endParaRPr lang="fr-FR" sz="1200" dirty="0"/>
          </a:p>
        </p:txBody>
      </p:sp>
      <p:cxnSp>
        <p:nvCxnSpPr>
          <p:cNvPr id="27" name="Connecteur droit avec flèche 26">
            <a:extLst>
              <a:ext uri="{FF2B5EF4-FFF2-40B4-BE49-F238E27FC236}">
                <a16:creationId xmlns:a16="http://schemas.microsoft.com/office/drawing/2014/main" id="{4AEEE3C1-6B47-D381-FBAD-8B311B758534}"/>
              </a:ext>
            </a:extLst>
          </p:cNvPr>
          <p:cNvCxnSpPr>
            <a:cxnSpLocks/>
          </p:cNvCxnSpPr>
          <p:nvPr/>
        </p:nvCxnSpPr>
        <p:spPr>
          <a:xfrm>
            <a:off x="3121816" y="4544517"/>
            <a:ext cx="1162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ZoneTexte 27">
            <a:extLst>
              <a:ext uri="{FF2B5EF4-FFF2-40B4-BE49-F238E27FC236}">
                <a16:creationId xmlns:a16="http://schemas.microsoft.com/office/drawing/2014/main" id="{A7F0A56D-789B-4959-5002-CDA5479035B3}"/>
              </a:ext>
            </a:extLst>
          </p:cNvPr>
          <p:cNvSpPr txBox="1"/>
          <p:nvPr/>
        </p:nvSpPr>
        <p:spPr>
          <a:xfrm>
            <a:off x="3369466" y="4560196"/>
            <a:ext cx="690533" cy="276999"/>
          </a:xfrm>
          <a:prstGeom prst="rect">
            <a:avLst/>
          </a:prstGeom>
          <a:noFill/>
        </p:spPr>
        <p:txBody>
          <a:bodyPr wrap="square" rtlCol="0">
            <a:spAutoFit/>
          </a:bodyPr>
          <a:lstStyle/>
          <a:p>
            <a:r>
              <a:rPr lang="fr-FR" sz="1200" dirty="0" err="1"/>
              <a:t>entity</a:t>
            </a:r>
            <a:endParaRPr lang="fr-FR" sz="1400" dirty="0"/>
          </a:p>
        </p:txBody>
      </p:sp>
      <p:cxnSp>
        <p:nvCxnSpPr>
          <p:cNvPr id="30" name="Connecteur droit avec flèche 29">
            <a:extLst>
              <a:ext uri="{FF2B5EF4-FFF2-40B4-BE49-F238E27FC236}">
                <a16:creationId xmlns:a16="http://schemas.microsoft.com/office/drawing/2014/main" id="{950A1C05-9369-7A32-3DB4-109369919C37}"/>
              </a:ext>
            </a:extLst>
          </p:cNvPr>
          <p:cNvCxnSpPr>
            <a:cxnSpLocks/>
          </p:cNvCxnSpPr>
          <p:nvPr/>
        </p:nvCxnSpPr>
        <p:spPr>
          <a:xfrm>
            <a:off x="5950741" y="4560196"/>
            <a:ext cx="14382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ZoneTexte 31">
            <a:extLst>
              <a:ext uri="{FF2B5EF4-FFF2-40B4-BE49-F238E27FC236}">
                <a16:creationId xmlns:a16="http://schemas.microsoft.com/office/drawing/2014/main" id="{622C4F62-4208-9637-BFFF-A7A5EA40187C}"/>
              </a:ext>
            </a:extLst>
          </p:cNvPr>
          <p:cNvSpPr txBox="1"/>
          <p:nvPr/>
        </p:nvSpPr>
        <p:spPr>
          <a:xfrm>
            <a:off x="6396511" y="4618619"/>
            <a:ext cx="690533" cy="276999"/>
          </a:xfrm>
          <a:prstGeom prst="rect">
            <a:avLst/>
          </a:prstGeom>
          <a:noFill/>
        </p:spPr>
        <p:txBody>
          <a:bodyPr wrap="square" rtlCol="0">
            <a:spAutoFit/>
          </a:bodyPr>
          <a:lstStyle/>
          <a:p>
            <a:r>
              <a:rPr lang="fr-FR" sz="1200" dirty="0" err="1"/>
              <a:t>entity</a:t>
            </a:r>
            <a:endParaRPr lang="fr-FR" sz="1400" dirty="0"/>
          </a:p>
        </p:txBody>
      </p:sp>
      <p:cxnSp>
        <p:nvCxnSpPr>
          <p:cNvPr id="34" name="Connecteur droit avec flèche 33">
            <a:extLst>
              <a:ext uri="{FF2B5EF4-FFF2-40B4-BE49-F238E27FC236}">
                <a16:creationId xmlns:a16="http://schemas.microsoft.com/office/drawing/2014/main" id="{112F2B24-84BB-DE1B-2EA3-97DC33727AA7}"/>
              </a:ext>
            </a:extLst>
          </p:cNvPr>
          <p:cNvCxnSpPr>
            <a:cxnSpLocks/>
            <a:stCxn id="19" idx="3"/>
          </p:cNvCxnSpPr>
          <p:nvPr/>
        </p:nvCxnSpPr>
        <p:spPr>
          <a:xfrm flipV="1">
            <a:off x="9055891" y="3391058"/>
            <a:ext cx="1204819" cy="9722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4FE69663-B868-8FC2-3C9C-595BD607DCE0}"/>
              </a:ext>
            </a:extLst>
          </p:cNvPr>
          <p:cNvSpPr txBox="1"/>
          <p:nvPr/>
        </p:nvSpPr>
        <p:spPr>
          <a:xfrm>
            <a:off x="9424982" y="3976903"/>
            <a:ext cx="690533" cy="276999"/>
          </a:xfrm>
          <a:prstGeom prst="rect">
            <a:avLst/>
          </a:prstGeom>
          <a:noFill/>
        </p:spPr>
        <p:txBody>
          <a:bodyPr wrap="square" rtlCol="0">
            <a:spAutoFit/>
          </a:bodyPr>
          <a:lstStyle/>
          <a:p>
            <a:r>
              <a:rPr lang="fr-FR" sz="1200" dirty="0" err="1"/>
              <a:t>entity</a:t>
            </a:r>
            <a:endParaRPr lang="fr-FR" sz="1400" dirty="0"/>
          </a:p>
        </p:txBody>
      </p:sp>
      <p:cxnSp>
        <p:nvCxnSpPr>
          <p:cNvPr id="38" name="Connecteur droit avec flèche 37">
            <a:extLst>
              <a:ext uri="{FF2B5EF4-FFF2-40B4-BE49-F238E27FC236}">
                <a16:creationId xmlns:a16="http://schemas.microsoft.com/office/drawing/2014/main" id="{2A5C5340-8B4C-588A-C49A-5710832B6967}"/>
              </a:ext>
            </a:extLst>
          </p:cNvPr>
          <p:cNvCxnSpPr/>
          <p:nvPr/>
        </p:nvCxnSpPr>
        <p:spPr>
          <a:xfrm flipH="1" flipV="1">
            <a:off x="1454941" y="2826276"/>
            <a:ext cx="252384" cy="10902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ZoneTexte 38">
            <a:extLst>
              <a:ext uri="{FF2B5EF4-FFF2-40B4-BE49-F238E27FC236}">
                <a16:creationId xmlns:a16="http://schemas.microsoft.com/office/drawing/2014/main" id="{BC43810D-FB89-F92B-5F9C-D38C38C369C3}"/>
              </a:ext>
            </a:extLst>
          </p:cNvPr>
          <p:cNvSpPr txBox="1"/>
          <p:nvPr/>
        </p:nvSpPr>
        <p:spPr>
          <a:xfrm>
            <a:off x="807241" y="3165938"/>
            <a:ext cx="942946" cy="461665"/>
          </a:xfrm>
          <a:prstGeom prst="rect">
            <a:avLst/>
          </a:prstGeom>
          <a:noFill/>
        </p:spPr>
        <p:txBody>
          <a:bodyPr wrap="square" rtlCol="0">
            <a:spAutoFit/>
          </a:bodyPr>
          <a:lstStyle/>
          <a:p>
            <a:r>
              <a:rPr lang="fr-FR" sz="1200" dirty="0"/>
              <a:t>Réponse HTTP</a:t>
            </a:r>
          </a:p>
        </p:txBody>
      </p:sp>
      <p:cxnSp>
        <p:nvCxnSpPr>
          <p:cNvPr id="42" name="Connecteur droit avec flèche 41">
            <a:extLst>
              <a:ext uri="{FF2B5EF4-FFF2-40B4-BE49-F238E27FC236}">
                <a16:creationId xmlns:a16="http://schemas.microsoft.com/office/drawing/2014/main" id="{25E7BCDA-DF1D-A137-5FBB-D74D042055DF}"/>
              </a:ext>
            </a:extLst>
          </p:cNvPr>
          <p:cNvCxnSpPr>
            <a:cxnSpLocks/>
          </p:cNvCxnSpPr>
          <p:nvPr/>
        </p:nvCxnSpPr>
        <p:spPr>
          <a:xfrm flipH="1">
            <a:off x="8953482" y="2997213"/>
            <a:ext cx="1159713" cy="9443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onnecteur droit avec flèche 43">
            <a:extLst>
              <a:ext uri="{FF2B5EF4-FFF2-40B4-BE49-F238E27FC236}">
                <a16:creationId xmlns:a16="http://schemas.microsoft.com/office/drawing/2014/main" id="{82153878-D98D-D73D-9BB2-A79543D437CC}"/>
              </a:ext>
            </a:extLst>
          </p:cNvPr>
          <p:cNvCxnSpPr>
            <a:cxnSpLocks/>
          </p:cNvCxnSpPr>
          <p:nvPr/>
        </p:nvCxnSpPr>
        <p:spPr>
          <a:xfrm flipH="1">
            <a:off x="5950741" y="4253902"/>
            <a:ext cx="14382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8FB5AF56-739A-F98C-498A-176D557D568A}"/>
              </a:ext>
            </a:extLst>
          </p:cNvPr>
          <p:cNvCxnSpPr>
            <a:cxnSpLocks/>
          </p:cNvCxnSpPr>
          <p:nvPr/>
        </p:nvCxnSpPr>
        <p:spPr>
          <a:xfrm flipH="1">
            <a:off x="3133707" y="4238172"/>
            <a:ext cx="1162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Ellipse 1">
            <a:extLst>
              <a:ext uri="{FF2B5EF4-FFF2-40B4-BE49-F238E27FC236}">
                <a16:creationId xmlns:a16="http://schemas.microsoft.com/office/drawing/2014/main" id="{5F3A9EF2-2987-ACB3-DF97-7EB1D91E3727}"/>
              </a:ext>
            </a:extLst>
          </p:cNvPr>
          <p:cNvSpPr/>
          <p:nvPr/>
        </p:nvSpPr>
        <p:spPr>
          <a:xfrm>
            <a:off x="419100" y="1533525"/>
            <a:ext cx="3495641" cy="3572286"/>
          </a:xfrm>
          <a:prstGeom prst="ellipse">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5226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 name="Rectangle 2"/>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Rectangle 3"/>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 name="TextBox 4"/>
          <p:cNvSpPr txBox="1"/>
          <p:nvPr/>
        </p:nvSpPr>
        <p:spPr>
          <a:xfrm>
            <a:off x="502920" y="118872"/>
            <a:ext cx="2385205" cy="492443"/>
          </a:xfrm>
          <a:prstGeom prst="rect">
            <a:avLst/>
          </a:prstGeom>
          <a:noFill/>
        </p:spPr>
        <p:txBody>
          <a:bodyPr wrap="none">
            <a:spAutoFit/>
          </a:bodyPr>
          <a:lstStyle/>
          <a:p>
            <a:pPr>
              <a:defRPr sz="2600" b="1">
                <a:solidFill>
                  <a:srgbClr val="FFFFFF"/>
                </a:solidFill>
                <a:latin typeface="Aptos Display"/>
              </a:defRPr>
            </a:pPr>
            <a:r>
              <a:rPr lang="fr-FR" noProof="0" dirty="0"/>
              <a:t>Les contrôleurs</a:t>
            </a:r>
          </a:p>
        </p:txBody>
      </p:sp>
      <p:sp>
        <p:nvSpPr>
          <p:cNvPr id="7" name="TextBox 6"/>
          <p:cNvSpPr txBox="1"/>
          <p:nvPr/>
        </p:nvSpPr>
        <p:spPr>
          <a:xfrm>
            <a:off x="239661" y="1321231"/>
            <a:ext cx="5783580" cy="3785652"/>
          </a:xfrm>
          <a:prstGeom prst="rect">
            <a:avLst/>
          </a:prstGeom>
          <a:noFill/>
        </p:spPr>
        <p:txBody>
          <a:bodyPr wrap="square">
            <a:spAutoFit/>
          </a:bodyPr>
          <a:lstStyle/>
          <a:p>
            <a:pPr algn="just">
              <a:defRPr sz="2000">
                <a:solidFill>
                  <a:srgbClr val="232323"/>
                </a:solidFill>
                <a:latin typeface="Aptos"/>
              </a:defRPr>
            </a:pPr>
            <a:r>
              <a:rPr lang="fr-FR" sz="1600" noProof="0" dirty="0">
                <a:latin typeface="Aptos" panose="020B0004020202020204" pitchFamily="34" charset="0"/>
                <a:cs typeface="Arial" panose="020B0604020202020204" pitchFamily="34" charset="0"/>
              </a:rPr>
              <a:t>Le contrôleur va recevoir différents appels du </a:t>
            </a:r>
            <a:r>
              <a:rPr lang="fr-FR" sz="1600" noProof="0" dirty="0" err="1">
                <a:latin typeface="Aptos" panose="020B0004020202020204" pitchFamily="34" charset="0"/>
                <a:cs typeface="Arial" panose="020B0604020202020204" pitchFamily="34" charset="0"/>
              </a:rPr>
              <a:t>front-end</a:t>
            </a:r>
            <a:r>
              <a:rPr lang="fr-FR" sz="1600" noProof="0" dirty="0">
                <a:latin typeface="Aptos" panose="020B0004020202020204" pitchFamily="34" charset="0"/>
                <a:cs typeface="Arial" panose="020B0604020202020204" pitchFamily="34" charset="0"/>
              </a:rPr>
              <a:t> afin de faire diverses actions sur les données. Les plus connus sont : </a:t>
            </a:r>
          </a:p>
          <a:p>
            <a:pPr algn="just">
              <a:defRPr sz="2000">
                <a:solidFill>
                  <a:srgbClr val="232323"/>
                </a:solidFill>
                <a:latin typeface="Aptos"/>
              </a:defRPr>
            </a:pPr>
            <a:r>
              <a:rPr lang="fr-FR" sz="1600" b="1" noProof="0" dirty="0">
                <a:latin typeface="Aptos" panose="020B0004020202020204" pitchFamily="34" charset="0"/>
              </a:rPr>
              <a:t>GET</a:t>
            </a:r>
            <a:r>
              <a:rPr lang="fr-FR" sz="1600" noProof="0" dirty="0">
                <a:latin typeface="Aptos" panose="020B0004020202020204" pitchFamily="34" charset="0"/>
              </a:rPr>
              <a:t> : récupérer une ressource</a:t>
            </a:r>
          </a:p>
          <a:p>
            <a:pPr algn="just">
              <a:defRPr sz="2000">
                <a:solidFill>
                  <a:srgbClr val="232323"/>
                </a:solidFill>
                <a:latin typeface="Aptos"/>
              </a:defRPr>
            </a:pPr>
            <a:r>
              <a:rPr lang="fr-FR" sz="1600" b="1" noProof="0" dirty="0">
                <a:latin typeface="Aptos" panose="020B0004020202020204" pitchFamily="34" charset="0"/>
              </a:rPr>
              <a:t>POST</a:t>
            </a:r>
            <a:r>
              <a:rPr lang="fr-FR" sz="1600" noProof="0" dirty="0">
                <a:latin typeface="Aptos" panose="020B0004020202020204" pitchFamily="34" charset="0"/>
              </a:rPr>
              <a:t> : créer une ressource</a:t>
            </a:r>
          </a:p>
          <a:p>
            <a:pPr algn="just">
              <a:defRPr sz="2000">
                <a:solidFill>
                  <a:srgbClr val="232323"/>
                </a:solidFill>
                <a:latin typeface="Aptos"/>
              </a:defRPr>
            </a:pPr>
            <a:r>
              <a:rPr lang="fr-FR" sz="1600" b="1" noProof="0" dirty="0">
                <a:latin typeface="Aptos" panose="020B0004020202020204" pitchFamily="34" charset="0"/>
              </a:rPr>
              <a:t>PUT</a:t>
            </a:r>
            <a:r>
              <a:rPr lang="fr-FR" sz="1600" noProof="0" dirty="0">
                <a:latin typeface="Aptos" panose="020B0004020202020204" pitchFamily="34" charset="0"/>
              </a:rPr>
              <a:t> : modifier une ressource</a:t>
            </a:r>
          </a:p>
          <a:p>
            <a:pPr algn="just">
              <a:defRPr sz="2000">
                <a:solidFill>
                  <a:srgbClr val="232323"/>
                </a:solidFill>
                <a:latin typeface="Aptos"/>
              </a:defRPr>
            </a:pPr>
            <a:r>
              <a:rPr lang="fr-FR" sz="1600" b="1" noProof="0" dirty="0">
                <a:latin typeface="Aptos" panose="020B0004020202020204" pitchFamily="34" charset="0"/>
              </a:rPr>
              <a:t>DELETE</a:t>
            </a:r>
            <a:r>
              <a:rPr lang="fr-FR" sz="1600" noProof="0" dirty="0">
                <a:latin typeface="Aptos" panose="020B0004020202020204" pitchFamily="34" charset="0"/>
              </a:rPr>
              <a:t> : supprimer une ressource</a:t>
            </a:r>
          </a:p>
          <a:p>
            <a:pPr algn="just">
              <a:defRPr sz="2000">
                <a:solidFill>
                  <a:srgbClr val="232323"/>
                </a:solidFill>
                <a:latin typeface="Aptos"/>
              </a:defRPr>
            </a:pPr>
            <a:endParaRPr lang="fr-FR" sz="1600" noProof="0" dirty="0">
              <a:latin typeface="Aptos" panose="020B0004020202020204" pitchFamily="34" charset="0"/>
            </a:endParaRPr>
          </a:p>
          <a:p>
            <a:pPr algn="just">
              <a:defRPr sz="2000">
                <a:solidFill>
                  <a:srgbClr val="232323"/>
                </a:solidFill>
                <a:latin typeface="Aptos"/>
              </a:defRPr>
            </a:pPr>
            <a:r>
              <a:rPr lang="fr-FR" sz="1600" noProof="0" dirty="0">
                <a:latin typeface="Aptos" panose="020B0004020202020204" pitchFamily="34" charset="0"/>
              </a:rPr>
              <a:t>Afin de communiquer avec le front pour dire si l’action s’est bien passée ou non il va envoyer un code HTTP par exemple : </a:t>
            </a:r>
          </a:p>
          <a:p>
            <a:pPr algn="just">
              <a:defRPr sz="2000">
                <a:solidFill>
                  <a:srgbClr val="232323"/>
                </a:solidFill>
                <a:latin typeface="Aptos"/>
              </a:defRPr>
            </a:pPr>
            <a:r>
              <a:rPr lang="fr-FR" sz="1600" noProof="0" dirty="0">
                <a:latin typeface="Aptos" panose="020B0004020202020204" pitchFamily="34" charset="0"/>
              </a:rPr>
              <a:t>200 </a:t>
            </a:r>
            <a:r>
              <a:rPr lang="fr-FR" sz="1600" noProof="0" dirty="0">
                <a:solidFill>
                  <a:srgbClr val="00B050"/>
                </a:solidFill>
                <a:latin typeface="Aptos" panose="020B0004020202020204" pitchFamily="34" charset="0"/>
              </a:rPr>
              <a:t>OK</a:t>
            </a:r>
            <a:r>
              <a:rPr lang="fr-FR" sz="1600" noProof="0" dirty="0">
                <a:latin typeface="Aptos" panose="020B0004020202020204" pitchFamily="34" charset="0"/>
              </a:rPr>
              <a:t> : requête réussie</a:t>
            </a:r>
          </a:p>
          <a:p>
            <a:pPr algn="just">
              <a:defRPr sz="2000">
                <a:solidFill>
                  <a:srgbClr val="232323"/>
                </a:solidFill>
                <a:latin typeface="Aptos"/>
              </a:defRPr>
            </a:pPr>
            <a:r>
              <a:rPr lang="fr-FR" sz="1600" noProof="0" dirty="0">
                <a:latin typeface="Aptos" panose="020B0004020202020204" pitchFamily="34" charset="0"/>
              </a:rPr>
              <a:t>201 </a:t>
            </a:r>
            <a:r>
              <a:rPr lang="fr-FR" sz="1600" noProof="0" dirty="0" err="1">
                <a:solidFill>
                  <a:srgbClr val="00B050"/>
                </a:solidFill>
                <a:latin typeface="Aptos" panose="020B0004020202020204" pitchFamily="34" charset="0"/>
              </a:rPr>
              <a:t>Created</a:t>
            </a:r>
            <a:r>
              <a:rPr lang="fr-FR" sz="1600" noProof="0" dirty="0">
                <a:latin typeface="Aptos" panose="020B0004020202020204" pitchFamily="34" charset="0"/>
              </a:rPr>
              <a:t> : ressource créée</a:t>
            </a:r>
          </a:p>
          <a:p>
            <a:pPr algn="just">
              <a:defRPr sz="2000">
                <a:solidFill>
                  <a:srgbClr val="232323"/>
                </a:solidFill>
                <a:latin typeface="Aptos"/>
              </a:defRPr>
            </a:pPr>
            <a:r>
              <a:rPr lang="fr-FR" sz="1600" noProof="0" dirty="0">
                <a:latin typeface="Aptos" panose="020B0004020202020204" pitchFamily="34" charset="0"/>
              </a:rPr>
              <a:t>404 </a:t>
            </a:r>
            <a:r>
              <a:rPr lang="fr-FR" sz="1600" noProof="0" dirty="0">
                <a:solidFill>
                  <a:srgbClr val="FF0000"/>
                </a:solidFill>
                <a:latin typeface="Aptos" panose="020B0004020202020204" pitchFamily="34" charset="0"/>
              </a:rPr>
              <a:t>Not Found </a:t>
            </a:r>
            <a:r>
              <a:rPr lang="fr-FR" sz="1600" noProof="0" dirty="0">
                <a:latin typeface="Aptos" panose="020B0004020202020204" pitchFamily="34" charset="0"/>
              </a:rPr>
              <a:t>: ressource introuvable</a:t>
            </a:r>
          </a:p>
          <a:p>
            <a:pPr algn="just">
              <a:defRPr sz="2000">
                <a:solidFill>
                  <a:srgbClr val="232323"/>
                </a:solidFill>
                <a:latin typeface="Aptos"/>
              </a:defRPr>
            </a:pPr>
            <a:r>
              <a:rPr lang="fr-FR" sz="1600" noProof="0" dirty="0">
                <a:latin typeface="Aptos" panose="020B0004020202020204" pitchFamily="34" charset="0"/>
              </a:rPr>
              <a:t>500 </a:t>
            </a:r>
            <a:r>
              <a:rPr lang="fr-FR" sz="1600" noProof="0" dirty="0" err="1">
                <a:solidFill>
                  <a:srgbClr val="FF0000"/>
                </a:solidFill>
                <a:latin typeface="Aptos" panose="020B0004020202020204" pitchFamily="34" charset="0"/>
              </a:rPr>
              <a:t>Internal</a:t>
            </a:r>
            <a:r>
              <a:rPr lang="fr-FR" sz="1600" noProof="0" dirty="0">
                <a:solidFill>
                  <a:srgbClr val="FF0000"/>
                </a:solidFill>
                <a:latin typeface="Aptos" panose="020B0004020202020204" pitchFamily="34" charset="0"/>
              </a:rPr>
              <a:t> Server Error </a:t>
            </a:r>
            <a:r>
              <a:rPr lang="fr-FR" sz="1600" noProof="0" dirty="0">
                <a:latin typeface="Aptos" panose="020B0004020202020204" pitchFamily="34" charset="0"/>
              </a:rPr>
              <a:t>: erreur serveur</a:t>
            </a:r>
          </a:p>
          <a:p>
            <a:pPr algn="just">
              <a:defRPr sz="2000">
                <a:solidFill>
                  <a:srgbClr val="232323"/>
                </a:solidFill>
                <a:latin typeface="Aptos"/>
              </a:defRPr>
            </a:pPr>
            <a:endParaRPr lang="fr-FR" sz="1600" dirty="0">
              <a:latin typeface="Aptos" panose="020B0004020202020204" pitchFamily="34" charset="0"/>
            </a:endParaRPr>
          </a:p>
          <a:p>
            <a:pPr algn="just">
              <a:defRPr sz="2000">
                <a:solidFill>
                  <a:srgbClr val="232323"/>
                </a:solidFill>
                <a:latin typeface="Aptos"/>
              </a:defRPr>
            </a:pPr>
            <a:r>
              <a:rPr lang="fr-FR" sz="1600" noProof="0" dirty="0">
                <a:latin typeface="Aptos" panose="020B0004020202020204" pitchFamily="34" charset="0"/>
              </a:rPr>
              <a:t>Il en existe de nombreux autre</a:t>
            </a:r>
          </a:p>
        </p:txBody>
      </p:sp>
      <p:sp>
        <p:nvSpPr>
          <p:cNvPr id="8" name="TextBox 7"/>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rPr lang="fr-FR" noProof="0" dirty="0"/>
              <a:t>Cours Spring Boot — Java 17/21 — Spring Boot 3</a:t>
            </a:r>
          </a:p>
        </p:txBody>
      </p:sp>
      <p:pic>
        <p:nvPicPr>
          <p:cNvPr id="14" name="Image 13">
            <a:extLst>
              <a:ext uri="{FF2B5EF4-FFF2-40B4-BE49-F238E27FC236}">
                <a16:creationId xmlns:a16="http://schemas.microsoft.com/office/drawing/2014/main" id="{873C28AF-890E-023F-64D2-B79D69313054}"/>
              </a:ext>
            </a:extLst>
          </p:cNvPr>
          <p:cNvPicPr>
            <a:picLocks noChangeAspect="1"/>
          </p:cNvPicPr>
          <p:nvPr/>
        </p:nvPicPr>
        <p:blipFill>
          <a:blip r:embed="rId2"/>
          <a:srcRect/>
          <a:stretch/>
        </p:blipFill>
        <p:spPr>
          <a:xfrm>
            <a:off x="6528583" y="1738261"/>
            <a:ext cx="5276425" cy="3731700"/>
          </a:xfrm>
          <a:prstGeom prst="rect">
            <a:avLst/>
          </a:prstGeom>
        </p:spPr>
      </p:pic>
      <p:sp>
        <p:nvSpPr>
          <p:cNvPr id="15" name="Espace réservé du numéro de diapositive 14">
            <a:extLst>
              <a:ext uri="{FF2B5EF4-FFF2-40B4-BE49-F238E27FC236}">
                <a16:creationId xmlns:a16="http://schemas.microsoft.com/office/drawing/2014/main" id="{9D67264E-EB84-1460-9658-E131CD591667}"/>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1D2D3-0923-3DE9-2CDA-95C96EB552E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0A1092-1E6B-FAC0-3200-BEDCE50AB676}"/>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AB355444-F2EF-A229-5F8F-2411E1C12463}"/>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91A5905D-E6E3-A99C-5EF4-F9FA73C9D1AE}"/>
              </a:ext>
            </a:extLst>
          </p:cNvPr>
          <p:cNvSpPr txBox="1"/>
          <p:nvPr/>
        </p:nvSpPr>
        <p:spPr>
          <a:xfrm>
            <a:off x="502920" y="118872"/>
            <a:ext cx="2064668" cy="492443"/>
          </a:xfrm>
          <a:prstGeom prst="rect">
            <a:avLst/>
          </a:prstGeom>
          <a:noFill/>
        </p:spPr>
        <p:txBody>
          <a:bodyPr wrap="none">
            <a:spAutoFit/>
          </a:bodyPr>
          <a:lstStyle/>
          <a:p>
            <a:pPr>
              <a:defRPr sz="2600" b="1">
                <a:solidFill>
                  <a:srgbClr val="FFFFFF"/>
                </a:solidFill>
                <a:latin typeface="Aptos Display"/>
              </a:defRPr>
            </a:pPr>
            <a:r>
              <a:rPr lang="fr-FR" dirty="0"/>
              <a:t>Le contrôleur</a:t>
            </a:r>
            <a:endParaRPr dirty="0"/>
          </a:p>
        </p:txBody>
      </p:sp>
      <p:sp>
        <p:nvSpPr>
          <p:cNvPr id="7" name="TextBox 6">
            <a:extLst>
              <a:ext uri="{FF2B5EF4-FFF2-40B4-BE49-F238E27FC236}">
                <a16:creationId xmlns:a16="http://schemas.microsoft.com/office/drawing/2014/main" id="{5489A381-CB78-3F13-DBEA-17DCD70F2030}"/>
              </a:ext>
            </a:extLst>
          </p:cNvPr>
          <p:cNvSpPr txBox="1"/>
          <p:nvPr/>
        </p:nvSpPr>
        <p:spPr>
          <a:xfrm>
            <a:off x="239661" y="2205472"/>
            <a:ext cx="5783580" cy="2769989"/>
          </a:xfrm>
          <a:prstGeom prst="rect">
            <a:avLst/>
          </a:prstGeom>
          <a:noFill/>
        </p:spPr>
        <p:txBody>
          <a:bodyPr wrap="square">
            <a:spAutoFit/>
          </a:bodyPr>
          <a:lstStyle/>
          <a:p>
            <a:pPr algn="just">
              <a:spcAft>
                <a:spcPts val="1200"/>
              </a:spcAft>
              <a:defRPr sz="2000">
                <a:solidFill>
                  <a:srgbClr val="232323"/>
                </a:solidFill>
                <a:latin typeface="Aptos"/>
              </a:defRPr>
            </a:pPr>
            <a:r>
              <a:rPr lang="fr-FR" sz="1600" dirty="0"/>
              <a:t>Les annotations permettent de déclarer le rôle des classes et des méthodes. Spring les détecte ensuite pour configurer automatiquement une partie de l’application. Cela ce passe par tous les @Annotations</a:t>
            </a:r>
          </a:p>
          <a:p>
            <a:pPr algn="just">
              <a:spcAft>
                <a:spcPts val="1200"/>
              </a:spcAft>
              <a:defRPr sz="2000">
                <a:solidFill>
                  <a:srgbClr val="232323"/>
                </a:solidFill>
                <a:latin typeface="Aptos"/>
              </a:defRPr>
            </a:pPr>
            <a:r>
              <a:rPr lang="fr-FR" sz="1600" dirty="0"/>
              <a:t>Par exemple pour un </a:t>
            </a:r>
            <a:r>
              <a:rPr lang="fr-FR" sz="1600" dirty="0" err="1"/>
              <a:t>controlleur</a:t>
            </a:r>
            <a:r>
              <a:rPr lang="fr-FR" sz="1600" dirty="0"/>
              <a:t> : </a:t>
            </a:r>
            <a:r>
              <a:rPr lang="fr-FR" sz="1600" b="1" dirty="0"/>
              <a:t>@RestController</a:t>
            </a:r>
          </a:p>
          <a:p>
            <a:pPr algn="just">
              <a:spcAft>
                <a:spcPts val="1200"/>
              </a:spcAft>
              <a:defRPr sz="2000">
                <a:solidFill>
                  <a:srgbClr val="232323"/>
                </a:solidFill>
                <a:latin typeface="Aptos"/>
              </a:defRPr>
            </a:pPr>
            <a:r>
              <a:rPr lang="fr-FR" sz="1600" dirty="0"/>
              <a:t>Ensuite pour savoir sur quel </a:t>
            </a:r>
            <a:r>
              <a:rPr lang="fr-FR" sz="1600" dirty="0" err="1"/>
              <a:t>endpoint</a:t>
            </a:r>
            <a:r>
              <a:rPr lang="fr-FR" sz="1600" dirty="0"/>
              <a:t> il doit être connecté (le lien qui sera donner au front end) on </a:t>
            </a:r>
            <a:r>
              <a:rPr lang="fr-FR" sz="1600" dirty="0" err="1"/>
              <a:t>precise</a:t>
            </a:r>
            <a:r>
              <a:rPr lang="fr-FR" sz="1600" dirty="0"/>
              <a:t> le chemin </a:t>
            </a:r>
            <a:r>
              <a:rPr lang="fr-FR" sz="1600" dirty="0" err="1"/>
              <a:t>generique</a:t>
            </a:r>
            <a:r>
              <a:rPr lang="fr-FR" sz="1600" dirty="0"/>
              <a:t> via </a:t>
            </a:r>
            <a:r>
              <a:rPr lang="fr-FR" sz="1600" b="1" dirty="0"/>
              <a:t>@RequestMapping(« /chemin »)</a:t>
            </a:r>
            <a:r>
              <a:rPr lang="fr-FR" sz="1600" dirty="0"/>
              <a:t>. </a:t>
            </a:r>
          </a:p>
          <a:p>
            <a:pPr>
              <a:spcAft>
                <a:spcPts val="1200"/>
              </a:spcAft>
              <a:defRPr sz="2000">
                <a:solidFill>
                  <a:srgbClr val="232323"/>
                </a:solidFill>
                <a:latin typeface="Aptos"/>
              </a:defRPr>
            </a:pPr>
            <a:endParaRPr lang="fr-FR" sz="1600" dirty="0"/>
          </a:p>
        </p:txBody>
      </p:sp>
      <p:sp>
        <p:nvSpPr>
          <p:cNvPr id="8" name="TextBox 7">
            <a:extLst>
              <a:ext uri="{FF2B5EF4-FFF2-40B4-BE49-F238E27FC236}">
                <a16:creationId xmlns:a16="http://schemas.microsoft.com/office/drawing/2014/main" id="{BD4D93D1-7035-ABCA-9ED7-A89AD0BBD8E8}"/>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pic>
        <p:nvPicPr>
          <p:cNvPr id="14" name="Image 13">
            <a:extLst>
              <a:ext uri="{FF2B5EF4-FFF2-40B4-BE49-F238E27FC236}">
                <a16:creationId xmlns:a16="http://schemas.microsoft.com/office/drawing/2014/main" id="{51F47131-2091-14D0-986C-4511BC9EC97D}"/>
              </a:ext>
            </a:extLst>
          </p:cNvPr>
          <p:cNvPicPr>
            <a:picLocks noChangeAspect="1"/>
          </p:cNvPicPr>
          <p:nvPr/>
        </p:nvPicPr>
        <p:blipFill>
          <a:blip r:embed="rId2"/>
          <a:srcRect/>
          <a:stretch/>
        </p:blipFill>
        <p:spPr>
          <a:xfrm>
            <a:off x="6262902" y="1549704"/>
            <a:ext cx="5807787" cy="4108814"/>
          </a:xfrm>
          <a:prstGeom prst="rect">
            <a:avLst/>
          </a:prstGeom>
        </p:spPr>
      </p:pic>
      <p:sp>
        <p:nvSpPr>
          <p:cNvPr id="15" name="Espace réservé du numéro de diapositive 14">
            <a:extLst>
              <a:ext uri="{FF2B5EF4-FFF2-40B4-BE49-F238E27FC236}">
                <a16:creationId xmlns:a16="http://schemas.microsoft.com/office/drawing/2014/main" id="{53C67D2B-D75B-933E-49EC-261D522C4CBB}"/>
              </a:ext>
            </a:extLst>
          </p:cNvPr>
          <p:cNvSpPr>
            <a:spLocks noGrp="1"/>
          </p:cNvSpPr>
          <p:nvPr>
            <p:ph type="sldNum" sz="quarter" idx="12"/>
          </p:nvPr>
        </p:nvSpPr>
        <p:spPr/>
        <p:txBody>
          <a:bodyPr/>
          <a:lstStyle/>
          <a:p>
            <a:fld id="{C1FF6DA9-008F-8B48-92A6-B652298478BF}" type="slidenum">
              <a:rPr lang="en-US" smtClean="0"/>
              <a:t>14</a:t>
            </a:fld>
            <a:endParaRPr lang="en-US"/>
          </a:p>
        </p:txBody>
      </p:sp>
    </p:spTree>
    <p:extLst>
      <p:ext uri="{BB962C8B-B14F-4D97-AF65-F5344CB8AC3E}">
        <p14:creationId xmlns:p14="http://schemas.microsoft.com/office/powerpoint/2010/main" val="2056533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B5A09-3068-F29A-F9AF-B0EC2E89C61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5D68291-D330-6ECA-1E82-5295D1D0F90F}"/>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7D78AC8F-11FE-6C88-A9AC-46306A905C31}"/>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D7240EC-FAB1-7F99-054A-9A9E9060DC55}"/>
              </a:ext>
            </a:extLst>
          </p:cNvPr>
          <p:cNvSpPr txBox="1"/>
          <p:nvPr/>
        </p:nvSpPr>
        <p:spPr>
          <a:xfrm>
            <a:off x="502920" y="118872"/>
            <a:ext cx="2064668" cy="492443"/>
          </a:xfrm>
          <a:prstGeom prst="rect">
            <a:avLst/>
          </a:prstGeom>
          <a:noFill/>
        </p:spPr>
        <p:txBody>
          <a:bodyPr wrap="none">
            <a:spAutoFit/>
          </a:bodyPr>
          <a:lstStyle/>
          <a:p>
            <a:pPr>
              <a:defRPr sz="2600" b="1">
                <a:solidFill>
                  <a:srgbClr val="FFFFFF"/>
                </a:solidFill>
                <a:latin typeface="Aptos Display"/>
              </a:defRPr>
            </a:pPr>
            <a:r>
              <a:rPr lang="fr-FR" dirty="0"/>
              <a:t>Le contrôleur</a:t>
            </a:r>
            <a:endParaRPr dirty="0"/>
          </a:p>
        </p:txBody>
      </p:sp>
      <p:sp>
        <p:nvSpPr>
          <p:cNvPr id="7" name="TextBox 6">
            <a:extLst>
              <a:ext uri="{FF2B5EF4-FFF2-40B4-BE49-F238E27FC236}">
                <a16:creationId xmlns:a16="http://schemas.microsoft.com/office/drawing/2014/main" id="{FCE676E8-5191-1CC7-BAA2-A6C200A464E7}"/>
              </a:ext>
            </a:extLst>
          </p:cNvPr>
          <p:cNvSpPr txBox="1"/>
          <p:nvPr/>
        </p:nvSpPr>
        <p:spPr>
          <a:xfrm>
            <a:off x="205740" y="1290619"/>
            <a:ext cx="5783580" cy="5016758"/>
          </a:xfrm>
          <a:prstGeom prst="rect">
            <a:avLst/>
          </a:prstGeom>
          <a:noFill/>
        </p:spPr>
        <p:txBody>
          <a:bodyPr wrap="square">
            <a:spAutoFit/>
          </a:bodyPr>
          <a:lstStyle/>
          <a:p>
            <a:pPr algn="just">
              <a:defRPr sz="2000">
                <a:solidFill>
                  <a:srgbClr val="232323"/>
                </a:solidFill>
                <a:latin typeface="Aptos"/>
              </a:defRPr>
            </a:pPr>
            <a:r>
              <a:rPr lang="fr-FR" sz="1600" dirty="0"/>
              <a:t>Les différentes opérations CRUD (</a:t>
            </a:r>
            <a:r>
              <a:rPr lang="fr-FR" sz="1600" dirty="0" err="1"/>
              <a:t>create</a:t>
            </a:r>
            <a:r>
              <a:rPr lang="fr-FR" sz="1600" dirty="0"/>
              <a:t>, </a:t>
            </a:r>
            <a:r>
              <a:rPr lang="fr-FR" sz="1600" dirty="0" err="1"/>
              <a:t>read</a:t>
            </a:r>
            <a:r>
              <a:rPr lang="fr-FR" sz="1600" dirty="0"/>
              <a:t>, update, </a:t>
            </a:r>
            <a:r>
              <a:rPr lang="fr-FR" sz="1600" dirty="0" err="1"/>
              <a:t>delete</a:t>
            </a:r>
            <a:r>
              <a:rPr lang="fr-FR" sz="1600" dirty="0"/>
              <a:t>) : </a:t>
            </a:r>
          </a:p>
          <a:p>
            <a:pPr algn="just">
              <a:defRPr sz="2000">
                <a:solidFill>
                  <a:srgbClr val="232323"/>
                </a:solidFill>
                <a:latin typeface="Aptos"/>
              </a:defRPr>
            </a:pPr>
            <a:r>
              <a:rPr lang="fr-FR" sz="1600" b="1" dirty="0" err="1">
                <a:solidFill>
                  <a:schemeClr val="accent2">
                    <a:lumMod val="75000"/>
                  </a:schemeClr>
                </a:solidFill>
              </a:rPr>
              <a:t>Get</a:t>
            </a:r>
            <a:r>
              <a:rPr lang="fr-FR" sz="1600" dirty="0"/>
              <a:t> : </a:t>
            </a:r>
            <a:r>
              <a:rPr lang="fr-FR" sz="1600" b="1" dirty="0"/>
              <a:t>@GetMapping(« /lien ») </a:t>
            </a:r>
            <a:r>
              <a:rPr lang="fr-FR" sz="1600" dirty="0">
                <a:sym typeface="Wingdings" panose="05000000000000000000" pitchFamily="2" charset="2"/>
              </a:rPr>
              <a:t> ici le lien n’est pas obligatoire, si pas préciser on récupère celui du </a:t>
            </a:r>
            <a:r>
              <a:rPr lang="fr-FR" sz="1600" dirty="0"/>
              <a:t>@RequestMapping. Cependant si on doit faire plusieurs </a:t>
            </a:r>
            <a:r>
              <a:rPr lang="fr-FR" sz="1600" dirty="0" err="1"/>
              <a:t>Get</a:t>
            </a:r>
            <a:r>
              <a:rPr lang="fr-FR" sz="1600" dirty="0"/>
              <a:t> il faudra donner des liens différents, celui préciser au </a:t>
            </a:r>
            <a:r>
              <a:rPr lang="fr-FR" sz="1600" dirty="0" err="1"/>
              <a:t>get</a:t>
            </a:r>
            <a:r>
              <a:rPr lang="fr-FR" sz="1600" dirty="0"/>
              <a:t> vient s’ajouter à la suite du générique</a:t>
            </a:r>
          </a:p>
          <a:p>
            <a:pPr algn="just">
              <a:defRPr sz="2000">
                <a:solidFill>
                  <a:srgbClr val="232323"/>
                </a:solidFill>
                <a:latin typeface="Aptos"/>
              </a:defRPr>
            </a:pPr>
            <a:r>
              <a:rPr lang="fr-FR" sz="1600" b="1" dirty="0">
                <a:solidFill>
                  <a:schemeClr val="accent2">
                    <a:lumMod val="75000"/>
                  </a:schemeClr>
                </a:solidFill>
              </a:rPr>
              <a:t>Post</a:t>
            </a:r>
            <a:r>
              <a:rPr lang="fr-FR" sz="1600" dirty="0"/>
              <a:t> : </a:t>
            </a:r>
            <a:r>
              <a:rPr lang="fr-FR" sz="1600" b="1" dirty="0"/>
              <a:t>@PostMapping(« /lien ») </a:t>
            </a:r>
          </a:p>
          <a:p>
            <a:pPr algn="just">
              <a:defRPr sz="2000">
                <a:solidFill>
                  <a:srgbClr val="232323"/>
                </a:solidFill>
                <a:latin typeface="Aptos"/>
              </a:defRPr>
            </a:pPr>
            <a:r>
              <a:rPr lang="fr-FR" sz="1600" b="1" dirty="0">
                <a:solidFill>
                  <a:schemeClr val="accent2">
                    <a:lumMod val="75000"/>
                  </a:schemeClr>
                </a:solidFill>
              </a:rPr>
              <a:t>Put</a:t>
            </a:r>
            <a:r>
              <a:rPr lang="fr-FR" sz="1600" dirty="0"/>
              <a:t> : </a:t>
            </a:r>
            <a:r>
              <a:rPr lang="fr-FR" sz="1600" b="1" dirty="0"/>
              <a:t>@PutMapping(« /lien »)</a:t>
            </a:r>
          </a:p>
          <a:p>
            <a:pPr algn="just">
              <a:defRPr sz="2000">
                <a:solidFill>
                  <a:srgbClr val="232323"/>
                </a:solidFill>
                <a:latin typeface="Aptos"/>
              </a:defRPr>
            </a:pPr>
            <a:r>
              <a:rPr lang="fr-FR" sz="1600" b="1" dirty="0" err="1">
                <a:solidFill>
                  <a:schemeClr val="accent2">
                    <a:lumMod val="75000"/>
                  </a:schemeClr>
                </a:solidFill>
              </a:rPr>
              <a:t>Delete</a:t>
            </a:r>
            <a:r>
              <a:rPr lang="fr-FR" sz="1600" dirty="0"/>
              <a:t> : </a:t>
            </a:r>
            <a:r>
              <a:rPr lang="fr-FR" sz="1600" b="1" dirty="0"/>
              <a:t>@DeleteMapping(« /lien »)</a:t>
            </a:r>
          </a:p>
          <a:p>
            <a:pPr algn="just">
              <a:defRPr sz="2000">
                <a:solidFill>
                  <a:srgbClr val="232323"/>
                </a:solidFill>
                <a:latin typeface="Aptos"/>
              </a:defRPr>
            </a:pPr>
            <a:endParaRPr lang="fr-FR" sz="1600" dirty="0"/>
          </a:p>
          <a:p>
            <a:pPr algn="just">
              <a:defRPr sz="2000">
                <a:solidFill>
                  <a:srgbClr val="232323"/>
                </a:solidFill>
                <a:latin typeface="Aptos"/>
              </a:defRPr>
            </a:pPr>
            <a:r>
              <a:rPr lang="fr-FR" sz="1600" dirty="0"/>
              <a:t>Il est aussi possible de mettre </a:t>
            </a:r>
            <a:r>
              <a:rPr lang="fr-FR" sz="1600" b="1" dirty="0"/>
              <a:t>un chemin qui varie en fonction d’un paramètre</a:t>
            </a:r>
            <a:r>
              <a:rPr lang="fr-FR" sz="1600" dirty="0"/>
              <a:t>. Par exemple pour faire un </a:t>
            </a:r>
            <a:r>
              <a:rPr lang="fr-FR" sz="1600" dirty="0" err="1"/>
              <a:t>findById</a:t>
            </a:r>
            <a:r>
              <a:rPr lang="fr-FR" sz="1600" dirty="0"/>
              <a:t>, le front risque de vouloir appeler un </a:t>
            </a:r>
            <a:r>
              <a:rPr lang="fr-FR" sz="1600" dirty="0" err="1"/>
              <a:t>endpoint</a:t>
            </a:r>
            <a:r>
              <a:rPr lang="fr-FR" sz="1600" dirty="0"/>
              <a:t> en fonction de </a:t>
            </a:r>
            <a:r>
              <a:rPr lang="fr-FR" sz="1600" dirty="0" err="1"/>
              <a:t>l’id</a:t>
            </a:r>
            <a:r>
              <a:rPr lang="fr-FR" sz="1600" dirty="0"/>
              <a:t> de l’objet. Pour ca : @GetMapping("/{id}") et surtout les variables de la méthode doit être : </a:t>
            </a:r>
            <a:r>
              <a:rPr lang="fr-FR" sz="1600" dirty="0" err="1"/>
              <a:t>findById</a:t>
            </a:r>
            <a:r>
              <a:rPr lang="fr-FR" sz="1600" dirty="0"/>
              <a:t>(</a:t>
            </a:r>
            <a:r>
              <a:rPr lang="fr-FR" sz="1600" b="1" dirty="0"/>
              <a:t>@PathVariable </a:t>
            </a:r>
            <a:r>
              <a:rPr lang="fr-FR" sz="1600" dirty="0"/>
              <a:t>Long id)</a:t>
            </a:r>
          </a:p>
          <a:p>
            <a:pPr algn="just">
              <a:defRPr sz="2000">
                <a:solidFill>
                  <a:srgbClr val="232323"/>
                </a:solidFill>
                <a:latin typeface="Aptos"/>
              </a:defRPr>
            </a:pPr>
            <a:endParaRPr lang="fr-FR" sz="1600" dirty="0"/>
          </a:p>
          <a:p>
            <a:pPr algn="just">
              <a:defRPr sz="2000">
                <a:solidFill>
                  <a:srgbClr val="232323"/>
                </a:solidFill>
                <a:latin typeface="Aptos"/>
              </a:defRPr>
            </a:pPr>
            <a:r>
              <a:rPr lang="fr-FR" sz="1600" dirty="0"/>
              <a:t>Le </a:t>
            </a:r>
            <a:r>
              <a:rPr lang="fr-FR" sz="1600" b="1" dirty="0"/>
              <a:t>@RequestBody </a:t>
            </a:r>
            <a:r>
              <a:rPr lang="fr-FR" sz="1600" dirty="0"/>
              <a:t>de l’exemple permet de préciser qu’il est obligatoire de passer un objet au backend. En pratique, on évite d’utiliser </a:t>
            </a:r>
            <a:r>
              <a:rPr lang="fr-FR" sz="1600" b="1" dirty="0"/>
              <a:t>@RequestBody</a:t>
            </a:r>
            <a:r>
              <a:rPr lang="fr-FR" sz="1600" dirty="0"/>
              <a:t> avec une requête GET. On utilise plutôt </a:t>
            </a:r>
            <a:r>
              <a:rPr lang="fr-FR" sz="1600" b="1" dirty="0"/>
              <a:t>@RequestParam</a:t>
            </a:r>
            <a:r>
              <a:rPr lang="fr-FR" sz="1600" dirty="0"/>
              <a:t> ou </a:t>
            </a:r>
            <a:r>
              <a:rPr lang="fr-FR" sz="1600" b="1" dirty="0"/>
              <a:t>@PathVariable</a:t>
            </a:r>
            <a:r>
              <a:rPr lang="fr-FR" sz="1600" dirty="0"/>
              <a:t>.</a:t>
            </a:r>
          </a:p>
        </p:txBody>
      </p:sp>
      <p:sp>
        <p:nvSpPr>
          <p:cNvPr id="8" name="TextBox 7">
            <a:extLst>
              <a:ext uri="{FF2B5EF4-FFF2-40B4-BE49-F238E27FC236}">
                <a16:creationId xmlns:a16="http://schemas.microsoft.com/office/drawing/2014/main" id="{4DF490BC-8462-0FB3-232E-31BA79DAD7D4}"/>
              </a:ext>
            </a:extLst>
          </p:cNvPr>
          <p:cNvSpPr txBox="1"/>
          <p:nvPr/>
        </p:nvSpPr>
        <p:spPr>
          <a:xfrm>
            <a:off x="502920" y="6601968"/>
            <a:ext cx="10972800" cy="182880"/>
          </a:xfrm>
          <a:prstGeom prst="rect">
            <a:avLst/>
          </a:prstGeom>
          <a:noFill/>
        </p:spPr>
        <p:txBody>
          <a:bodyPr wrap="none">
            <a:spAutoFit/>
          </a:bodyPr>
          <a:lstStyle/>
          <a:p>
            <a:pPr>
              <a:defRPr sz="900">
                <a:solidFill>
                  <a:srgbClr val="646E78"/>
                </a:solidFill>
                <a:latin typeface="Aptos"/>
              </a:defRPr>
            </a:pPr>
            <a:r>
              <a:rPr dirty="0"/>
              <a:t>Cours Spring Boot — Java 17/21 — Spring Boot 3</a:t>
            </a:r>
          </a:p>
        </p:txBody>
      </p:sp>
      <p:pic>
        <p:nvPicPr>
          <p:cNvPr id="9" name="Image 8">
            <a:extLst>
              <a:ext uri="{FF2B5EF4-FFF2-40B4-BE49-F238E27FC236}">
                <a16:creationId xmlns:a16="http://schemas.microsoft.com/office/drawing/2014/main" id="{73BFA333-9550-87B0-1545-5234F0B725DB}"/>
              </a:ext>
            </a:extLst>
          </p:cNvPr>
          <p:cNvPicPr>
            <a:picLocks noChangeAspect="1"/>
          </p:cNvPicPr>
          <p:nvPr/>
        </p:nvPicPr>
        <p:blipFill>
          <a:blip r:embed="rId2"/>
          <a:srcRect/>
          <a:stretch/>
        </p:blipFill>
        <p:spPr>
          <a:xfrm>
            <a:off x="6262902" y="1549704"/>
            <a:ext cx="5807787" cy="4108814"/>
          </a:xfrm>
          <a:prstGeom prst="rect">
            <a:avLst/>
          </a:prstGeom>
        </p:spPr>
      </p:pic>
      <p:sp>
        <p:nvSpPr>
          <p:cNvPr id="11" name="Espace réservé du numéro de diapositive 10">
            <a:extLst>
              <a:ext uri="{FF2B5EF4-FFF2-40B4-BE49-F238E27FC236}">
                <a16:creationId xmlns:a16="http://schemas.microsoft.com/office/drawing/2014/main" id="{46409F68-9D31-6CF3-515D-5AB2ED82F945}"/>
              </a:ext>
            </a:extLst>
          </p:cNvPr>
          <p:cNvSpPr>
            <a:spLocks noGrp="1"/>
          </p:cNvSpPr>
          <p:nvPr>
            <p:ph type="sldNum" sz="quarter" idx="12"/>
          </p:nvPr>
        </p:nvSpPr>
        <p:spPr/>
        <p:txBody>
          <a:bodyPr/>
          <a:lstStyle/>
          <a:p>
            <a:fld id="{C1FF6DA9-008F-8B48-92A6-B652298478BF}" type="slidenum">
              <a:rPr lang="en-US" smtClean="0"/>
              <a:t>15</a:t>
            </a:fld>
            <a:endParaRPr lang="en-US"/>
          </a:p>
        </p:txBody>
      </p:sp>
    </p:spTree>
    <p:extLst>
      <p:ext uri="{BB962C8B-B14F-4D97-AF65-F5344CB8AC3E}">
        <p14:creationId xmlns:p14="http://schemas.microsoft.com/office/powerpoint/2010/main" val="3419026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A298A-4781-CD88-4425-718E6FB7539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5F97B95-B96E-BEFD-F791-D7E107AF3E73}"/>
              </a:ext>
            </a:extLst>
          </p:cNvPr>
          <p:cNvSpPr/>
          <p:nvPr/>
        </p:nvSpPr>
        <p:spPr>
          <a:xfrm>
            <a:off x="0" y="0"/>
            <a:ext cx="12191695" cy="685800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954C5FD-75F6-DED9-12E5-BCA25A771158}"/>
              </a:ext>
            </a:extLst>
          </p:cNvPr>
          <p:cNvSpPr txBox="1"/>
          <p:nvPr/>
        </p:nvSpPr>
        <p:spPr>
          <a:xfrm>
            <a:off x="1752447" y="2859613"/>
            <a:ext cx="8686800" cy="615553"/>
          </a:xfrm>
          <a:prstGeom prst="rect">
            <a:avLst/>
          </a:prstGeom>
          <a:noFill/>
        </p:spPr>
        <p:txBody>
          <a:bodyPr wrap="square">
            <a:spAutoFit/>
          </a:bodyPr>
          <a:lstStyle/>
          <a:p>
            <a:pPr algn="ctr">
              <a:defRPr sz="3400" b="1">
                <a:solidFill>
                  <a:srgbClr val="FFFFFF"/>
                </a:solidFill>
                <a:latin typeface="Aptos"/>
              </a:defRPr>
            </a:pPr>
            <a:r>
              <a:rPr lang="fr-FR" dirty="0"/>
              <a:t>Les Services</a:t>
            </a:r>
            <a:endParaRPr dirty="0"/>
          </a:p>
        </p:txBody>
      </p:sp>
      <p:sp>
        <p:nvSpPr>
          <p:cNvPr id="3" name="Espace réservé du numéro de diapositive 2">
            <a:extLst>
              <a:ext uri="{FF2B5EF4-FFF2-40B4-BE49-F238E27FC236}">
                <a16:creationId xmlns:a16="http://schemas.microsoft.com/office/drawing/2014/main" id="{6D577BCC-ED11-F026-C614-347DC2A5FC07}"/>
              </a:ext>
            </a:extLst>
          </p:cNvPr>
          <p:cNvSpPr>
            <a:spLocks noGrp="1"/>
          </p:cNvSpPr>
          <p:nvPr>
            <p:ph type="sldNum" sz="quarter" idx="12"/>
          </p:nvPr>
        </p:nvSpPr>
        <p:spPr/>
        <p:txBody>
          <a:bodyPr/>
          <a:lstStyle/>
          <a:p>
            <a:fld id="{C1FF6DA9-008F-8B48-92A6-B652298478BF}" type="slidenum">
              <a:rPr lang="en-US" smtClean="0"/>
              <a:t>16</a:t>
            </a:fld>
            <a:endParaRPr lang="en-US"/>
          </a:p>
        </p:txBody>
      </p:sp>
    </p:spTree>
    <p:extLst>
      <p:ext uri="{BB962C8B-B14F-4D97-AF65-F5344CB8AC3E}">
        <p14:creationId xmlns:p14="http://schemas.microsoft.com/office/powerpoint/2010/main" val="3681699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34885-D42F-3991-9123-0879BDAAF65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36A79DE-CD1E-BAAD-5BAD-46ED1D88DD4C}"/>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B2E43DCF-7EA8-20B7-3D20-57425B9D8B29}"/>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4C01144D-C827-6E30-1355-3F38620720FD}"/>
              </a:ext>
            </a:extLst>
          </p:cNvPr>
          <p:cNvSpPr txBox="1"/>
          <p:nvPr/>
        </p:nvSpPr>
        <p:spPr>
          <a:xfrm>
            <a:off x="502920" y="118872"/>
            <a:ext cx="1518942" cy="492443"/>
          </a:xfrm>
          <a:prstGeom prst="rect">
            <a:avLst/>
          </a:prstGeom>
          <a:noFill/>
        </p:spPr>
        <p:txBody>
          <a:bodyPr wrap="none">
            <a:spAutoFit/>
          </a:bodyPr>
          <a:lstStyle/>
          <a:p>
            <a:pPr>
              <a:defRPr sz="2600" b="1">
                <a:solidFill>
                  <a:srgbClr val="FFFFFF"/>
                </a:solidFill>
                <a:latin typeface="Aptos Display"/>
              </a:defRPr>
            </a:pPr>
            <a:r>
              <a:rPr lang="fr-FR" dirty="0"/>
              <a:t>Structure</a:t>
            </a:r>
            <a:endParaRPr dirty="0"/>
          </a:p>
        </p:txBody>
      </p:sp>
      <p:sp>
        <p:nvSpPr>
          <p:cNvPr id="8" name="TextBox 7">
            <a:extLst>
              <a:ext uri="{FF2B5EF4-FFF2-40B4-BE49-F238E27FC236}">
                <a16:creationId xmlns:a16="http://schemas.microsoft.com/office/drawing/2014/main" id="{8DC48518-F36D-F5EE-C733-93FBEC7B43C7}"/>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13" name="Espace réservé du numéro de diapositive 12">
            <a:extLst>
              <a:ext uri="{FF2B5EF4-FFF2-40B4-BE49-F238E27FC236}">
                <a16:creationId xmlns:a16="http://schemas.microsoft.com/office/drawing/2014/main" id="{25AB24C0-062E-4DDE-1271-C11DB9710AB9}"/>
              </a:ext>
            </a:extLst>
          </p:cNvPr>
          <p:cNvSpPr>
            <a:spLocks noGrp="1"/>
          </p:cNvSpPr>
          <p:nvPr>
            <p:ph type="sldNum" sz="quarter" idx="12"/>
          </p:nvPr>
        </p:nvSpPr>
        <p:spPr/>
        <p:txBody>
          <a:bodyPr/>
          <a:lstStyle/>
          <a:p>
            <a:fld id="{C1FF6DA9-008F-8B48-92A6-B652298478BF}" type="slidenum">
              <a:rPr lang="en-US" smtClean="0"/>
              <a:t>17</a:t>
            </a:fld>
            <a:endParaRPr lang="en-US"/>
          </a:p>
        </p:txBody>
      </p:sp>
      <p:pic>
        <p:nvPicPr>
          <p:cNvPr id="14" name="Image 13">
            <a:extLst>
              <a:ext uri="{FF2B5EF4-FFF2-40B4-BE49-F238E27FC236}">
                <a16:creationId xmlns:a16="http://schemas.microsoft.com/office/drawing/2014/main" id="{E718121A-93F4-717D-A03F-388B98B70AC1}"/>
              </a:ext>
            </a:extLst>
          </p:cNvPr>
          <p:cNvPicPr>
            <a:picLocks noChangeAspect="1"/>
          </p:cNvPicPr>
          <p:nvPr/>
        </p:nvPicPr>
        <p:blipFill>
          <a:blip r:embed="rId2"/>
          <a:stretch>
            <a:fillRect/>
          </a:stretch>
        </p:blipFill>
        <p:spPr>
          <a:xfrm>
            <a:off x="1192946" y="1736641"/>
            <a:ext cx="1095432" cy="1146383"/>
          </a:xfrm>
          <a:prstGeom prst="rect">
            <a:avLst/>
          </a:prstGeom>
        </p:spPr>
      </p:pic>
      <p:sp>
        <p:nvSpPr>
          <p:cNvPr id="15" name="Rectangle : coins arrondis 14">
            <a:extLst>
              <a:ext uri="{FF2B5EF4-FFF2-40B4-BE49-F238E27FC236}">
                <a16:creationId xmlns:a16="http://schemas.microsoft.com/office/drawing/2014/main" id="{B95680DB-D57A-82F1-637C-7FE45D39C781}"/>
              </a:ext>
            </a:extLst>
          </p:cNvPr>
          <p:cNvSpPr/>
          <p:nvPr/>
        </p:nvSpPr>
        <p:spPr>
          <a:xfrm>
            <a:off x="1454941"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err="1">
                <a:solidFill>
                  <a:schemeClr val="tx1"/>
                </a:solidFill>
              </a:rPr>
              <a:t>Controlleur</a:t>
            </a:r>
            <a:endParaRPr lang="fr-FR" dirty="0">
              <a:solidFill>
                <a:schemeClr val="tx1"/>
              </a:solidFill>
            </a:endParaRPr>
          </a:p>
        </p:txBody>
      </p:sp>
      <p:sp>
        <p:nvSpPr>
          <p:cNvPr id="17" name="Rectangle : coins arrondis 16">
            <a:extLst>
              <a:ext uri="{FF2B5EF4-FFF2-40B4-BE49-F238E27FC236}">
                <a16:creationId xmlns:a16="http://schemas.microsoft.com/office/drawing/2014/main" id="{D0DD0D48-878E-8933-C84E-CDC80E37C592}"/>
              </a:ext>
            </a:extLst>
          </p:cNvPr>
          <p:cNvSpPr/>
          <p:nvPr/>
        </p:nvSpPr>
        <p:spPr>
          <a:xfrm>
            <a:off x="4283866"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solidFill>
                  <a:schemeClr val="tx1"/>
                </a:solidFill>
              </a:rPr>
              <a:t>Service</a:t>
            </a:r>
          </a:p>
        </p:txBody>
      </p:sp>
      <p:sp>
        <p:nvSpPr>
          <p:cNvPr id="19" name="Rectangle : coins arrondis 18">
            <a:extLst>
              <a:ext uri="{FF2B5EF4-FFF2-40B4-BE49-F238E27FC236}">
                <a16:creationId xmlns:a16="http://schemas.microsoft.com/office/drawing/2014/main" id="{624CEC0E-5435-6355-8ABA-C161DB397D9E}"/>
              </a:ext>
            </a:extLst>
          </p:cNvPr>
          <p:cNvSpPr/>
          <p:nvPr/>
        </p:nvSpPr>
        <p:spPr>
          <a:xfrm>
            <a:off x="7389016"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solidFill>
                  <a:schemeClr val="tx1"/>
                </a:solidFill>
              </a:rPr>
              <a:t>Repository</a:t>
            </a:r>
          </a:p>
        </p:txBody>
      </p:sp>
      <p:grpSp>
        <p:nvGrpSpPr>
          <p:cNvPr id="21" name="Groupe 20">
            <a:extLst>
              <a:ext uri="{FF2B5EF4-FFF2-40B4-BE49-F238E27FC236}">
                <a16:creationId xmlns:a16="http://schemas.microsoft.com/office/drawing/2014/main" id="{C4F746B7-35C1-46CB-0788-5C3CE418E4B2}"/>
              </a:ext>
            </a:extLst>
          </p:cNvPr>
          <p:cNvGrpSpPr/>
          <p:nvPr/>
        </p:nvGrpSpPr>
        <p:grpSpPr>
          <a:xfrm>
            <a:off x="10003567" y="2207240"/>
            <a:ext cx="1281173" cy="1552639"/>
            <a:chOff x="9634476" y="1876361"/>
            <a:chExt cx="1281173" cy="1552639"/>
          </a:xfrm>
        </p:grpSpPr>
        <p:pic>
          <p:nvPicPr>
            <p:cNvPr id="11" name="Image 10">
              <a:extLst>
                <a:ext uri="{FF2B5EF4-FFF2-40B4-BE49-F238E27FC236}">
                  <a16:creationId xmlns:a16="http://schemas.microsoft.com/office/drawing/2014/main" id="{A2FE40CE-9F14-FA4D-2DC7-3AD9B658E4B0}"/>
                </a:ext>
              </a:extLst>
            </p:cNvPr>
            <p:cNvPicPr>
              <a:picLocks noChangeAspect="1"/>
            </p:cNvPicPr>
            <p:nvPr/>
          </p:nvPicPr>
          <p:blipFill>
            <a:blip r:embed="rId3"/>
            <a:stretch>
              <a:fillRect/>
            </a:stretch>
          </p:blipFill>
          <p:spPr>
            <a:xfrm>
              <a:off x="9634476" y="1876361"/>
              <a:ext cx="1281173" cy="1351568"/>
            </a:xfrm>
            <a:prstGeom prst="rect">
              <a:avLst/>
            </a:prstGeom>
          </p:spPr>
        </p:pic>
        <p:sp>
          <p:nvSpPr>
            <p:cNvPr id="20" name="ZoneTexte 19">
              <a:extLst>
                <a:ext uri="{FF2B5EF4-FFF2-40B4-BE49-F238E27FC236}">
                  <a16:creationId xmlns:a16="http://schemas.microsoft.com/office/drawing/2014/main" id="{E66F1C8F-AA74-3859-14B0-0C3AF8B8A04D}"/>
                </a:ext>
              </a:extLst>
            </p:cNvPr>
            <p:cNvSpPr txBox="1"/>
            <p:nvPr/>
          </p:nvSpPr>
          <p:spPr>
            <a:xfrm>
              <a:off x="10003599" y="3121223"/>
              <a:ext cx="542925" cy="307777"/>
            </a:xfrm>
            <a:prstGeom prst="rect">
              <a:avLst/>
            </a:prstGeom>
            <a:noFill/>
          </p:spPr>
          <p:txBody>
            <a:bodyPr wrap="square" rtlCol="0">
              <a:spAutoFit/>
            </a:bodyPr>
            <a:lstStyle/>
            <a:p>
              <a:r>
                <a:rPr lang="fr-FR" sz="1400" dirty="0"/>
                <a:t>BDD</a:t>
              </a:r>
              <a:endParaRPr lang="fr-FR" dirty="0"/>
            </a:p>
          </p:txBody>
        </p:sp>
      </p:grpSp>
      <p:cxnSp>
        <p:nvCxnSpPr>
          <p:cNvPr id="23" name="Connecteur droit avec flèche 22">
            <a:extLst>
              <a:ext uri="{FF2B5EF4-FFF2-40B4-BE49-F238E27FC236}">
                <a16:creationId xmlns:a16="http://schemas.microsoft.com/office/drawing/2014/main" id="{964404D6-9F04-2349-6958-9BA9E14F99C1}"/>
              </a:ext>
            </a:extLst>
          </p:cNvPr>
          <p:cNvCxnSpPr>
            <a:stCxn id="14" idx="2"/>
            <a:endCxn id="15" idx="0"/>
          </p:cNvCxnSpPr>
          <p:nvPr/>
        </p:nvCxnSpPr>
        <p:spPr>
          <a:xfrm>
            <a:off x="1740662" y="2883024"/>
            <a:ext cx="547717" cy="10864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ZoneTexte 23">
            <a:extLst>
              <a:ext uri="{FF2B5EF4-FFF2-40B4-BE49-F238E27FC236}">
                <a16:creationId xmlns:a16="http://schemas.microsoft.com/office/drawing/2014/main" id="{B1C72CB0-74DA-C61D-31FB-AFEB0388A6DA}"/>
              </a:ext>
            </a:extLst>
          </p:cNvPr>
          <p:cNvSpPr txBox="1"/>
          <p:nvPr/>
        </p:nvSpPr>
        <p:spPr>
          <a:xfrm>
            <a:off x="2064510" y="2826276"/>
            <a:ext cx="1281173" cy="646331"/>
          </a:xfrm>
          <a:prstGeom prst="rect">
            <a:avLst/>
          </a:prstGeom>
          <a:noFill/>
        </p:spPr>
        <p:txBody>
          <a:bodyPr wrap="square" rtlCol="0">
            <a:spAutoFit/>
          </a:bodyPr>
          <a:lstStyle/>
          <a:p>
            <a:r>
              <a:rPr lang="fr-FR" sz="1200" dirty="0"/>
              <a:t>Envoie d’une requête par un utilisateur</a:t>
            </a:r>
          </a:p>
        </p:txBody>
      </p:sp>
      <p:sp>
        <p:nvSpPr>
          <p:cNvPr id="25" name="ZoneTexte 24">
            <a:extLst>
              <a:ext uri="{FF2B5EF4-FFF2-40B4-BE49-F238E27FC236}">
                <a16:creationId xmlns:a16="http://schemas.microsoft.com/office/drawing/2014/main" id="{910DE21D-5879-1CD2-C6E5-EBF7E2EC445F}"/>
              </a:ext>
            </a:extLst>
          </p:cNvPr>
          <p:cNvSpPr txBox="1"/>
          <p:nvPr/>
        </p:nvSpPr>
        <p:spPr>
          <a:xfrm>
            <a:off x="1707325" y="4828812"/>
            <a:ext cx="1162050" cy="276999"/>
          </a:xfrm>
          <a:prstGeom prst="rect">
            <a:avLst/>
          </a:prstGeom>
          <a:noFill/>
        </p:spPr>
        <p:txBody>
          <a:bodyPr wrap="square" rtlCol="0">
            <a:spAutoFit/>
          </a:bodyPr>
          <a:lstStyle/>
          <a:p>
            <a:r>
              <a:rPr lang="fr-FR" sz="1200" dirty="0"/>
              <a:t>DTO &lt;-&gt; </a:t>
            </a:r>
            <a:r>
              <a:rPr lang="fr-FR" sz="1200" dirty="0" err="1"/>
              <a:t>Entity</a:t>
            </a:r>
            <a:endParaRPr lang="fr-FR" sz="1200" dirty="0"/>
          </a:p>
        </p:txBody>
      </p:sp>
      <p:cxnSp>
        <p:nvCxnSpPr>
          <p:cNvPr id="27" name="Connecteur droit avec flèche 26">
            <a:extLst>
              <a:ext uri="{FF2B5EF4-FFF2-40B4-BE49-F238E27FC236}">
                <a16:creationId xmlns:a16="http://schemas.microsoft.com/office/drawing/2014/main" id="{807DFFAB-06D7-6786-F3A4-A6545B96E4D2}"/>
              </a:ext>
            </a:extLst>
          </p:cNvPr>
          <p:cNvCxnSpPr>
            <a:cxnSpLocks/>
          </p:cNvCxnSpPr>
          <p:nvPr/>
        </p:nvCxnSpPr>
        <p:spPr>
          <a:xfrm>
            <a:off x="3121816" y="4544517"/>
            <a:ext cx="1162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ZoneTexte 27">
            <a:extLst>
              <a:ext uri="{FF2B5EF4-FFF2-40B4-BE49-F238E27FC236}">
                <a16:creationId xmlns:a16="http://schemas.microsoft.com/office/drawing/2014/main" id="{C058CE35-638F-CE67-679E-B5EBD80B7718}"/>
              </a:ext>
            </a:extLst>
          </p:cNvPr>
          <p:cNvSpPr txBox="1"/>
          <p:nvPr/>
        </p:nvSpPr>
        <p:spPr>
          <a:xfrm>
            <a:off x="3369466" y="4560196"/>
            <a:ext cx="690533" cy="276999"/>
          </a:xfrm>
          <a:prstGeom prst="rect">
            <a:avLst/>
          </a:prstGeom>
          <a:noFill/>
        </p:spPr>
        <p:txBody>
          <a:bodyPr wrap="square" rtlCol="0">
            <a:spAutoFit/>
          </a:bodyPr>
          <a:lstStyle/>
          <a:p>
            <a:r>
              <a:rPr lang="fr-FR" sz="1200" dirty="0" err="1"/>
              <a:t>entity</a:t>
            </a:r>
            <a:endParaRPr lang="fr-FR" sz="1400" dirty="0"/>
          </a:p>
        </p:txBody>
      </p:sp>
      <p:cxnSp>
        <p:nvCxnSpPr>
          <p:cNvPr id="30" name="Connecteur droit avec flèche 29">
            <a:extLst>
              <a:ext uri="{FF2B5EF4-FFF2-40B4-BE49-F238E27FC236}">
                <a16:creationId xmlns:a16="http://schemas.microsoft.com/office/drawing/2014/main" id="{E06AE87B-93D8-E035-2A1C-592D0882E151}"/>
              </a:ext>
            </a:extLst>
          </p:cNvPr>
          <p:cNvCxnSpPr>
            <a:cxnSpLocks/>
          </p:cNvCxnSpPr>
          <p:nvPr/>
        </p:nvCxnSpPr>
        <p:spPr>
          <a:xfrm>
            <a:off x="5950741" y="4560196"/>
            <a:ext cx="14382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ZoneTexte 31">
            <a:extLst>
              <a:ext uri="{FF2B5EF4-FFF2-40B4-BE49-F238E27FC236}">
                <a16:creationId xmlns:a16="http://schemas.microsoft.com/office/drawing/2014/main" id="{D38974D3-7D32-0256-026B-4A147E009582}"/>
              </a:ext>
            </a:extLst>
          </p:cNvPr>
          <p:cNvSpPr txBox="1"/>
          <p:nvPr/>
        </p:nvSpPr>
        <p:spPr>
          <a:xfrm>
            <a:off x="6396511" y="4618619"/>
            <a:ext cx="690533" cy="276999"/>
          </a:xfrm>
          <a:prstGeom prst="rect">
            <a:avLst/>
          </a:prstGeom>
          <a:noFill/>
        </p:spPr>
        <p:txBody>
          <a:bodyPr wrap="square" rtlCol="0">
            <a:spAutoFit/>
          </a:bodyPr>
          <a:lstStyle/>
          <a:p>
            <a:r>
              <a:rPr lang="fr-FR" sz="1200" dirty="0" err="1"/>
              <a:t>entity</a:t>
            </a:r>
            <a:endParaRPr lang="fr-FR" sz="1400" dirty="0"/>
          </a:p>
        </p:txBody>
      </p:sp>
      <p:cxnSp>
        <p:nvCxnSpPr>
          <p:cNvPr id="34" name="Connecteur droit avec flèche 33">
            <a:extLst>
              <a:ext uri="{FF2B5EF4-FFF2-40B4-BE49-F238E27FC236}">
                <a16:creationId xmlns:a16="http://schemas.microsoft.com/office/drawing/2014/main" id="{31DD9936-4F58-B26F-0ACE-B3C505913608}"/>
              </a:ext>
            </a:extLst>
          </p:cNvPr>
          <p:cNvCxnSpPr>
            <a:cxnSpLocks/>
            <a:stCxn id="19" idx="3"/>
          </p:cNvCxnSpPr>
          <p:nvPr/>
        </p:nvCxnSpPr>
        <p:spPr>
          <a:xfrm flipV="1">
            <a:off x="9055891" y="3391058"/>
            <a:ext cx="1204819" cy="9722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B939CD13-123E-6469-DC83-667612D556C1}"/>
              </a:ext>
            </a:extLst>
          </p:cNvPr>
          <p:cNvSpPr txBox="1"/>
          <p:nvPr/>
        </p:nvSpPr>
        <p:spPr>
          <a:xfrm>
            <a:off x="9424982" y="3976903"/>
            <a:ext cx="690533" cy="276999"/>
          </a:xfrm>
          <a:prstGeom prst="rect">
            <a:avLst/>
          </a:prstGeom>
          <a:noFill/>
        </p:spPr>
        <p:txBody>
          <a:bodyPr wrap="square" rtlCol="0">
            <a:spAutoFit/>
          </a:bodyPr>
          <a:lstStyle/>
          <a:p>
            <a:r>
              <a:rPr lang="fr-FR" sz="1200" dirty="0" err="1"/>
              <a:t>entity</a:t>
            </a:r>
            <a:endParaRPr lang="fr-FR" sz="1400" dirty="0"/>
          </a:p>
        </p:txBody>
      </p:sp>
      <p:cxnSp>
        <p:nvCxnSpPr>
          <p:cNvPr id="38" name="Connecteur droit avec flèche 37">
            <a:extLst>
              <a:ext uri="{FF2B5EF4-FFF2-40B4-BE49-F238E27FC236}">
                <a16:creationId xmlns:a16="http://schemas.microsoft.com/office/drawing/2014/main" id="{D60641BB-A932-8127-D03D-8C6DE179724B}"/>
              </a:ext>
            </a:extLst>
          </p:cNvPr>
          <p:cNvCxnSpPr/>
          <p:nvPr/>
        </p:nvCxnSpPr>
        <p:spPr>
          <a:xfrm flipH="1" flipV="1">
            <a:off x="1454941" y="2826276"/>
            <a:ext cx="252384" cy="10902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ZoneTexte 38">
            <a:extLst>
              <a:ext uri="{FF2B5EF4-FFF2-40B4-BE49-F238E27FC236}">
                <a16:creationId xmlns:a16="http://schemas.microsoft.com/office/drawing/2014/main" id="{62C49F9F-63FA-6FB9-DF4D-D5B59A0703CA}"/>
              </a:ext>
            </a:extLst>
          </p:cNvPr>
          <p:cNvSpPr txBox="1"/>
          <p:nvPr/>
        </p:nvSpPr>
        <p:spPr>
          <a:xfrm>
            <a:off x="807241" y="3165938"/>
            <a:ext cx="942946" cy="461665"/>
          </a:xfrm>
          <a:prstGeom prst="rect">
            <a:avLst/>
          </a:prstGeom>
          <a:noFill/>
        </p:spPr>
        <p:txBody>
          <a:bodyPr wrap="square" rtlCol="0">
            <a:spAutoFit/>
          </a:bodyPr>
          <a:lstStyle/>
          <a:p>
            <a:r>
              <a:rPr lang="fr-FR" sz="1200" dirty="0"/>
              <a:t>Réponse HTTP</a:t>
            </a:r>
          </a:p>
        </p:txBody>
      </p:sp>
      <p:cxnSp>
        <p:nvCxnSpPr>
          <p:cNvPr id="42" name="Connecteur droit avec flèche 41">
            <a:extLst>
              <a:ext uri="{FF2B5EF4-FFF2-40B4-BE49-F238E27FC236}">
                <a16:creationId xmlns:a16="http://schemas.microsoft.com/office/drawing/2014/main" id="{05A1D74D-2291-2E06-E468-B696E088C5F0}"/>
              </a:ext>
            </a:extLst>
          </p:cNvPr>
          <p:cNvCxnSpPr>
            <a:cxnSpLocks/>
          </p:cNvCxnSpPr>
          <p:nvPr/>
        </p:nvCxnSpPr>
        <p:spPr>
          <a:xfrm flipH="1">
            <a:off x="8953482" y="2997213"/>
            <a:ext cx="1159713" cy="9443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onnecteur droit avec flèche 43">
            <a:extLst>
              <a:ext uri="{FF2B5EF4-FFF2-40B4-BE49-F238E27FC236}">
                <a16:creationId xmlns:a16="http://schemas.microsoft.com/office/drawing/2014/main" id="{D6CFAEBB-BA59-291A-7CB1-0D4B94DB0A91}"/>
              </a:ext>
            </a:extLst>
          </p:cNvPr>
          <p:cNvCxnSpPr>
            <a:cxnSpLocks/>
          </p:cNvCxnSpPr>
          <p:nvPr/>
        </p:nvCxnSpPr>
        <p:spPr>
          <a:xfrm flipH="1">
            <a:off x="5950741" y="4253902"/>
            <a:ext cx="14382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8CA0744E-5918-1D80-8D10-EB586CA9C817}"/>
              </a:ext>
            </a:extLst>
          </p:cNvPr>
          <p:cNvCxnSpPr>
            <a:cxnSpLocks/>
          </p:cNvCxnSpPr>
          <p:nvPr/>
        </p:nvCxnSpPr>
        <p:spPr>
          <a:xfrm flipH="1">
            <a:off x="3133707" y="4238172"/>
            <a:ext cx="1162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Ellipse 1">
            <a:extLst>
              <a:ext uri="{FF2B5EF4-FFF2-40B4-BE49-F238E27FC236}">
                <a16:creationId xmlns:a16="http://schemas.microsoft.com/office/drawing/2014/main" id="{711C7958-9B18-5F89-C226-77C6B0303D9C}"/>
              </a:ext>
            </a:extLst>
          </p:cNvPr>
          <p:cNvSpPr/>
          <p:nvPr/>
        </p:nvSpPr>
        <p:spPr>
          <a:xfrm>
            <a:off x="3875060" y="3016306"/>
            <a:ext cx="5547453" cy="2329952"/>
          </a:xfrm>
          <a:prstGeom prst="ellipse">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402738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8347A-B9E8-AA22-7444-146E8508DB9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7C5DFDD-CCF0-E5F1-4356-D42237B1A5EF}"/>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CD199CA9-716C-0947-1446-A4E916E9969A}"/>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0248921-A44C-36F0-D0BA-CA20C9538E84}"/>
              </a:ext>
            </a:extLst>
          </p:cNvPr>
          <p:cNvSpPr txBox="1"/>
          <p:nvPr/>
        </p:nvSpPr>
        <p:spPr>
          <a:xfrm>
            <a:off x="502920" y="118872"/>
            <a:ext cx="1971374" cy="492443"/>
          </a:xfrm>
          <a:prstGeom prst="rect">
            <a:avLst/>
          </a:prstGeom>
          <a:noFill/>
        </p:spPr>
        <p:txBody>
          <a:bodyPr wrap="none">
            <a:spAutoFit/>
          </a:bodyPr>
          <a:lstStyle/>
          <a:p>
            <a:pPr>
              <a:defRPr sz="2600" b="1">
                <a:solidFill>
                  <a:srgbClr val="FFFFFF"/>
                </a:solidFill>
                <a:latin typeface="Aptos Display"/>
              </a:defRPr>
            </a:pPr>
            <a:r>
              <a:rPr lang="fr-FR" dirty="0"/>
              <a:t>Les Services</a:t>
            </a:r>
            <a:endParaRPr dirty="0"/>
          </a:p>
        </p:txBody>
      </p:sp>
      <p:sp>
        <p:nvSpPr>
          <p:cNvPr id="7" name="TextBox 6">
            <a:extLst>
              <a:ext uri="{FF2B5EF4-FFF2-40B4-BE49-F238E27FC236}">
                <a16:creationId xmlns:a16="http://schemas.microsoft.com/office/drawing/2014/main" id="{105CFE3B-29C9-27DE-80E9-93C1D050CCBA}"/>
              </a:ext>
            </a:extLst>
          </p:cNvPr>
          <p:cNvSpPr txBox="1"/>
          <p:nvPr/>
        </p:nvSpPr>
        <p:spPr>
          <a:xfrm>
            <a:off x="205740" y="941832"/>
            <a:ext cx="5723359" cy="5724644"/>
          </a:xfrm>
          <a:prstGeom prst="rect">
            <a:avLst/>
          </a:prstGeom>
          <a:noFill/>
        </p:spPr>
        <p:txBody>
          <a:bodyPr wrap="square">
            <a:spAutoFit/>
          </a:bodyPr>
          <a:lstStyle/>
          <a:p>
            <a:pPr algn="just">
              <a:spcAft>
                <a:spcPts val="1200"/>
              </a:spcAft>
              <a:defRPr sz="2000">
                <a:solidFill>
                  <a:srgbClr val="232323"/>
                </a:solidFill>
                <a:latin typeface="Aptos"/>
              </a:defRPr>
            </a:pPr>
            <a:r>
              <a:rPr lang="fr-FR" sz="1600" dirty="0"/>
              <a:t>Le service sera appelé par le contrôleur par </a:t>
            </a:r>
            <a:r>
              <a:rPr lang="fr-FR" sz="1600" b="1" dirty="0"/>
              <a:t>injection de dépendance</a:t>
            </a:r>
            <a:r>
              <a:rPr lang="fr-FR" sz="1600" dirty="0"/>
              <a:t>. 2 solutions s’offrent à nous: </a:t>
            </a:r>
          </a:p>
          <a:p>
            <a:pPr marL="285750" indent="-285750" algn="just">
              <a:spcAft>
                <a:spcPts val="1200"/>
              </a:spcAft>
              <a:buFont typeface="Arial" panose="020B0604020202020204" pitchFamily="34" charset="0"/>
              <a:buChar char="•"/>
              <a:defRPr sz="2000">
                <a:solidFill>
                  <a:srgbClr val="232323"/>
                </a:solidFill>
                <a:latin typeface="Aptos"/>
              </a:defRPr>
            </a:pPr>
            <a:r>
              <a:rPr lang="fr-FR" sz="1600" b="1" dirty="0"/>
              <a:t>Déclarer</a:t>
            </a:r>
            <a:r>
              <a:rPr lang="fr-FR" sz="1600" dirty="0"/>
              <a:t> cette dépendance « à la main » </a:t>
            </a:r>
          </a:p>
          <a:p>
            <a:pPr marL="285750" indent="-285750" algn="just">
              <a:spcAft>
                <a:spcPts val="1200"/>
              </a:spcAft>
              <a:buFont typeface="Arial" panose="020B0604020202020204" pitchFamily="34" charset="0"/>
              <a:buChar char="•"/>
              <a:defRPr sz="2000">
                <a:solidFill>
                  <a:srgbClr val="232323"/>
                </a:solidFill>
                <a:latin typeface="Aptos"/>
              </a:defRPr>
            </a:pPr>
            <a:r>
              <a:rPr lang="fr-FR" sz="1600" dirty="0"/>
              <a:t>Mettre des </a:t>
            </a:r>
            <a:r>
              <a:rPr lang="fr-FR" sz="1600" b="1" dirty="0"/>
              <a:t>annotations</a:t>
            </a:r>
            <a:r>
              <a:rPr lang="fr-FR" sz="1600" dirty="0"/>
              <a:t> Spring pour qu’il le fasse tout seul</a:t>
            </a:r>
          </a:p>
          <a:p>
            <a:pPr marL="285750" indent="-285750" algn="just">
              <a:spcAft>
                <a:spcPts val="1200"/>
              </a:spcAft>
              <a:buFont typeface="Arial" panose="020B0604020202020204" pitchFamily="34" charset="0"/>
              <a:buChar char="•"/>
              <a:defRPr sz="2000">
                <a:solidFill>
                  <a:srgbClr val="232323"/>
                </a:solidFill>
                <a:latin typeface="Aptos"/>
              </a:defRPr>
            </a:pPr>
            <a:endParaRPr lang="fr-FR" sz="1600" dirty="0"/>
          </a:p>
          <a:p>
            <a:pPr algn="just">
              <a:spcAft>
                <a:spcPts val="1200"/>
              </a:spcAft>
              <a:defRPr sz="2000">
                <a:solidFill>
                  <a:srgbClr val="232323"/>
                </a:solidFill>
                <a:latin typeface="Aptos"/>
              </a:defRPr>
            </a:pPr>
            <a:r>
              <a:rPr lang="fr-FR" sz="1600" dirty="0"/>
              <a:t>Dans le premier cas il faut donc faire un fichier de configuration et déclarer un </a:t>
            </a:r>
            <a:r>
              <a:rPr lang="fr-FR" sz="1600" b="1" dirty="0"/>
              <a:t>@Bean </a:t>
            </a:r>
          </a:p>
          <a:p>
            <a:pPr algn="just">
              <a:spcAft>
                <a:spcPts val="1200"/>
              </a:spcAft>
              <a:defRPr sz="2000">
                <a:solidFill>
                  <a:srgbClr val="232323"/>
                </a:solidFill>
                <a:latin typeface="Aptos"/>
              </a:defRPr>
            </a:pPr>
            <a:endParaRPr lang="fr-FR" sz="1600" dirty="0"/>
          </a:p>
          <a:p>
            <a:pPr algn="just">
              <a:spcAft>
                <a:spcPts val="1200"/>
              </a:spcAft>
              <a:defRPr sz="2000">
                <a:solidFill>
                  <a:srgbClr val="232323"/>
                </a:solidFill>
                <a:latin typeface="Aptos"/>
              </a:defRPr>
            </a:pPr>
            <a:endParaRPr lang="fr-FR" sz="1600" dirty="0"/>
          </a:p>
          <a:p>
            <a:pPr algn="just">
              <a:spcAft>
                <a:spcPts val="1200"/>
              </a:spcAft>
              <a:defRPr sz="2000">
                <a:solidFill>
                  <a:srgbClr val="232323"/>
                </a:solidFill>
                <a:latin typeface="Aptos"/>
              </a:defRPr>
            </a:pPr>
            <a:endParaRPr lang="fr-FR" sz="1600" dirty="0"/>
          </a:p>
          <a:p>
            <a:pPr algn="just">
              <a:spcAft>
                <a:spcPts val="1200"/>
              </a:spcAft>
              <a:defRPr sz="2000">
                <a:solidFill>
                  <a:srgbClr val="232323"/>
                </a:solidFill>
                <a:latin typeface="Aptos"/>
              </a:defRPr>
            </a:pPr>
            <a:endParaRPr lang="fr-FR" sz="1600" dirty="0"/>
          </a:p>
          <a:p>
            <a:pPr algn="just">
              <a:spcAft>
                <a:spcPts val="1200"/>
              </a:spcAft>
              <a:defRPr sz="2000">
                <a:solidFill>
                  <a:srgbClr val="232323"/>
                </a:solidFill>
                <a:latin typeface="Aptos"/>
              </a:defRPr>
            </a:pPr>
            <a:r>
              <a:rPr lang="fr-FR" sz="1600" dirty="0"/>
              <a:t>Cette solution peut être utile dans certaine situation mais c’est assez lourd à implémenter. </a:t>
            </a:r>
          </a:p>
          <a:p>
            <a:pPr algn="just">
              <a:spcAft>
                <a:spcPts val="1200"/>
              </a:spcAft>
              <a:defRPr sz="2000">
                <a:solidFill>
                  <a:srgbClr val="232323"/>
                </a:solidFill>
                <a:latin typeface="Aptos"/>
              </a:defRPr>
            </a:pPr>
            <a:r>
              <a:rPr lang="fr-FR" sz="1600" dirty="0"/>
              <a:t>Pour s’éviter de le faire il faut donc mettre l’annotation </a:t>
            </a:r>
            <a:r>
              <a:rPr lang="fr-FR" sz="1600" b="1" dirty="0"/>
              <a:t>@Service </a:t>
            </a:r>
            <a:r>
              <a:rPr lang="fr-FR" sz="1600" dirty="0"/>
              <a:t> en haut de la classe.</a:t>
            </a:r>
            <a:endParaRPr lang="fr-FR" sz="1600" b="1" dirty="0"/>
          </a:p>
          <a:p>
            <a:pPr>
              <a:spcAft>
                <a:spcPts val="1200"/>
              </a:spcAft>
              <a:defRPr sz="2000">
                <a:solidFill>
                  <a:srgbClr val="232323"/>
                </a:solidFill>
                <a:latin typeface="Aptos"/>
              </a:defRPr>
            </a:pPr>
            <a:endParaRPr lang="fr-FR" sz="1600" dirty="0"/>
          </a:p>
        </p:txBody>
      </p:sp>
      <p:sp>
        <p:nvSpPr>
          <p:cNvPr id="8" name="TextBox 7">
            <a:extLst>
              <a:ext uri="{FF2B5EF4-FFF2-40B4-BE49-F238E27FC236}">
                <a16:creationId xmlns:a16="http://schemas.microsoft.com/office/drawing/2014/main" id="{D6A9AE11-6E01-6553-7367-2BAA493F4DF1}"/>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pic>
        <p:nvPicPr>
          <p:cNvPr id="9" name="Image 8">
            <a:extLst>
              <a:ext uri="{FF2B5EF4-FFF2-40B4-BE49-F238E27FC236}">
                <a16:creationId xmlns:a16="http://schemas.microsoft.com/office/drawing/2014/main" id="{8A8E443F-BB28-2282-2F7A-97C97119340D}"/>
              </a:ext>
            </a:extLst>
          </p:cNvPr>
          <p:cNvPicPr>
            <a:picLocks noChangeAspect="1"/>
          </p:cNvPicPr>
          <p:nvPr/>
        </p:nvPicPr>
        <p:blipFill>
          <a:blip r:embed="rId2"/>
          <a:srcRect/>
          <a:stretch/>
        </p:blipFill>
        <p:spPr>
          <a:xfrm>
            <a:off x="6262902" y="1371153"/>
            <a:ext cx="5807787" cy="4465916"/>
          </a:xfrm>
          <a:prstGeom prst="rect">
            <a:avLst/>
          </a:prstGeom>
        </p:spPr>
      </p:pic>
      <p:sp>
        <p:nvSpPr>
          <p:cNvPr id="2" name="Espace réservé du numéro de diapositive 1">
            <a:extLst>
              <a:ext uri="{FF2B5EF4-FFF2-40B4-BE49-F238E27FC236}">
                <a16:creationId xmlns:a16="http://schemas.microsoft.com/office/drawing/2014/main" id="{2834AA27-91CC-8ED2-ED2D-D982AE8EBD5A}"/>
              </a:ext>
            </a:extLst>
          </p:cNvPr>
          <p:cNvSpPr>
            <a:spLocks noGrp="1"/>
          </p:cNvSpPr>
          <p:nvPr>
            <p:ph type="sldNum" sz="quarter" idx="12"/>
          </p:nvPr>
        </p:nvSpPr>
        <p:spPr/>
        <p:txBody>
          <a:bodyPr/>
          <a:lstStyle/>
          <a:p>
            <a:fld id="{C1FF6DA9-008F-8B48-92A6-B652298478BF}" type="slidenum">
              <a:rPr lang="en-US" smtClean="0"/>
              <a:t>18</a:t>
            </a:fld>
            <a:endParaRPr lang="en-US" dirty="0"/>
          </a:p>
        </p:txBody>
      </p:sp>
      <p:pic>
        <p:nvPicPr>
          <p:cNvPr id="13" name="Image 12">
            <a:extLst>
              <a:ext uri="{FF2B5EF4-FFF2-40B4-BE49-F238E27FC236}">
                <a16:creationId xmlns:a16="http://schemas.microsoft.com/office/drawing/2014/main" id="{AD99A9F9-2E9C-9A87-541E-1C76BC994B99}"/>
              </a:ext>
            </a:extLst>
          </p:cNvPr>
          <p:cNvPicPr>
            <a:picLocks noChangeAspect="1"/>
          </p:cNvPicPr>
          <p:nvPr/>
        </p:nvPicPr>
        <p:blipFill>
          <a:blip r:embed="rId3"/>
          <a:stretch>
            <a:fillRect/>
          </a:stretch>
        </p:blipFill>
        <p:spPr>
          <a:xfrm>
            <a:off x="1070627" y="3429000"/>
            <a:ext cx="4053805" cy="1207893"/>
          </a:xfrm>
          <a:prstGeom prst="rect">
            <a:avLst/>
          </a:prstGeom>
        </p:spPr>
      </p:pic>
    </p:spTree>
    <p:extLst>
      <p:ext uri="{BB962C8B-B14F-4D97-AF65-F5344CB8AC3E}">
        <p14:creationId xmlns:p14="http://schemas.microsoft.com/office/powerpoint/2010/main" val="1712003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DEE56-A2BE-D669-E550-C286EA31852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2637D8F-E2FA-8A76-9280-F9CEF8D6322C}"/>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C1B8AC89-6469-3724-702C-BC1C85FC23DF}"/>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115BDD4-7A6F-175B-C99E-B30028C7B236}"/>
              </a:ext>
            </a:extLst>
          </p:cNvPr>
          <p:cNvSpPr txBox="1"/>
          <p:nvPr/>
        </p:nvSpPr>
        <p:spPr>
          <a:xfrm>
            <a:off x="502920" y="118872"/>
            <a:ext cx="1971374" cy="492443"/>
          </a:xfrm>
          <a:prstGeom prst="rect">
            <a:avLst/>
          </a:prstGeom>
          <a:noFill/>
        </p:spPr>
        <p:txBody>
          <a:bodyPr wrap="none">
            <a:spAutoFit/>
          </a:bodyPr>
          <a:lstStyle/>
          <a:p>
            <a:pPr>
              <a:defRPr sz="2600" b="1">
                <a:solidFill>
                  <a:srgbClr val="FFFFFF"/>
                </a:solidFill>
                <a:latin typeface="Aptos Display"/>
              </a:defRPr>
            </a:pPr>
            <a:r>
              <a:rPr lang="fr-FR" dirty="0"/>
              <a:t>Les Services</a:t>
            </a:r>
            <a:endParaRPr dirty="0"/>
          </a:p>
        </p:txBody>
      </p:sp>
      <p:sp>
        <p:nvSpPr>
          <p:cNvPr id="7" name="TextBox 6">
            <a:extLst>
              <a:ext uri="{FF2B5EF4-FFF2-40B4-BE49-F238E27FC236}">
                <a16:creationId xmlns:a16="http://schemas.microsoft.com/office/drawing/2014/main" id="{C8F6DE45-75C8-2408-2D1E-F5BE5AD99A76}"/>
              </a:ext>
            </a:extLst>
          </p:cNvPr>
          <p:cNvSpPr txBox="1"/>
          <p:nvPr/>
        </p:nvSpPr>
        <p:spPr>
          <a:xfrm>
            <a:off x="205740" y="1339591"/>
            <a:ext cx="5723359" cy="2862322"/>
          </a:xfrm>
          <a:prstGeom prst="rect">
            <a:avLst/>
          </a:prstGeom>
          <a:noFill/>
        </p:spPr>
        <p:txBody>
          <a:bodyPr wrap="square">
            <a:spAutoFit/>
          </a:bodyPr>
          <a:lstStyle/>
          <a:p>
            <a:pPr algn="just">
              <a:spcAft>
                <a:spcPts val="1200"/>
              </a:spcAft>
              <a:defRPr sz="2000">
                <a:solidFill>
                  <a:srgbClr val="232323"/>
                </a:solidFill>
                <a:latin typeface="Aptos"/>
              </a:defRPr>
            </a:pPr>
            <a:r>
              <a:rPr lang="fr-FR" sz="1600" dirty="0"/>
              <a:t>Le </a:t>
            </a:r>
            <a:r>
              <a:rPr lang="fr-FR" sz="1600" b="1" dirty="0"/>
              <a:t>service</a:t>
            </a:r>
            <a:r>
              <a:rPr lang="fr-FR" sz="1600" dirty="0"/>
              <a:t> a pour but d’implémenter la </a:t>
            </a:r>
            <a:r>
              <a:rPr lang="fr-FR" sz="1600" b="1" dirty="0"/>
              <a:t>logique de votre application</a:t>
            </a:r>
            <a:r>
              <a:rPr lang="fr-FR" sz="1600" dirty="0"/>
              <a:t> sans faire d’opération en direct avec la base de données. Pour cela il va faire appel au </a:t>
            </a:r>
            <a:r>
              <a:rPr lang="fr-FR" sz="1600" b="1" dirty="0"/>
              <a:t>Repository </a:t>
            </a:r>
            <a:r>
              <a:rPr lang="fr-FR" sz="1600" dirty="0"/>
              <a:t>qui lui renverra les données nécessaires.</a:t>
            </a:r>
          </a:p>
          <a:p>
            <a:pPr algn="just">
              <a:spcAft>
                <a:spcPts val="1200"/>
              </a:spcAft>
              <a:defRPr sz="2000">
                <a:solidFill>
                  <a:srgbClr val="232323"/>
                </a:solidFill>
                <a:latin typeface="Aptos"/>
              </a:defRPr>
            </a:pPr>
            <a:endParaRPr lang="fr-FR" sz="1600" b="1" dirty="0"/>
          </a:p>
          <a:p>
            <a:pPr algn="just">
              <a:spcAft>
                <a:spcPts val="1200"/>
              </a:spcAft>
              <a:defRPr sz="2000">
                <a:solidFill>
                  <a:srgbClr val="232323"/>
                </a:solidFill>
                <a:latin typeface="Aptos"/>
              </a:defRPr>
            </a:pPr>
            <a:r>
              <a:rPr lang="fr-FR" sz="1600" dirty="0"/>
              <a:t>Il faut toutefois faire attention à que vos méthodes ne soit </a:t>
            </a:r>
            <a:r>
              <a:rPr lang="fr-FR" sz="1600" b="1" dirty="0"/>
              <a:t>pas trop complexe</a:t>
            </a:r>
            <a:r>
              <a:rPr lang="fr-FR" sz="1600" dirty="0"/>
              <a:t> pour permettre de bien maintenir votre code dans le futur. Si se n’est pas maintenable c’est </a:t>
            </a:r>
            <a:r>
              <a:rPr lang="fr-FR" sz="1600" b="1" dirty="0"/>
              <a:t>du code jetable</a:t>
            </a:r>
            <a:r>
              <a:rPr lang="fr-FR" sz="1600" dirty="0"/>
              <a:t> car il sera surement plus simple de reconstruire que de comprendre l’existant</a:t>
            </a:r>
          </a:p>
        </p:txBody>
      </p:sp>
      <p:sp>
        <p:nvSpPr>
          <p:cNvPr id="8" name="TextBox 7">
            <a:extLst>
              <a:ext uri="{FF2B5EF4-FFF2-40B4-BE49-F238E27FC236}">
                <a16:creationId xmlns:a16="http://schemas.microsoft.com/office/drawing/2014/main" id="{6FEAA923-EE87-34BB-12BB-3C96359937FB}"/>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pic>
        <p:nvPicPr>
          <p:cNvPr id="9" name="Image 8">
            <a:extLst>
              <a:ext uri="{FF2B5EF4-FFF2-40B4-BE49-F238E27FC236}">
                <a16:creationId xmlns:a16="http://schemas.microsoft.com/office/drawing/2014/main" id="{96E0A27A-A7CB-C3F6-DF89-43EFE2F5CD36}"/>
              </a:ext>
            </a:extLst>
          </p:cNvPr>
          <p:cNvPicPr>
            <a:picLocks noChangeAspect="1"/>
          </p:cNvPicPr>
          <p:nvPr/>
        </p:nvPicPr>
        <p:blipFill>
          <a:blip r:embed="rId2"/>
          <a:srcRect/>
          <a:stretch/>
        </p:blipFill>
        <p:spPr>
          <a:xfrm>
            <a:off x="6262902" y="1371153"/>
            <a:ext cx="5807787" cy="4465916"/>
          </a:xfrm>
          <a:prstGeom prst="rect">
            <a:avLst/>
          </a:prstGeom>
        </p:spPr>
      </p:pic>
      <p:sp>
        <p:nvSpPr>
          <p:cNvPr id="2" name="Espace réservé du numéro de diapositive 1">
            <a:extLst>
              <a:ext uri="{FF2B5EF4-FFF2-40B4-BE49-F238E27FC236}">
                <a16:creationId xmlns:a16="http://schemas.microsoft.com/office/drawing/2014/main" id="{589463E3-974E-DE7E-8AA8-63C6DFD8026F}"/>
              </a:ext>
            </a:extLst>
          </p:cNvPr>
          <p:cNvSpPr>
            <a:spLocks noGrp="1"/>
          </p:cNvSpPr>
          <p:nvPr>
            <p:ph type="sldNum" sz="quarter" idx="12"/>
          </p:nvPr>
        </p:nvSpPr>
        <p:spPr/>
        <p:txBody>
          <a:bodyPr/>
          <a:lstStyle/>
          <a:p>
            <a:fld id="{C1FF6DA9-008F-8B48-92A6-B652298478BF}" type="slidenum">
              <a:rPr lang="en-US" smtClean="0"/>
              <a:t>19</a:t>
            </a:fld>
            <a:endParaRPr lang="en-US" dirty="0"/>
          </a:p>
        </p:txBody>
      </p:sp>
    </p:spTree>
    <p:extLst>
      <p:ext uri="{BB962C8B-B14F-4D97-AF65-F5344CB8AC3E}">
        <p14:creationId xmlns:p14="http://schemas.microsoft.com/office/powerpoint/2010/main" val="2860421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B0710-C79D-B121-2453-2F6E5FC72AB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A241113-77B8-89DC-E3BF-2FE3F713DA17}"/>
              </a:ext>
            </a:extLst>
          </p:cNvPr>
          <p:cNvSpPr/>
          <p:nvPr/>
        </p:nvSpPr>
        <p:spPr>
          <a:xfrm>
            <a:off x="0" y="0"/>
            <a:ext cx="12191695" cy="685800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C5FE813-9570-D1E8-E2E7-07F9457AA19C}"/>
              </a:ext>
            </a:extLst>
          </p:cNvPr>
          <p:cNvSpPr txBox="1"/>
          <p:nvPr/>
        </p:nvSpPr>
        <p:spPr>
          <a:xfrm>
            <a:off x="1752447" y="2859613"/>
            <a:ext cx="8686800" cy="615553"/>
          </a:xfrm>
          <a:prstGeom prst="rect">
            <a:avLst/>
          </a:prstGeom>
          <a:noFill/>
        </p:spPr>
        <p:txBody>
          <a:bodyPr wrap="square">
            <a:spAutoFit/>
          </a:bodyPr>
          <a:lstStyle/>
          <a:p>
            <a:pPr algn="ctr">
              <a:defRPr sz="3400" b="1">
                <a:solidFill>
                  <a:srgbClr val="FFFFFF"/>
                </a:solidFill>
                <a:latin typeface="Aptos"/>
              </a:defRPr>
            </a:pPr>
            <a:r>
              <a:rPr lang="fr-FR" dirty="0"/>
              <a:t>Les </a:t>
            </a:r>
            <a:r>
              <a:rPr lang="fr-FR" dirty="0" err="1"/>
              <a:t>Entity</a:t>
            </a:r>
            <a:endParaRPr dirty="0"/>
          </a:p>
        </p:txBody>
      </p:sp>
      <p:sp>
        <p:nvSpPr>
          <p:cNvPr id="3" name="Espace réservé du numéro de diapositive 2">
            <a:extLst>
              <a:ext uri="{FF2B5EF4-FFF2-40B4-BE49-F238E27FC236}">
                <a16:creationId xmlns:a16="http://schemas.microsoft.com/office/drawing/2014/main" id="{DB5B4F23-588F-F8B7-C153-7E86F1FE489C}"/>
              </a:ext>
            </a:extLst>
          </p:cNvPr>
          <p:cNvSpPr>
            <a:spLocks noGrp="1"/>
          </p:cNvSpPr>
          <p:nvPr>
            <p:ph type="sldNum" sz="quarter" idx="12"/>
          </p:nvPr>
        </p:nvSpPr>
        <p:spPr/>
        <p:txBody>
          <a:bodyPr/>
          <a:lstStyle/>
          <a:p>
            <a:fld id="{C1FF6DA9-008F-8B48-92A6-B652298478BF}" type="slidenum">
              <a:rPr lang="en-US" smtClean="0"/>
              <a:t>20</a:t>
            </a:fld>
            <a:endParaRPr lang="en-US"/>
          </a:p>
        </p:txBody>
      </p:sp>
    </p:spTree>
    <p:extLst>
      <p:ext uri="{BB962C8B-B14F-4D97-AF65-F5344CB8AC3E}">
        <p14:creationId xmlns:p14="http://schemas.microsoft.com/office/powerpoint/2010/main" val="1807893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C2848-8EED-DD8C-0593-6B525EE8343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C952852-3268-6A76-A686-552251AAD8F6}"/>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9DDA1BDE-4D11-3268-A725-F2A92F4DFF9D}"/>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03848BBD-39E5-3989-1B5A-C422088D6D21}"/>
              </a:ext>
            </a:extLst>
          </p:cNvPr>
          <p:cNvSpPr txBox="1"/>
          <p:nvPr/>
        </p:nvSpPr>
        <p:spPr>
          <a:xfrm>
            <a:off x="502920" y="118872"/>
            <a:ext cx="1518942" cy="492443"/>
          </a:xfrm>
          <a:prstGeom prst="rect">
            <a:avLst/>
          </a:prstGeom>
          <a:noFill/>
        </p:spPr>
        <p:txBody>
          <a:bodyPr wrap="none">
            <a:spAutoFit/>
          </a:bodyPr>
          <a:lstStyle/>
          <a:p>
            <a:pPr>
              <a:defRPr sz="2600" b="1">
                <a:solidFill>
                  <a:srgbClr val="FFFFFF"/>
                </a:solidFill>
                <a:latin typeface="Aptos Display"/>
              </a:defRPr>
            </a:pPr>
            <a:r>
              <a:rPr lang="fr-FR" dirty="0"/>
              <a:t>Structure</a:t>
            </a:r>
            <a:endParaRPr dirty="0"/>
          </a:p>
        </p:txBody>
      </p:sp>
      <p:sp>
        <p:nvSpPr>
          <p:cNvPr id="8" name="TextBox 7">
            <a:extLst>
              <a:ext uri="{FF2B5EF4-FFF2-40B4-BE49-F238E27FC236}">
                <a16:creationId xmlns:a16="http://schemas.microsoft.com/office/drawing/2014/main" id="{19818F47-765A-1A4E-B0F9-CD322F1CF501}"/>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13" name="Espace réservé du numéro de diapositive 12">
            <a:extLst>
              <a:ext uri="{FF2B5EF4-FFF2-40B4-BE49-F238E27FC236}">
                <a16:creationId xmlns:a16="http://schemas.microsoft.com/office/drawing/2014/main" id="{0D8E5E5F-C3A1-F74C-33E9-41732457B89C}"/>
              </a:ext>
            </a:extLst>
          </p:cNvPr>
          <p:cNvSpPr>
            <a:spLocks noGrp="1"/>
          </p:cNvSpPr>
          <p:nvPr>
            <p:ph type="sldNum" sz="quarter" idx="12"/>
          </p:nvPr>
        </p:nvSpPr>
        <p:spPr/>
        <p:txBody>
          <a:bodyPr/>
          <a:lstStyle/>
          <a:p>
            <a:fld id="{C1FF6DA9-008F-8B48-92A6-B652298478BF}" type="slidenum">
              <a:rPr lang="en-US" smtClean="0"/>
              <a:t>21</a:t>
            </a:fld>
            <a:endParaRPr lang="en-US"/>
          </a:p>
        </p:txBody>
      </p:sp>
      <p:pic>
        <p:nvPicPr>
          <p:cNvPr id="14" name="Image 13">
            <a:extLst>
              <a:ext uri="{FF2B5EF4-FFF2-40B4-BE49-F238E27FC236}">
                <a16:creationId xmlns:a16="http://schemas.microsoft.com/office/drawing/2014/main" id="{28171E7A-A308-EE61-665F-810AC6088346}"/>
              </a:ext>
            </a:extLst>
          </p:cNvPr>
          <p:cNvPicPr>
            <a:picLocks noChangeAspect="1"/>
          </p:cNvPicPr>
          <p:nvPr/>
        </p:nvPicPr>
        <p:blipFill>
          <a:blip r:embed="rId2"/>
          <a:stretch>
            <a:fillRect/>
          </a:stretch>
        </p:blipFill>
        <p:spPr>
          <a:xfrm>
            <a:off x="1192946" y="1736641"/>
            <a:ext cx="1095432" cy="1146383"/>
          </a:xfrm>
          <a:prstGeom prst="rect">
            <a:avLst/>
          </a:prstGeom>
        </p:spPr>
      </p:pic>
      <p:sp>
        <p:nvSpPr>
          <p:cNvPr id="15" name="Rectangle : coins arrondis 14">
            <a:extLst>
              <a:ext uri="{FF2B5EF4-FFF2-40B4-BE49-F238E27FC236}">
                <a16:creationId xmlns:a16="http://schemas.microsoft.com/office/drawing/2014/main" id="{DA74EB4F-362F-10D3-B105-56A86B3FC7EC}"/>
              </a:ext>
            </a:extLst>
          </p:cNvPr>
          <p:cNvSpPr/>
          <p:nvPr/>
        </p:nvSpPr>
        <p:spPr>
          <a:xfrm>
            <a:off x="1454941"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err="1">
                <a:solidFill>
                  <a:schemeClr val="tx1"/>
                </a:solidFill>
              </a:rPr>
              <a:t>Controlleur</a:t>
            </a:r>
            <a:endParaRPr lang="fr-FR" dirty="0">
              <a:solidFill>
                <a:schemeClr val="tx1"/>
              </a:solidFill>
            </a:endParaRPr>
          </a:p>
        </p:txBody>
      </p:sp>
      <p:sp>
        <p:nvSpPr>
          <p:cNvPr id="17" name="Rectangle : coins arrondis 16">
            <a:extLst>
              <a:ext uri="{FF2B5EF4-FFF2-40B4-BE49-F238E27FC236}">
                <a16:creationId xmlns:a16="http://schemas.microsoft.com/office/drawing/2014/main" id="{300CED50-4DB6-EE17-D068-6A65BED3958B}"/>
              </a:ext>
            </a:extLst>
          </p:cNvPr>
          <p:cNvSpPr/>
          <p:nvPr/>
        </p:nvSpPr>
        <p:spPr>
          <a:xfrm>
            <a:off x="4283866"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solidFill>
                  <a:schemeClr val="tx1"/>
                </a:solidFill>
              </a:rPr>
              <a:t>Service</a:t>
            </a:r>
          </a:p>
        </p:txBody>
      </p:sp>
      <p:sp>
        <p:nvSpPr>
          <p:cNvPr id="19" name="Rectangle : coins arrondis 18">
            <a:extLst>
              <a:ext uri="{FF2B5EF4-FFF2-40B4-BE49-F238E27FC236}">
                <a16:creationId xmlns:a16="http://schemas.microsoft.com/office/drawing/2014/main" id="{53A74050-CB0C-C382-8251-B445A775582A}"/>
              </a:ext>
            </a:extLst>
          </p:cNvPr>
          <p:cNvSpPr/>
          <p:nvPr/>
        </p:nvSpPr>
        <p:spPr>
          <a:xfrm>
            <a:off x="7389016"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solidFill>
                  <a:schemeClr val="tx1"/>
                </a:solidFill>
              </a:rPr>
              <a:t>Repository</a:t>
            </a:r>
          </a:p>
        </p:txBody>
      </p:sp>
      <p:grpSp>
        <p:nvGrpSpPr>
          <p:cNvPr id="21" name="Groupe 20">
            <a:extLst>
              <a:ext uri="{FF2B5EF4-FFF2-40B4-BE49-F238E27FC236}">
                <a16:creationId xmlns:a16="http://schemas.microsoft.com/office/drawing/2014/main" id="{857088B1-C950-522C-A6BD-48A688F5B864}"/>
              </a:ext>
            </a:extLst>
          </p:cNvPr>
          <p:cNvGrpSpPr/>
          <p:nvPr/>
        </p:nvGrpSpPr>
        <p:grpSpPr>
          <a:xfrm>
            <a:off x="10003567" y="2207240"/>
            <a:ext cx="1281173" cy="1552639"/>
            <a:chOff x="9634476" y="1876361"/>
            <a:chExt cx="1281173" cy="1552639"/>
          </a:xfrm>
        </p:grpSpPr>
        <p:pic>
          <p:nvPicPr>
            <p:cNvPr id="11" name="Image 10">
              <a:extLst>
                <a:ext uri="{FF2B5EF4-FFF2-40B4-BE49-F238E27FC236}">
                  <a16:creationId xmlns:a16="http://schemas.microsoft.com/office/drawing/2014/main" id="{46C3CE30-71F8-603A-1D4C-C103662561B7}"/>
                </a:ext>
              </a:extLst>
            </p:cNvPr>
            <p:cNvPicPr>
              <a:picLocks noChangeAspect="1"/>
            </p:cNvPicPr>
            <p:nvPr/>
          </p:nvPicPr>
          <p:blipFill>
            <a:blip r:embed="rId3"/>
            <a:stretch>
              <a:fillRect/>
            </a:stretch>
          </p:blipFill>
          <p:spPr>
            <a:xfrm>
              <a:off x="9634476" y="1876361"/>
              <a:ext cx="1281173" cy="1351568"/>
            </a:xfrm>
            <a:prstGeom prst="rect">
              <a:avLst/>
            </a:prstGeom>
          </p:spPr>
        </p:pic>
        <p:sp>
          <p:nvSpPr>
            <p:cNvPr id="20" name="ZoneTexte 19">
              <a:extLst>
                <a:ext uri="{FF2B5EF4-FFF2-40B4-BE49-F238E27FC236}">
                  <a16:creationId xmlns:a16="http://schemas.microsoft.com/office/drawing/2014/main" id="{0D2AED7F-AAFF-154E-2C31-11FAE1CDBEF8}"/>
                </a:ext>
              </a:extLst>
            </p:cNvPr>
            <p:cNvSpPr txBox="1"/>
            <p:nvPr/>
          </p:nvSpPr>
          <p:spPr>
            <a:xfrm>
              <a:off x="10003599" y="3121223"/>
              <a:ext cx="542925" cy="307777"/>
            </a:xfrm>
            <a:prstGeom prst="rect">
              <a:avLst/>
            </a:prstGeom>
            <a:noFill/>
          </p:spPr>
          <p:txBody>
            <a:bodyPr wrap="square" rtlCol="0">
              <a:spAutoFit/>
            </a:bodyPr>
            <a:lstStyle/>
            <a:p>
              <a:r>
                <a:rPr lang="fr-FR" sz="1400" dirty="0"/>
                <a:t>BDD</a:t>
              </a:r>
              <a:endParaRPr lang="fr-FR" dirty="0"/>
            </a:p>
          </p:txBody>
        </p:sp>
      </p:grpSp>
      <p:cxnSp>
        <p:nvCxnSpPr>
          <p:cNvPr id="23" name="Connecteur droit avec flèche 22">
            <a:extLst>
              <a:ext uri="{FF2B5EF4-FFF2-40B4-BE49-F238E27FC236}">
                <a16:creationId xmlns:a16="http://schemas.microsoft.com/office/drawing/2014/main" id="{39183B24-E67D-433D-2CF2-44E9577C9FAA}"/>
              </a:ext>
            </a:extLst>
          </p:cNvPr>
          <p:cNvCxnSpPr>
            <a:stCxn id="14" idx="2"/>
            <a:endCxn id="15" idx="0"/>
          </p:cNvCxnSpPr>
          <p:nvPr/>
        </p:nvCxnSpPr>
        <p:spPr>
          <a:xfrm>
            <a:off x="1740662" y="2883024"/>
            <a:ext cx="547717" cy="10864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ZoneTexte 23">
            <a:extLst>
              <a:ext uri="{FF2B5EF4-FFF2-40B4-BE49-F238E27FC236}">
                <a16:creationId xmlns:a16="http://schemas.microsoft.com/office/drawing/2014/main" id="{581A0B41-EBD8-0BDA-6685-473B21186208}"/>
              </a:ext>
            </a:extLst>
          </p:cNvPr>
          <p:cNvSpPr txBox="1"/>
          <p:nvPr/>
        </p:nvSpPr>
        <p:spPr>
          <a:xfrm>
            <a:off x="2064510" y="2826276"/>
            <a:ext cx="1281173" cy="646331"/>
          </a:xfrm>
          <a:prstGeom prst="rect">
            <a:avLst/>
          </a:prstGeom>
          <a:noFill/>
        </p:spPr>
        <p:txBody>
          <a:bodyPr wrap="square" rtlCol="0">
            <a:spAutoFit/>
          </a:bodyPr>
          <a:lstStyle/>
          <a:p>
            <a:r>
              <a:rPr lang="fr-FR" sz="1200" dirty="0"/>
              <a:t>Envoie d’une requête par un utilisateur</a:t>
            </a:r>
          </a:p>
        </p:txBody>
      </p:sp>
      <p:sp>
        <p:nvSpPr>
          <p:cNvPr id="25" name="ZoneTexte 24">
            <a:extLst>
              <a:ext uri="{FF2B5EF4-FFF2-40B4-BE49-F238E27FC236}">
                <a16:creationId xmlns:a16="http://schemas.microsoft.com/office/drawing/2014/main" id="{C94671F7-8F44-FCBD-8D3E-7255953E69E2}"/>
              </a:ext>
            </a:extLst>
          </p:cNvPr>
          <p:cNvSpPr txBox="1"/>
          <p:nvPr/>
        </p:nvSpPr>
        <p:spPr>
          <a:xfrm>
            <a:off x="1707325" y="4828812"/>
            <a:ext cx="1162050" cy="276999"/>
          </a:xfrm>
          <a:prstGeom prst="rect">
            <a:avLst/>
          </a:prstGeom>
          <a:noFill/>
        </p:spPr>
        <p:txBody>
          <a:bodyPr wrap="square" rtlCol="0">
            <a:spAutoFit/>
          </a:bodyPr>
          <a:lstStyle/>
          <a:p>
            <a:r>
              <a:rPr lang="fr-FR" sz="1200" dirty="0"/>
              <a:t>DTO &lt;-&gt; </a:t>
            </a:r>
            <a:r>
              <a:rPr lang="fr-FR" sz="1200" dirty="0" err="1"/>
              <a:t>Entity</a:t>
            </a:r>
            <a:endParaRPr lang="fr-FR" sz="1200" dirty="0"/>
          </a:p>
        </p:txBody>
      </p:sp>
      <p:cxnSp>
        <p:nvCxnSpPr>
          <p:cNvPr id="27" name="Connecteur droit avec flèche 26">
            <a:extLst>
              <a:ext uri="{FF2B5EF4-FFF2-40B4-BE49-F238E27FC236}">
                <a16:creationId xmlns:a16="http://schemas.microsoft.com/office/drawing/2014/main" id="{AE35EF60-256E-4811-CD0A-126818663FD5}"/>
              </a:ext>
            </a:extLst>
          </p:cNvPr>
          <p:cNvCxnSpPr>
            <a:cxnSpLocks/>
          </p:cNvCxnSpPr>
          <p:nvPr/>
        </p:nvCxnSpPr>
        <p:spPr>
          <a:xfrm>
            <a:off x="3121816" y="4544517"/>
            <a:ext cx="1162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ZoneTexte 27">
            <a:extLst>
              <a:ext uri="{FF2B5EF4-FFF2-40B4-BE49-F238E27FC236}">
                <a16:creationId xmlns:a16="http://schemas.microsoft.com/office/drawing/2014/main" id="{E82EAA2A-BAC7-CC45-96F2-5D0AD5CDCBF2}"/>
              </a:ext>
            </a:extLst>
          </p:cNvPr>
          <p:cNvSpPr txBox="1"/>
          <p:nvPr/>
        </p:nvSpPr>
        <p:spPr>
          <a:xfrm>
            <a:off x="3369466" y="4560196"/>
            <a:ext cx="690533" cy="276999"/>
          </a:xfrm>
          <a:prstGeom prst="rect">
            <a:avLst/>
          </a:prstGeom>
          <a:noFill/>
        </p:spPr>
        <p:txBody>
          <a:bodyPr wrap="square" rtlCol="0">
            <a:spAutoFit/>
          </a:bodyPr>
          <a:lstStyle/>
          <a:p>
            <a:r>
              <a:rPr lang="fr-FR" sz="1200" dirty="0" err="1"/>
              <a:t>entity</a:t>
            </a:r>
            <a:endParaRPr lang="fr-FR" sz="1400" dirty="0"/>
          </a:p>
        </p:txBody>
      </p:sp>
      <p:cxnSp>
        <p:nvCxnSpPr>
          <p:cNvPr id="30" name="Connecteur droit avec flèche 29">
            <a:extLst>
              <a:ext uri="{FF2B5EF4-FFF2-40B4-BE49-F238E27FC236}">
                <a16:creationId xmlns:a16="http://schemas.microsoft.com/office/drawing/2014/main" id="{071F3A82-5A30-B166-98BB-BA722AFD2F11}"/>
              </a:ext>
            </a:extLst>
          </p:cNvPr>
          <p:cNvCxnSpPr>
            <a:cxnSpLocks/>
          </p:cNvCxnSpPr>
          <p:nvPr/>
        </p:nvCxnSpPr>
        <p:spPr>
          <a:xfrm>
            <a:off x="5950741" y="4560196"/>
            <a:ext cx="14382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ZoneTexte 31">
            <a:extLst>
              <a:ext uri="{FF2B5EF4-FFF2-40B4-BE49-F238E27FC236}">
                <a16:creationId xmlns:a16="http://schemas.microsoft.com/office/drawing/2014/main" id="{9D32B349-2A7F-AEE1-EF38-8044CF067513}"/>
              </a:ext>
            </a:extLst>
          </p:cNvPr>
          <p:cNvSpPr txBox="1"/>
          <p:nvPr/>
        </p:nvSpPr>
        <p:spPr>
          <a:xfrm>
            <a:off x="6396511" y="4618619"/>
            <a:ext cx="690533" cy="276999"/>
          </a:xfrm>
          <a:prstGeom prst="rect">
            <a:avLst/>
          </a:prstGeom>
          <a:noFill/>
        </p:spPr>
        <p:txBody>
          <a:bodyPr wrap="square" rtlCol="0">
            <a:spAutoFit/>
          </a:bodyPr>
          <a:lstStyle/>
          <a:p>
            <a:r>
              <a:rPr lang="fr-FR" sz="1200" dirty="0" err="1"/>
              <a:t>entity</a:t>
            </a:r>
            <a:endParaRPr lang="fr-FR" sz="1400" dirty="0"/>
          </a:p>
        </p:txBody>
      </p:sp>
      <p:cxnSp>
        <p:nvCxnSpPr>
          <p:cNvPr id="34" name="Connecteur droit avec flèche 33">
            <a:extLst>
              <a:ext uri="{FF2B5EF4-FFF2-40B4-BE49-F238E27FC236}">
                <a16:creationId xmlns:a16="http://schemas.microsoft.com/office/drawing/2014/main" id="{B445780D-683F-C127-CD54-30C79B04ACE1}"/>
              </a:ext>
            </a:extLst>
          </p:cNvPr>
          <p:cNvCxnSpPr>
            <a:cxnSpLocks/>
            <a:stCxn id="19" idx="3"/>
          </p:cNvCxnSpPr>
          <p:nvPr/>
        </p:nvCxnSpPr>
        <p:spPr>
          <a:xfrm flipV="1">
            <a:off x="9055891" y="3391058"/>
            <a:ext cx="1204819" cy="9722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6F5AA336-5E3C-262B-B774-B9769C1F0306}"/>
              </a:ext>
            </a:extLst>
          </p:cNvPr>
          <p:cNvSpPr txBox="1"/>
          <p:nvPr/>
        </p:nvSpPr>
        <p:spPr>
          <a:xfrm>
            <a:off x="9424982" y="3976903"/>
            <a:ext cx="690533" cy="276999"/>
          </a:xfrm>
          <a:prstGeom prst="rect">
            <a:avLst/>
          </a:prstGeom>
          <a:noFill/>
        </p:spPr>
        <p:txBody>
          <a:bodyPr wrap="square" rtlCol="0">
            <a:spAutoFit/>
          </a:bodyPr>
          <a:lstStyle/>
          <a:p>
            <a:r>
              <a:rPr lang="fr-FR" sz="1200" dirty="0" err="1"/>
              <a:t>entity</a:t>
            </a:r>
            <a:endParaRPr lang="fr-FR" sz="1400" dirty="0"/>
          </a:p>
        </p:txBody>
      </p:sp>
      <p:cxnSp>
        <p:nvCxnSpPr>
          <p:cNvPr id="38" name="Connecteur droit avec flèche 37">
            <a:extLst>
              <a:ext uri="{FF2B5EF4-FFF2-40B4-BE49-F238E27FC236}">
                <a16:creationId xmlns:a16="http://schemas.microsoft.com/office/drawing/2014/main" id="{E3C6576B-BD0A-06CF-A81E-6A6FF4672826}"/>
              </a:ext>
            </a:extLst>
          </p:cNvPr>
          <p:cNvCxnSpPr/>
          <p:nvPr/>
        </p:nvCxnSpPr>
        <p:spPr>
          <a:xfrm flipH="1" flipV="1">
            <a:off x="1454941" y="2826276"/>
            <a:ext cx="252384" cy="10902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ZoneTexte 38">
            <a:extLst>
              <a:ext uri="{FF2B5EF4-FFF2-40B4-BE49-F238E27FC236}">
                <a16:creationId xmlns:a16="http://schemas.microsoft.com/office/drawing/2014/main" id="{9F8DCF4C-50AC-5F36-BA58-2A214C2AAAC7}"/>
              </a:ext>
            </a:extLst>
          </p:cNvPr>
          <p:cNvSpPr txBox="1"/>
          <p:nvPr/>
        </p:nvSpPr>
        <p:spPr>
          <a:xfrm>
            <a:off x="807241" y="3165938"/>
            <a:ext cx="942946" cy="461665"/>
          </a:xfrm>
          <a:prstGeom prst="rect">
            <a:avLst/>
          </a:prstGeom>
          <a:noFill/>
        </p:spPr>
        <p:txBody>
          <a:bodyPr wrap="square" rtlCol="0">
            <a:spAutoFit/>
          </a:bodyPr>
          <a:lstStyle/>
          <a:p>
            <a:r>
              <a:rPr lang="fr-FR" sz="1200" dirty="0"/>
              <a:t>Réponse HTTP</a:t>
            </a:r>
          </a:p>
        </p:txBody>
      </p:sp>
      <p:cxnSp>
        <p:nvCxnSpPr>
          <p:cNvPr id="42" name="Connecteur droit avec flèche 41">
            <a:extLst>
              <a:ext uri="{FF2B5EF4-FFF2-40B4-BE49-F238E27FC236}">
                <a16:creationId xmlns:a16="http://schemas.microsoft.com/office/drawing/2014/main" id="{6F573A86-20A4-4E37-CD2F-DD3008A1A52D}"/>
              </a:ext>
            </a:extLst>
          </p:cNvPr>
          <p:cNvCxnSpPr>
            <a:cxnSpLocks/>
          </p:cNvCxnSpPr>
          <p:nvPr/>
        </p:nvCxnSpPr>
        <p:spPr>
          <a:xfrm flipH="1">
            <a:off x="8953482" y="2997213"/>
            <a:ext cx="1159713" cy="9443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onnecteur droit avec flèche 43">
            <a:extLst>
              <a:ext uri="{FF2B5EF4-FFF2-40B4-BE49-F238E27FC236}">
                <a16:creationId xmlns:a16="http://schemas.microsoft.com/office/drawing/2014/main" id="{E8F62524-AB8B-A012-11A9-0C550A318BE1}"/>
              </a:ext>
            </a:extLst>
          </p:cNvPr>
          <p:cNvCxnSpPr>
            <a:cxnSpLocks/>
          </p:cNvCxnSpPr>
          <p:nvPr/>
        </p:nvCxnSpPr>
        <p:spPr>
          <a:xfrm flipH="1">
            <a:off x="5950741" y="4253902"/>
            <a:ext cx="14382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2DF318B4-91F7-4ADA-D02E-0F87850F5CA6}"/>
              </a:ext>
            </a:extLst>
          </p:cNvPr>
          <p:cNvCxnSpPr>
            <a:cxnSpLocks/>
          </p:cNvCxnSpPr>
          <p:nvPr/>
        </p:nvCxnSpPr>
        <p:spPr>
          <a:xfrm flipH="1">
            <a:off x="3133707" y="4238172"/>
            <a:ext cx="1162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 name="Ellipse 1">
            <a:extLst>
              <a:ext uri="{FF2B5EF4-FFF2-40B4-BE49-F238E27FC236}">
                <a16:creationId xmlns:a16="http://schemas.microsoft.com/office/drawing/2014/main" id="{7262A69B-204E-4C50-6D69-B97CA890C0A3}"/>
              </a:ext>
            </a:extLst>
          </p:cNvPr>
          <p:cNvSpPr/>
          <p:nvPr/>
        </p:nvSpPr>
        <p:spPr>
          <a:xfrm>
            <a:off x="2954102" y="3874006"/>
            <a:ext cx="1497421" cy="1092356"/>
          </a:xfrm>
          <a:prstGeom prst="ellipse">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2B834433-35FA-0484-BD9B-7344F82C4BC0}"/>
              </a:ext>
            </a:extLst>
          </p:cNvPr>
          <p:cNvSpPr/>
          <p:nvPr/>
        </p:nvSpPr>
        <p:spPr>
          <a:xfrm>
            <a:off x="5906464" y="3819740"/>
            <a:ext cx="1497421" cy="1092356"/>
          </a:xfrm>
          <a:prstGeom prst="ellipse">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0B68BDE-251B-4F1E-FF05-4A0A87BCD32A}"/>
              </a:ext>
            </a:extLst>
          </p:cNvPr>
          <p:cNvSpPr/>
          <p:nvPr/>
        </p:nvSpPr>
        <p:spPr>
          <a:xfrm>
            <a:off x="8527648" y="2139778"/>
            <a:ext cx="3207117" cy="2419412"/>
          </a:xfrm>
          <a:prstGeom prst="ellipse">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114399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FA55E-4D1A-7967-C147-0AD09839364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A98922C-F30A-EF16-4194-DE583E46FFAA}"/>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67F20A9C-BF44-CB21-30A2-A675D3D2C487}"/>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09A296B-3055-F47A-42A7-5C9058F17EDF}"/>
              </a:ext>
            </a:extLst>
          </p:cNvPr>
          <p:cNvSpPr txBox="1"/>
          <p:nvPr/>
        </p:nvSpPr>
        <p:spPr>
          <a:xfrm>
            <a:off x="502920" y="118872"/>
            <a:ext cx="1568763" cy="492443"/>
          </a:xfrm>
          <a:prstGeom prst="rect">
            <a:avLst/>
          </a:prstGeom>
          <a:noFill/>
        </p:spPr>
        <p:txBody>
          <a:bodyPr wrap="none">
            <a:spAutoFit/>
          </a:bodyPr>
          <a:lstStyle/>
          <a:p>
            <a:pPr>
              <a:defRPr sz="2600" b="1">
                <a:solidFill>
                  <a:srgbClr val="FFFFFF"/>
                </a:solidFill>
                <a:latin typeface="Aptos Display"/>
              </a:defRPr>
            </a:pPr>
            <a:r>
              <a:rPr lang="fr-FR" dirty="0"/>
              <a:t>Les </a:t>
            </a:r>
            <a:r>
              <a:rPr lang="fr-FR" dirty="0" err="1"/>
              <a:t>Entity</a:t>
            </a:r>
            <a:endParaRPr dirty="0"/>
          </a:p>
        </p:txBody>
      </p:sp>
      <p:sp>
        <p:nvSpPr>
          <p:cNvPr id="8" name="TextBox 7">
            <a:extLst>
              <a:ext uri="{FF2B5EF4-FFF2-40B4-BE49-F238E27FC236}">
                <a16:creationId xmlns:a16="http://schemas.microsoft.com/office/drawing/2014/main" id="{55D888C8-04C0-A3F3-2B56-6F9A1C563BA5}"/>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pic>
        <p:nvPicPr>
          <p:cNvPr id="9" name="Image 8">
            <a:extLst>
              <a:ext uri="{FF2B5EF4-FFF2-40B4-BE49-F238E27FC236}">
                <a16:creationId xmlns:a16="http://schemas.microsoft.com/office/drawing/2014/main" id="{48A23B94-4B04-7165-BF90-FA7B56ECD04F}"/>
              </a:ext>
            </a:extLst>
          </p:cNvPr>
          <p:cNvPicPr>
            <a:picLocks noChangeAspect="1"/>
          </p:cNvPicPr>
          <p:nvPr/>
        </p:nvPicPr>
        <p:blipFill>
          <a:blip r:embed="rId2"/>
          <a:srcRect/>
          <a:stretch/>
        </p:blipFill>
        <p:spPr>
          <a:xfrm>
            <a:off x="6760753" y="1285915"/>
            <a:ext cx="5231277" cy="3974147"/>
          </a:xfrm>
          <a:prstGeom prst="rect">
            <a:avLst/>
          </a:prstGeom>
        </p:spPr>
      </p:pic>
      <p:sp>
        <p:nvSpPr>
          <p:cNvPr id="2" name="Espace réservé du numéro de diapositive 1">
            <a:extLst>
              <a:ext uri="{FF2B5EF4-FFF2-40B4-BE49-F238E27FC236}">
                <a16:creationId xmlns:a16="http://schemas.microsoft.com/office/drawing/2014/main" id="{34D07C90-C065-4903-2444-70C983833B88}"/>
              </a:ext>
            </a:extLst>
          </p:cNvPr>
          <p:cNvSpPr>
            <a:spLocks noGrp="1"/>
          </p:cNvSpPr>
          <p:nvPr>
            <p:ph type="sldNum" sz="quarter" idx="12"/>
          </p:nvPr>
        </p:nvSpPr>
        <p:spPr/>
        <p:txBody>
          <a:bodyPr/>
          <a:lstStyle/>
          <a:p>
            <a:fld id="{C1FF6DA9-008F-8B48-92A6-B652298478BF}" type="slidenum">
              <a:rPr lang="en-US" smtClean="0"/>
              <a:t>22</a:t>
            </a:fld>
            <a:endParaRPr lang="en-US" dirty="0"/>
          </a:p>
        </p:txBody>
      </p:sp>
      <p:sp>
        <p:nvSpPr>
          <p:cNvPr id="6" name="ZoneTexte 5">
            <a:extLst>
              <a:ext uri="{FF2B5EF4-FFF2-40B4-BE49-F238E27FC236}">
                <a16:creationId xmlns:a16="http://schemas.microsoft.com/office/drawing/2014/main" id="{E55C032C-3C0D-51DA-11AE-27DC70FB4E2E}"/>
              </a:ext>
            </a:extLst>
          </p:cNvPr>
          <p:cNvSpPr txBox="1"/>
          <p:nvPr/>
        </p:nvSpPr>
        <p:spPr>
          <a:xfrm>
            <a:off x="422787" y="1278194"/>
            <a:ext cx="5673213" cy="4524315"/>
          </a:xfrm>
          <a:prstGeom prst="rect">
            <a:avLst/>
          </a:prstGeom>
          <a:noFill/>
        </p:spPr>
        <p:txBody>
          <a:bodyPr wrap="square" rtlCol="0">
            <a:spAutoFit/>
          </a:bodyPr>
          <a:lstStyle/>
          <a:p>
            <a:r>
              <a:rPr lang="fr-FR" sz="1600" dirty="0">
                <a:latin typeface="Aptos" panose="020B0004020202020204" pitchFamily="34" charset="0"/>
              </a:rPr>
              <a:t>Une </a:t>
            </a:r>
            <a:r>
              <a:rPr lang="fr-FR" sz="1600" b="1" dirty="0">
                <a:latin typeface="Aptos" panose="020B0004020202020204" pitchFamily="34" charset="0"/>
              </a:rPr>
              <a:t>entité</a:t>
            </a:r>
            <a:r>
              <a:rPr lang="fr-FR" sz="1600" dirty="0">
                <a:latin typeface="Aptos" panose="020B0004020202020204" pitchFamily="34" charset="0"/>
              </a:rPr>
              <a:t> est un objet qui </a:t>
            </a:r>
            <a:r>
              <a:rPr lang="fr-FR" sz="1600" b="1" dirty="0">
                <a:latin typeface="Aptos" panose="020B0004020202020204" pitchFamily="34" charset="0"/>
              </a:rPr>
              <a:t>représente</a:t>
            </a:r>
            <a:r>
              <a:rPr lang="fr-FR" sz="1600" dirty="0">
                <a:latin typeface="Aptos" panose="020B0004020202020204" pitchFamily="34" charset="0"/>
              </a:rPr>
              <a:t> les </a:t>
            </a:r>
            <a:r>
              <a:rPr lang="fr-FR" sz="1600" b="1" dirty="0">
                <a:latin typeface="Aptos" panose="020B0004020202020204" pitchFamily="34" charset="0"/>
              </a:rPr>
              <a:t>données en base de données</a:t>
            </a:r>
            <a:r>
              <a:rPr lang="fr-FR" sz="1600" dirty="0">
                <a:latin typeface="Aptos" panose="020B0004020202020204" pitchFamily="34" charset="0"/>
              </a:rPr>
              <a:t>. C’est une classe Java qui permet de manipuler les objets qu’on souhaite. </a:t>
            </a:r>
          </a:p>
          <a:p>
            <a:endParaRPr lang="fr-FR" sz="1600" dirty="0">
              <a:latin typeface="Aptos" panose="020B0004020202020204" pitchFamily="34" charset="0"/>
            </a:endParaRPr>
          </a:p>
          <a:p>
            <a:r>
              <a:rPr lang="fr-FR" sz="1600" dirty="0">
                <a:latin typeface="Aptos" panose="020B0004020202020204" pitchFamily="34" charset="0"/>
              </a:rPr>
              <a:t>Lorsqu’on la construit il faut mettre l’annotation </a:t>
            </a:r>
            <a:r>
              <a:rPr lang="fr-FR" sz="1600" b="1" dirty="0">
                <a:latin typeface="Aptos" panose="020B0004020202020204" pitchFamily="34" charset="0"/>
              </a:rPr>
              <a:t>@Entity </a:t>
            </a:r>
            <a:r>
              <a:rPr lang="fr-FR" sz="1600" dirty="0">
                <a:latin typeface="Aptos" panose="020B0004020202020204" pitchFamily="34" charset="0"/>
              </a:rPr>
              <a:t>afin que Spring soit en capacité de voir l’objet comme tel et donc de l’utiliser correctement avec JPA.</a:t>
            </a:r>
          </a:p>
          <a:p>
            <a:endParaRPr lang="fr-FR" sz="1600" dirty="0">
              <a:latin typeface="Aptos" panose="020B0004020202020204" pitchFamily="34" charset="0"/>
            </a:endParaRPr>
          </a:p>
          <a:p>
            <a:r>
              <a:rPr lang="fr-FR" sz="1600" dirty="0">
                <a:latin typeface="Aptos" panose="020B0004020202020204" pitchFamily="34" charset="0"/>
              </a:rPr>
              <a:t>Afin de savoir la table en base de données à laquelle l’entité est lié il faut précisé </a:t>
            </a:r>
            <a:r>
              <a:rPr lang="fr-FR" sz="1600" b="1" dirty="0">
                <a:latin typeface="Aptos" panose="020B0004020202020204" pitchFamily="34" charset="0"/>
              </a:rPr>
              <a:t>@Table(name= )</a:t>
            </a:r>
          </a:p>
          <a:p>
            <a:r>
              <a:rPr lang="fr-FR" sz="1600" dirty="0">
                <a:latin typeface="Aptos" panose="020B0004020202020204" pitchFamily="34" charset="0"/>
              </a:rPr>
              <a:t>Pour chaque colonne de la table il faut indiqué le nom de la colonne et indiqué laquelle est la clé primaire.</a:t>
            </a:r>
          </a:p>
          <a:p>
            <a:endParaRPr lang="fr-FR" sz="1600" dirty="0">
              <a:latin typeface="Aptos" panose="020B0004020202020204" pitchFamily="34" charset="0"/>
            </a:endParaRPr>
          </a:p>
          <a:p>
            <a:r>
              <a:rPr lang="fr-FR" sz="1600" dirty="0">
                <a:latin typeface="Aptos" panose="020B0004020202020204" pitchFamily="34" charset="0"/>
              </a:rPr>
              <a:t>Dans l’exemple, on peut voir un nouveau type java : </a:t>
            </a:r>
            <a:r>
              <a:rPr lang="fr-FR" sz="1600" b="1" dirty="0">
                <a:latin typeface="Aptos" panose="020B0004020202020204" pitchFamily="34" charset="0"/>
              </a:rPr>
              <a:t>UUID. </a:t>
            </a:r>
            <a:r>
              <a:rPr lang="fr-FR" sz="1600" dirty="0">
                <a:latin typeface="Aptos" panose="020B0004020202020204" pitchFamily="34" charset="0"/>
              </a:rPr>
              <a:t>Ce type correspond a une chaine de caractère générée aléatoirement. En indiquant </a:t>
            </a:r>
            <a:r>
              <a:rPr lang="fr-FR" sz="1600" b="1" dirty="0">
                <a:latin typeface="Aptos" panose="020B0004020202020204" pitchFamily="34" charset="0"/>
              </a:rPr>
              <a:t>@GeneratedValue(), </a:t>
            </a:r>
            <a:r>
              <a:rPr lang="fr-FR" sz="1600" dirty="0">
                <a:latin typeface="Aptos" panose="020B0004020202020204" pitchFamily="34" charset="0"/>
              </a:rPr>
              <a:t>on indique a Spring qu’il faut créer </a:t>
            </a:r>
            <a:r>
              <a:rPr lang="fr-FR" sz="1600" dirty="0" err="1">
                <a:latin typeface="Aptos" panose="020B0004020202020204" pitchFamily="34" charset="0"/>
              </a:rPr>
              <a:t>l’id</a:t>
            </a:r>
            <a:r>
              <a:rPr lang="fr-FR" sz="1600" dirty="0">
                <a:latin typeface="Aptos" panose="020B0004020202020204" pitchFamily="34" charset="0"/>
              </a:rPr>
              <a:t> au moment du </a:t>
            </a:r>
            <a:r>
              <a:rPr lang="fr-FR" sz="1600" dirty="0" err="1">
                <a:latin typeface="Aptos" panose="020B0004020202020204" pitchFamily="34" charset="0"/>
              </a:rPr>
              <a:t>save</a:t>
            </a:r>
            <a:r>
              <a:rPr lang="fr-FR" sz="1600" dirty="0">
                <a:latin typeface="Aptos" panose="020B0004020202020204" pitchFamily="34" charset="0"/>
              </a:rPr>
              <a:t>(). Il existe de nombreuse stratégie. </a:t>
            </a:r>
          </a:p>
        </p:txBody>
      </p:sp>
    </p:spTree>
    <p:extLst>
      <p:ext uri="{BB962C8B-B14F-4D97-AF65-F5344CB8AC3E}">
        <p14:creationId xmlns:p14="http://schemas.microsoft.com/office/powerpoint/2010/main" val="1375933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E13D1-A531-0F9D-7A3A-4B13A1B4CA0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FBD2155-8FFE-141E-69D3-069B5008F6F3}"/>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11C6F3D1-F2FF-608E-BA89-CCFCFA6AB952}"/>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ED8F1DC3-158A-B42D-5F30-7A1F6809B95E}"/>
              </a:ext>
            </a:extLst>
          </p:cNvPr>
          <p:cNvSpPr txBox="1"/>
          <p:nvPr/>
        </p:nvSpPr>
        <p:spPr>
          <a:xfrm>
            <a:off x="502920" y="118872"/>
            <a:ext cx="1568763" cy="492443"/>
          </a:xfrm>
          <a:prstGeom prst="rect">
            <a:avLst/>
          </a:prstGeom>
          <a:noFill/>
        </p:spPr>
        <p:txBody>
          <a:bodyPr wrap="none">
            <a:spAutoFit/>
          </a:bodyPr>
          <a:lstStyle/>
          <a:p>
            <a:pPr>
              <a:defRPr sz="2600" b="1">
                <a:solidFill>
                  <a:srgbClr val="FFFFFF"/>
                </a:solidFill>
                <a:latin typeface="Aptos Display"/>
              </a:defRPr>
            </a:pPr>
            <a:r>
              <a:rPr lang="fr-FR" dirty="0"/>
              <a:t>Les </a:t>
            </a:r>
            <a:r>
              <a:rPr lang="fr-FR" dirty="0" err="1"/>
              <a:t>Entity</a:t>
            </a:r>
            <a:endParaRPr dirty="0"/>
          </a:p>
        </p:txBody>
      </p:sp>
      <p:sp>
        <p:nvSpPr>
          <p:cNvPr id="8" name="TextBox 7">
            <a:extLst>
              <a:ext uri="{FF2B5EF4-FFF2-40B4-BE49-F238E27FC236}">
                <a16:creationId xmlns:a16="http://schemas.microsoft.com/office/drawing/2014/main" id="{38FE3D68-601E-F28B-C346-4C635D3E8810}"/>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pic>
        <p:nvPicPr>
          <p:cNvPr id="9" name="Image 8">
            <a:extLst>
              <a:ext uri="{FF2B5EF4-FFF2-40B4-BE49-F238E27FC236}">
                <a16:creationId xmlns:a16="http://schemas.microsoft.com/office/drawing/2014/main" id="{9108673C-909F-1A22-9816-D5B4B439B0F0}"/>
              </a:ext>
            </a:extLst>
          </p:cNvPr>
          <p:cNvPicPr>
            <a:picLocks noChangeAspect="1"/>
          </p:cNvPicPr>
          <p:nvPr/>
        </p:nvPicPr>
        <p:blipFill>
          <a:blip r:embed="rId2"/>
          <a:srcRect/>
          <a:stretch/>
        </p:blipFill>
        <p:spPr>
          <a:xfrm>
            <a:off x="7256846" y="1285915"/>
            <a:ext cx="4239090" cy="3974147"/>
          </a:xfrm>
          <a:prstGeom prst="rect">
            <a:avLst/>
          </a:prstGeom>
        </p:spPr>
      </p:pic>
      <p:sp>
        <p:nvSpPr>
          <p:cNvPr id="2" name="Espace réservé du numéro de diapositive 1">
            <a:extLst>
              <a:ext uri="{FF2B5EF4-FFF2-40B4-BE49-F238E27FC236}">
                <a16:creationId xmlns:a16="http://schemas.microsoft.com/office/drawing/2014/main" id="{50B50222-2209-E570-727E-70AF4BE8AE4A}"/>
              </a:ext>
            </a:extLst>
          </p:cNvPr>
          <p:cNvSpPr>
            <a:spLocks noGrp="1"/>
          </p:cNvSpPr>
          <p:nvPr>
            <p:ph type="sldNum" sz="quarter" idx="12"/>
          </p:nvPr>
        </p:nvSpPr>
        <p:spPr/>
        <p:txBody>
          <a:bodyPr/>
          <a:lstStyle/>
          <a:p>
            <a:fld id="{C1FF6DA9-008F-8B48-92A6-B652298478BF}" type="slidenum">
              <a:rPr lang="en-US" smtClean="0"/>
              <a:t>23</a:t>
            </a:fld>
            <a:endParaRPr lang="en-US" dirty="0"/>
          </a:p>
        </p:txBody>
      </p:sp>
      <p:grpSp>
        <p:nvGrpSpPr>
          <p:cNvPr id="11" name="Groupe 10">
            <a:extLst>
              <a:ext uri="{FF2B5EF4-FFF2-40B4-BE49-F238E27FC236}">
                <a16:creationId xmlns:a16="http://schemas.microsoft.com/office/drawing/2014/main" id="{0DB0FD01-AEE3-2E73-E7DC-588594C6E5D9}"/>
              </a:ext>
            </a:extLst>
          </p:cNvPr>
          <p:cNvGrpSpPr/>
          <p:nvPr/>
        </p:nvGrpSpPr>
        <p:grpSpPr>
          <a:xfrm>
            <a:off x="422634" y="1936266"/>
            <a:ext cx="5673213" cy="2800767"/>
            <a:chOff x="422787" y="1278194"/>
            <a:chExt cx="5673213" cy="2800767"/>
          </a:xfrm>
        </p:grpSpPr>
        <p:sp>
          <p:nvSpPr>
            <p:cNvPr id="6" name="ZoneTexte 5">
              <a:extLst>
                <a:ext uri="{FF2B5EF4-FFF2-40B4-BE49-F238E27FC236}">
                  <a16:creationId xmlns:a16="http://schemas.microsoft.com/office/drawing/2014/main" id="{F386AAA0-0B06-514A-B281-605C96E8BC3F}"/>
                </a:ext>
              </a:extLst>
            </p:cNvPr>
            <p:cNvSpPr txBox="1"/>
            <p:nvPr/>
          </p:nvSpPr>
          <p:spPr>
            <a:xfrm>
              <a:off x="422787" y="1278194"/>
              <a:ext cx="5673213" cy="2800767"/>
            </a:xfrm>
            <a:prstGeom prst="rect">
              <a:avLst/>
            </a:prstGeom>
            <a:noFill/>
          </p:spPr>
          <p:txBody>
            <a:bodyPr wrap="square" rtlCol="0">
              <a:spAutoFit/>
            </a:bodyPr>
            <a:lstStyle/>
            <a:p>
              <a:r>
                <a:rPr lang="fr-FR" sz="1600" dirty="0">
                  <a:latin typeface="Aptos" panose="020B0004020202020204" pitchFamily="34" charset="0"/>
                </a:rPr>
                <a:t>Pour aller plus loin, Spring permet d’éviter d’écrire les Getter et les Setter à la main. Pour cela il faut ajouter l’annotation </a:t>
              </a:r>
              <a:r>
                <a:rPr lang="fr-FR" sz="1600" b="1" dirty="0">
                  <a:latin typeface="Aptos" panose="020B0004020202020204" pitchFamily="34" charset="0"/>
                </a:rPr>
                <a:t>@Data </a:t>
              </a:r>
              <a:r>
                <a:rPr lang="fr-FR" sz="1600" dirty="0">
                  <a:latin typeface="Aptos" panose="020B0004020202020204" pitchFamily="34" charset="0"/>
                </a:rPr>
                <a:t>mais celle-ci fonctionne seulement avec </a:t>
              </a:r>
              <a:r>
                <a:rPr lang="fr-FR" sz="1600" b="1" dirty="0">
                  <a:latin typeface="Aptos" panose="020B0004020202020204" pitchFamily="34" charset="0"/>
                </a:rPr>
                <a:t>@NoArgsConstructor. </a:t>
              </a:r>
              <a:endParaRPr lang="fr-FR" sz="1600" dirty="0">
                <a:latin typeface="Aptos" panose="020B0004020202020204" pitchFamily="34" charset="0"/>
              </a:endParaRPr>
            </a:p>
            <a:p>
              <a:r>
                <a:rPr lang="fr-FR" sz="1600" dirty="0">
                  <a:latin typeface="Aptos" panose="020B0004020202020204" pitchFamily="34" charset="0"/>
                </a:rPr>
                <a:t>Une autre possibilité est d’ajouter </a:t>
              </a:r>
              <a:r>
                <a:rPr lang="fr-FR" sz="1600" b="1" dirty="0">
                  <a:latin typeface="Aptos" panose="020B0004020202020204" pitchFamily="34" charset="0"/>
                </a:rPr>
                <a:t>@Builder </a:t>
              </a:r>
              <a:r>
                <a:rPr lang="fr-FR" sz="1600" dirty="0">
                  <a:latin typeface="Aptos" panose="020B0004020202020204" pitchFamily="34" charset="0"/>
                </a:rPr>
                <a:t> qui est associé à </a:t>
              </a:r>
              <a:r>
                <a:rPr lang="fr-FR" sz="1600" b="1" dirty="0">
                  <a:latin typeface="Aptos" panose="020B0004020202020204" pitchFamily="34" charset="0"/>
                </a:rPr>
                <a:t>@AllArgsConstructor</a:t>
              </a:r>
              <a:r>
                <a:rPr lang="fr-FR" sz="1600" dirty="0">
                  <a:latin typeface="Aptos" panose="020B0004020202020204" pitchFamily="34" charset="0"/>
                </a:rPr>
                <a:t>. Celle-ci permet de faire : </a:t>
              </a:r>
            </a:p>
            <a:p>
              <a:endParaRPr lang="fr-FR" sz="1600" b="1" dirty="0">
                <a:latin typeface="Aptos" panose="020B0004020202020204" pitchFamily="34" charset="0"/>
              </a:endParaRPr>
            </a:p>
            <a:p>
              <a:endParaRPr lang="fr-FR" sz="1600" b="1" dirty="0">
                <a:latin typeface="Aptos" panose="020B0004020202020204" pitchFamily="34" charset="0"/>
              </a:endParaRPr>
            </a:p>
            <a:p>
              <a:endParaRPr lang="fr-FR" sz="1600" b="1" dirty="0">
                <a:latin typeface="Aptos" panose="020B0004020202020204" pitchFamily="34" charset="0"/>
              </a:endParaRPr>
            </a:p>
            <a:p>
              <a:endParaRPr lang="fr-FR" sz="1600" b="1" dirty="0">
                <a:latin typeface="Aptos" panose="020B0004020202020204" pitchFamily="34" charset="0"/>
              </a:endParaRPr>
            </a:p>
            <a:p>
              <a:endParaRPr lang="fr-FR" sz="1600" b="1" dirty="0">
                <a:latin typeface="Aptos" panose="020B0004020202020204" pitchFamily="34" charset="0"/>
              </a:endParaRPr>
            </a:p>
          </p:txBody>
        </p:sp>
        <p:pic>
          <p:nvPicPr>
            <p:cNvPr id="10" name="Image 9">
              <a:extLst>
                <a:ext uri="{FF2B5EF4-FFF2-40B4-BE49-F238E27FC236}">
                  <a16:creationId xmlns:a16="http://schemas.microsoft.com/office/drawing/2014/main" id="{BEB99F8D-B7F1-4CF9-9BD4-A47FA66A4363}"/>
                </a:ext>
              </a:extLst>
            </p:cNvPr>
            <p:cNvPicPr>
              <a:picLocks noChangeAspect="1"/>
            </p:cNvPicPr>
            <p:nvPr/>
          </p:nvPicPr>
          <p:blipFill>
            <a:blip r:embed="rId3"/>
            <a:stretch>
              <a:fillRect/>
            </a:stretch>
          </p:blipFill>
          <p:spPr>
            <a:xfrm>
              <a:off x="835742" y="2851093"/>
              <a:ext cx="5260258" cy="547569"/>
            </a:xfrm>
            <a:prstGeom prst="rect">
              <a:avLst/>
            </a:prstGeom>
          </p:spPr>
        </p:pic>
      </p:grpSp>
    </p:spTree>
    <p:extLst>
      <p:ext uri="{BB962C8B-B14F-4D97-AF65-F5344CB8AC3E}">
        <p14:creationId xmlns:p14="http://schemas.microsoft.com/office/powerpoint/2010/main" val="2813992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B465A-CE1C-587F-10BE-8F427479071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A31CF6E-9F24-5CE9-0832-DE3F2DB852FB}"/>
              </a:ext>
            </a:extLst>
          </p:cNvPr>
          <p:cNvSpPr/>
          <p:nvPr/>
        </p:nvSpPr>
        <p:spPr>
          <a:xfrm>
            <a:off x="0" y="0"/>
            <a:ext cx="12191695" cy="685800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8D87893-1645-F258-48C8-70FBDBDF14B1}"/>
              </a:ext>
            </a:extLst>
          </p:cNvPr>
          <p:cNvSpPr txBox="1"/>
          <p:nvPr/>
        </p:nvSpPr>
        <p:spPr>
          <a:xfrm>
            <a:off x="1752447" y="2859613"/>
            <a:ext cx="8686800" cy="615553"/>
          </a:xfrm>
          <a:prstGeom prst="rect">
            <a:avLst/>
          </a:prstGeom>
          <a:noFill/>
        </p:spPr>
        <p:txBody>
          <a:bodyPr wrap="square">
            <a:spAutoFit/>
          </a:bodyPr>
          <a:lstStyle/>
          <a:p>
            <a:pPr algn="ctr">
              <a:defRPr sz="3400" b="1">
                <a:solidFill>
                  <a:srgbClr val="FFFFFF"/>
                </a:solidFill>
                <a:latin typeface="Aptos"/>
              </a:defRPr>
            </a:pPr>
            <a:r>
              <a:rPr lang="fr-FR" dirty="0"/>
              <a:t>Les Repository</a:t>
            </a:r>
            <a:endParaRPr dirty="0"/>
          </a:p>
        </p:txBody>
      </p:sp>
      <p:sp>
        <p:nvSpPr>
          <p:cNvPr id="3" name="Espace réservé du numéro de diapositive 2">
            <a:extLst>
              <a:ext uri="{FF2B5EF4-FFF2-40B4-BE49-F238E27FC236}">
                <a16:creationId xmlns:a16="http://schemas.microsoft.com/office/drawing/2014/main" id="{55A9626D-4D65-ECCA-6FF8-18025A5C8336}"/>
              </a:ext>
            </a:extLst>
          </p:cNvPr>
          <p:cNvSpPr>
            <a:spLocks noGrp="1"/>
          </p:cNvSpPr>
          <p:nvPr>
            <p:ph type="sldNum" sz="quarter" idx="12"/>
          </p:nvPr>
        </p:nvSpPr>
        <p:spPr/>
        <p:txBody>
          <a:bodyPr/>
          <a:lstStyle/>
          <a:p>
            <a:fld id="{C1FF6DA9-008F-8B48-92A6-B652298478BF}" type="slidenum">
              <a:rPr lang="en-US" smtClean="0"/>
              <a:t>24</a:t>
            </a:fld>
            <a:endParaRPr lang="en-US"/>
          </a:p>
        </p:txBody>
      </p:sp>
    </p:spTree>
    <p:extLst>
      <p:ext uri="{BB962C8B-B14F-4D97-AF65-F5344CB8AC3E}">
        <p14:creationId xmlns:p14="http://schemas.microsoft.com/office/powerpoint/2010/main" val="2471343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2DA2D-13E4-7496-6065-BB71EA6F643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FA84C03-F658-65C6-377F-F93A20547B11}"/>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D4A6A5F3-3ED6-04B8-25E1-FE126733DDE8}"/>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61983848-EBBD-8A0C-AD63-7026AD38DD58}"/>
              </a:ext>
            </a:extLst>
          </p:cNvPr>
          <p:cNvSpPr txBox="1"/>
          <p:nvPr/>
        </p:nvSpPr>
        <p:spPr>
          <a:xfrm>
            <a:off x="502920" y="118872"/>
            <a:ext cx="1518942" cy="492443"/>
          </a:xfrm>
          <a:prstGeom prst="rect">
            <a:avLst/>
          </a:prstGeom>
          <a:noFill/>
        </p:spPr>
        <p:txBody>
          <a:bodyPr wrap="none">
            <a:spAutoFit/>
          </a:bodyPr>
          <a:lstStyle/>
          <a:p>
            <a:pPr>
              <a:defRPr sz="2600" b="1">
                <a:solidFill>
                  <a:srgbClr val="FFFFFF"/>
                </a:solidFill>
                <a:latin typeface="Aptos Display"/>
              </a:defRPr>
            </a:pPr>
            <a:r>
              <a:rPr lang="fr-FR" dirty="0"/>
              <a:t>Structure</a:t>
            </a:r>
            <a:endParaRPr dirty="0"/>
          </a:p>
        </p:txBody>
      </p:sp>
      <p:sp>
        <p:nvSpPr>
          <p:cNvPr id="8" name="TextBox 7">
            <a:extLst>
              <a:ext uri="{FF2B5EF4-FFF2-40B4-BE49-F238E27FC236}">
                <a16:creationId xmlns:a16="http://schemas.microsoft.com/office/drawing/2014/main" id="{43ED9378-A6D1-3002-953B-C45DE9FD7A68}"/>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13" name="Espace réservé du numéro de diapositive 12">
            <a:extLst>
              <a:ext uri="{FF2B5EF4-FFF2-40B4-BE49-F238E27FC236}">
                <a16:creationId xmlns:a16="http://schemas.microsoft.com/office/drawing/2014/main" id="{C160DE8C-E5DD-08E6-2F0A-E3C0E5B06CEE}"/>
              </a:ext>
            </a:extLst>
          </p:cNvPr>
          <p:cNvSpPr>
            <a:spLocks noGrp="1"/>
          </p:cNvSpPr>
          <p:nvPr>
            <p:ph type="sldNum" sz="quarter" idx="12"/>
          </p:nvPr>
        </p:nvSpPr>
        <p:spPr/>
        <p:txBody>
          <a:bodyPr/>
          <a:lstStyle/>
          <a:p>
            <a:fld id="{C1FF6DA9-008F-8B48-92A6-B652298478BF}" type="slidenum">
              <a:rPr lang="en-US" smtClean="0"/>
              <a:t>25</a:t>
            </a:fld>
            <a:endParaRPr lang="en-US"/>
          </a:p>
        </p:txBody>
      </p:sp>
      <p:pic>
        <p:nvPicPr>
          <p:cNvPr id="14" name="Image 13">
            <a:extLst>
              <a:ext uri="{FF2B5EF4-FFF2-40B4-BE49-F238E27FC236}">
                <a16:creationId xmlns:a16="http://schemas.microsoft.com/office/drawing/2014/main" id="{B653F9EE-092A-7869-17D0-062E52B57A0F}"/>
              </a:ext>
            </a:extLst>
          </p:cNvPr>
          <p:cNvPicPr>
            <a:picLocks noChangeAspect="1"/>
          </p:cNvPicPr>
          <p:nvPr/>
        </p:nvPicPr>
        <p:blipFill>
          <a:blip r:embed="rId2"/>
          <a:stretch>
            <a:fillRect/>
          </a:stretch>
        </p:blipFill>
        <p:spPr>
          <a:xfrm>
            <a:off x="1192946" y="1736641"/>
            <a:ext cx="1095432" cy="1146383"/>
          </a:xfrm>
          <a:prstGeom prst="rect">
            <a:avLst/>
          </a:prstGeom>
        </p:spPr>
      </p:pic>
      <p:sp>
        <p:nvSpPr>
          <p:cNvPr id="15" name="Rectangle : coins arrondis 14">
            <a:extLst>
              <a:ext uri="{FF2B5EF4-FFF2-40B4-BE49-F238E27FC236}">
                <a16:creationId xmlns:a16="http://schemas.microsoft.com/office/drawing/2014/main" id="{E0FF9B41-0849-1533-3807-460447DF4AC2}"/>
              </a:ext>
            </a:extLst>
          </p:cNvPr>
          <p:cNvSpPr/>
          <p:nvPr/>
        </p:nvSpPr>
        <p:spPr>
          <a:xfrm>
            <a:off x="1454941"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err="1">
                <a:solidFill>
                  <a:schemeClr val="tx1"/>
                </a:solidFill>
              </a:rPr>
              <a:t>Controlleur</a:t>
            </a:r>
            <a:endParaRPr lang="fr-FR" dirty="0">
              <a:solidFill>
                <a:schemeClr val="tx1"/>
              </a:solidFill>
            </a:endParaRPr>
          </a:p>
        </p:txBody>
      </p:sp>
      <p:sp>
        <p:nvSpPr>
          <p:cNvPr id="17" name="Rectangle : coins arrondis 16">
            <a:extLst>
              <a:ext uri="{FF2B5EF4-FFF2-40B4-BE49-F238E27FC236}">
                <a16:creationId xmlns:a16="http://schemas.microsoft.com/office/drawing/2014/main" id="{4C67FAB7-4D03-EBDC-2C97-46B2EC547EE5}"/>
              </a:ext>
            </a:extLst>
          </p:cNvPr>
          <p:cNvSpPr/>
          <p:nvPr/>
        </p:nvSpPr>
        <p:spPr>
          <a:xfrm>
            <a:off x="4283866"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solidFill>
                  <a:schemeClr val="tx1"/>
                </a:solidFill>
              </a:rPr>
              <a:t>Service</a:t>
            </a:r>
          </a:p>
        </p:txBody>
      </p:sp>
      <p:sp>
        <p:nvSpPr>
          <p:cNvPr id="19" name="Rectangle : coins arrondis 18">
            <a:extLst>
              <a:ext uri="{FF2B5EF4-FFF2-40B4-BE49-F238E27FC236}">
                <a16:creationId xmlns:a16="http://schemas.microsoft.com/office/drawing/2014/main" id="{7FF94EAE-E6DB-7734-5606-4BC0ED29A1CD}"/>
              </a:ext>
            </a:extLst>
          </p:cNvPr>
          <p:cNvSpPr/>
          <p:nvPr/>
        </p:nvSpPr>
        <p:spPr>
          <a:xfrm>
            <a:off x="7389016"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solidFill>
                  <a:schemeClr val="tx1"/>
                </a:solidFill>
              </a:rPr>
              <a:t>Repository</a:t>
            </a:r>
          </a:p>
        </p:txBody>
      </p:sp>
      <p:grpSp>
        <p:nvGrpSpPr>
          <p:cNvPr id="21" name="Groupe 20">
            <a:extLst>
              <a:ext uri="{FF2B5EF4-FFF2-40B4-BE49-F238E27FC236}">
                <a16:creationId xmlns:a16="http://schemas.microsoft.com/office/drawing/2014/main" id="{1A5D2919-0544-05B9-2916-4C1618D05F8E}"/>
              </a:ext>
            </a:extLst>
          </p:cNvPr>
          <p:cNvGrpSpPr/>
          <p:nvPr/>
        </p:nvGrpSpPr>
        <p:grpSpPr>
          <a:xfrm>
            <a:off x="10003567" y="2207240"/>
            <a:ext cx="1281173" cy="1552639"/>
            <a:chOff x="9634476" y="1876361"/>
            <a:chExt cx="1281173" cy="1552639"/>
          </a:xfrm>
        </p:grpSpPr>
        <p:pic>
          <p:nvPicPr>
            <p:cNvPr id="11" name="Image 10">
              <a:extLst>
                <a:ext uri="{FF2B5EF4-FFF2-40B4-BE49-F238E27FC236}">
                  <a16:creationId xmlns:a16="http://schemas.microsoft.com/office/drawing/2014/main" id="{F6B54616-0E77-60C3-690F-0CD9AFFA2A48}"/>
                </a:ext>
              </a:extLst>
            </p:cNvPr>
            <p:cNvPicPr>
              <a:picLocks noChangeAspect="1"/>
            </p:cNvPicPr>
            <p:nvPr/>
          </p:nvPicPr>
          <p:blipFill>
            <a:blip r:embed="rId3"/>
            <a:stretch>
              <a:fillRect/>
            </a:stretch>
          </p:blipFill>
          <p:spPr>
            <a:xfrm>
              <a:off x="9634476" y="1876361"/>
              <a:ext cx="1281173" cy="1351568"/>
            </a:xfrm>
            <a:prstGeom prst="rect">
              <a:avLst/>
            </a:prstGeom>
          </p:spPr>
        </p:pic>
        <p:sp>
          <p:nvSpPr>
            <p:cNvPr id="20" name="ZoneTexte 19">
              <a:extLst>
                <a:ext uri="{FF2B5EF4-FFF2-40B4-BE49-F238E27FC236}">
                  <a16:creationId xmlns:a16="http://schemas.microsoft.com/office/drawing/2014/main" id="{230DC20A-A042-4B60-8568-396DE7FFF978}"/>
                </a:ext>
              </a:extLst>
            </p:cNvPr>
            <p:cNvSpPr txBox="1"/>
            <p:nvPr/>
          </p:nvSpPr>
          <p:spPr>
            <a:xfrm>
              <a:off x="10003599" y="3121223"/>
              <a:ext cx="542925" cy="307777"/>
            </a:xfrm>
            <a:prstGeom prst="rect">
              <a:avLst/>
            </a:prstGeom>
            <a:noFill/>
          </p:spPr>
          <p:txBody>
            <a:bodyPr wrap="square" rtlCol="0">
              <a:spAutoFit/>
            </a:bodyPr>
            <a:lstStyle/>
            <a:p>
              <a:r>
                <a:rPr lang="fr-FR" sz="1400" dirty="0"/>
                <a:t>BDD</a:t>
              </a:r>
              <a:endParaRPr lang="fr-FR" dirty="0"/>
            </a:p>
          </p:txBody>
        </p:sp>
      </p:grpSp>
      <p:cxnSp>
        <p:nvCxnSpPr>
          <p:cNvPr id="23" name="Connecteur droit avec flèche 22">
            <a:extLst>
              <a:ext uri="{FF2B5EF4-FFF2-40B4-BE49-F238E27FC236}">
                <a16:creationId xmlns:a16="http://schemas.microsoft.com/office/drawing/2014/main" id="{A1B6C14A-763E-C740-400C-D8F0D912CA1A}"/>
              </a:ext>
            </a:extLst>
          </p:cNvPr>
          <p:cNvCxnSpPr>
            <a:stCxn id="14" idx="2"/>
            <a:endCxn id="15" idx="0"/>
          </p:cNvCxnSpPr>
          <p:nvPr/>
        </p:nvCxnSpPr>
        <p:spPr>
          <a:xfrm>
            <a:off x="1740662" y="2883024"/>
            <a:ext cx="547717" cy="10864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ZoneTexte 23">
            <a:extLst>
              <a:ext uri="{FF2B5EF4-FFF2-40B4-BE49-F238E27FC236}">
                <a16:creationId xmlns:a16="http://schemas.microsoft.com/office/drawing/2014/main" id="{F9E25B6C-0936-6B3A-B3A7-7C83C09920BB}"/>
              </a:ext>
            </a:extLst>
          </p:cNvPr>
          <p:cNvSpPr txBox="1"/>
          <p:nvPr/>
        </p:nvSpPr>
        <p:spPr>
          <a:xfrm>
            <a:off x="2064510" y="2826276"/>
            <a:ext cx="1281173" cy="646331"/>
          </a:xfrm>
          <a:prstGeom prst="rect">
            <a:avLst/>
          </a:prstGeom>
          <a:noFill/>
        </p:spPr>
        <p:txBody>
          <a:bodyPr wrap="square" rtlCol="0">
            <a:spAutoFit/>
          </a:bodyPr>
          <a:lstStyle/>
          <a:p>
            <a:r>
              <a:rPr lang="fr-FR" sz="1200" dirty="0"/>
              <a:t>Envoie d’une requête par un utilisateur</a:t>
            </a:r>
          </a:p>
        </p:txBody>
      </p:sp>
      <p:sp>
        <p:nvSpPr>
          <p:cNvPr id="25" name="ZoneTexte 24">
            <a:extLst>
              <a:ext uri="{FF2B5EF4-FFF2-40B4-BE49-F238E27FC236}">
                <a16:creationId xmlns:a16="http://schemas.microsoft.com/office/drawing/2014/main" id="{84277689-79C5-030C-018A-0864FB9E0D01}"/>
              </a:ext>
            </a:extLst>
          </p:cNvPr>
          <p:cNvSpPr txBox="1"/>
          <p:nvPr/>
        </p:nvSpPr>
        <p:spPr>
          <a:xfrm>
            <a:off x="1707325" y="4828812"/>
            <a:ext cx="1162050" cy="276999"/>
          </a:xfrm>
          <a:prstGeom prst="rect">
            <a:avLst/>
          </a:prstGeom>
          <a:noFill/>
        </p:spPr>
        <p:txBody>
          <a:bodyPr wrap="square" rtlCol="0">
            <a:spAutoFit/>
          </a:bodyPr>
          <a:lstStyle/>
          <a:p>
            <a:r>
              <a:rPr lang="fr-FR" sz="1200" dirty="0"/>
              <a:t>DTO &lt;-&gt; </a:t>
            </a:r>
            <a:r>
              <a:rPr lang="fr-FR" sz="1200" dirty="0" err="1"/>
              <a:t>Entity</a:t>
            </a:r>
            <a:endParaRPr lang="fr-FR" sz="1200" dirty="0"/>
          </a:p>
        </p:txBody>
      </p:sp>
      <p:cxnSp>
        <p:nvCxnSpPr>
          <p:cNvPr id="27" name="Connecteur droit avec flèche 26">
            <a:extLst>
              <a:ext uri="{FF2B5EF4-FFF2-40B4-BE49-F238E27FC236}">
                <a16:creationId xmlns:a16="http://schemas.microsoft.com/office/drawing/2014/main" id="{1050C002-9562-9F29-96E1-AB7D39495432}"/>
              </a:ext>
            </a:extLst>
          </p:cNvPr>
          <p:cNvCxnSpPr>
            <a:cxnSpLocks/>
          </p:cNvCxnSpPr>
          <p:nvPr/>
        </p:nvCxnSpPr>
        <p:spPr>
          <a:xfrm>
            <a:off x="3121816" y="4544517"/>
            <a:ext cx="1162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ZoneTexte 27">
            <a:extLst>
              <a:ext uri="{FF2B5EF4-FFF2-40B4-BE49-F238E27FC236}">
                <a16:creationId xmlns:a16="http://schemas.microsoft.com/office/drawing/2014/main" id="{B9DE30CA-139E-2B4E-CDEF-9D0BA8F7F7EC}"/>
              </a:ext>
            </a:extLst>
          </p:cNvPr>
          <p:cNvSpPr txBox="1"/>
          <p:nvPr/>
        </p:nvSpPr>
        <p:spPr>
          <a:xfrm>
            <a:off x="3369466" y="4560196"/>
            <a:ext cx="690533" cy="276999"/>
          </a:xfrm>
          <a:prstGeom prst="rect">
            <a:avLst/>
          </a:prstGeom>
          <a:noFill/>
        </p:spPr>
        <p:txBody>
          <a:bodyPr wrap="square" rtlCol="0">
            <a:spAutoFit/>
          </a:bodyPr>
          <a:lstStyle/>
          <a:p>
            <a:r>
              <a:rPr lang="fr-FR" sz="1200" dirty="0" err="1"/>
              <a:t>entity</a:t>
            </a:r>
            <a:endParaRPr lang="fr-FR" sz="1400" dirty="0"/>
          </a:p>
        </p:txBody>
      </p:sp>
      <p:cxnSp>
        <p:nvCxnSpPr>
          <p:cNvPr id="30" name="Connecteur droit avec flèche 29">
            <a:extLst>
              <a:ext uri="{FF2B5EF4-FFF2-40B4-BE49-F238E27FC236}">
                <a16:creationId xmlns:a16="http://schemas.microsoft.com/office/drawing/2014/main" id="{AA21867C-D63A-A581-71D5-65AAE709F449}"/>
              </a:ext>
            </a:extLst>
          </p:cNvPr>
          <p:cNvCxnSpPr>
            <a:cxnSpLocks/>
          </p:cNvCxnSpPr>
          <p:nvPr/>
        </p:nvCxnSpPr>
        <p:spPr>
          <a:xfrm>
            <a:off x="5950741" y="4560196"/>
            <a:ext cx="14382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ZoneTexte 31">
            <a:extLst>
              <a:ext uri="{FF2B5EF4-FFF2-40B4-BE49-F238E27FC236}">
                <a16:creationId xmlns:a16="http://schemas.microsoft.com/office/drawing/2014/main" id="{40A26544-8A7A-45A3-5F08-B139CAE9DDE9}"/>
              </a:ext>
            </a:extLst>
          </p:cNvPr>
          <p:cNvSpPr txBox="1"/>
          <p:nvPr/>
        </p:nvSpPr>
        <p:spPr>
          <a:xfrm>
            <a:off x="6396511" y="4618619"/>
            <a:ext cx="690533" cy="276999"/>
          </a:xfrm>
          <a:prstGeom prst="rect">
            <a:avLst/>
          </a:prstGeom>
          <a:noFill/>
        </p:spPr>
        <p:txBody>
          <a:bodyPr wrap="square" rtlCol="0">
            <a:spAutoFit/>
          </a:bodyPr>
          <a:lstStyle/>
          <a:p>
            <a:r>
              <a:rPr lang="fr-FR" sz="1200" dirty="0" err="1"/>
              <a:t>entity</a:t>
            </a:r>
            <a:endParaRPr lang="fr-FR" sz="1400" dirty="0"/>
          </a:p>
        </p:txBody>
      </p:sp>
      <p:cxnSp>
        <p:nvCxnSpPr>
          <p:cNvPr id="34" name="Connecteur droit avec flèche 33">
            <a:extLst>
              <a:ext uri="{FF2B5EF4-FFF2-40B4-BE49-F238E27FC236}">
                <a16:creationId xmlns:a16="http://schemas.microsoft.com/office/drawing/2014/main" id="{2099CDB0-5927-869E-B141-B783846CCC88}"/>
              </a:ext>
            </a:extLst>
          </p:cNvPr>
          <p:cNvCxnSpPr>
            <a:cxnSpLocks/>
            <a:stCxn id="19" idx="3"/>
          </p:cNvCxnSpPr>
          <p:nvPr/>
        </p:nvCxnSpPr>
        <p:spPr>
          <a:xfrm flipV="1">
            <a:off x="9055891" y="3391058"/>
            <a:ext cx="1204819" cy="9722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5186A329-3984-859E-9C13-8F2196B13929}"/>
              </a:ext>
            </a:extLst>
          </p:cNvPr>
          <p:cNvSpPr txBox="1"/>
          <p:nvPr/>
        </p:nvSpPr>
        <p:spPr>
          <a:xfrm>
            <a:off x="9424982" y="3976903"/>
            <a:ext cx="690533" cy="276999"/>
          </a:xfrm>
          <a:prstGeom prst="rect">
            <a:avLst/>
          </a:prstGeom>
          <a:noFill/>
        </p:spPr>
        <p:txBody>
          <a:bodyPr wrap="square" rtlCol="0">
            <a:spAutoFit/>
          </a:bodyPr>
          <a:lstStyle/>
          <a:p>
            <a:r>
              <a:rPr lang="fr-FR" sz="1200" dirty="0" err="1"/>
              <a:t>entity</a:t>
            </a:r>
            <a:endParaRPr lang="fr-FR" sz="1400" dirty="0"/>
          </a:p>
        </p:txBody>
      </p:sp>
      <p:cxnSp>
        <p:nvCxnSpPr>
          <p:cNvPr id="38" name="Connecteur droit avec flèche 37">
            <a:extLst>
              <a:ext uri="{FF2B5EF4-FFF2-40B4-BE49-F238E27FC236}">
                <a16:creationId xmlns:a16="http://schemas.microsoft.com/office/drawing/2014/main" id="{D71A2F96-F434-A6C7-A2BB-4468207C9931}"/>
              </a:ext>
            </a:extLst>
          </p:cNvPr>
          <p:cNvCxnSpPr/>
          <p:nvPr/>
        </p:nvCxnSpPr>
        <p:spPr>
          <a:xfrm flipH="1" flipV="1">
            <a:off x="1454941" y="2826276"/>
            <a:ext cx="252384" cy="10902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ZoneTexte 38">
            <a:extLst>
              <a:ext uri="{FF2B5EF4-FFF2-40B4-BE49-F238E27FC236}">
                <a16:creationId xmlns:a16="http://schemas.microsoft.com/office/drawing/2014/main" id="{09F2F75D-ED4D-5598-E8FC-2BB63A5DE59F}"/>
              </a:ext>
            </a:extLst>
          </p:cNvPr>
          <p:cNvSpPr txBox="1"/>
          <p:nvPr/>
        </p:nvSpPr>
        <p:spPr>
          <a:xfrm>
            <a:off x="807241" y="3165938"/>
            <a:ext cx="942946" cy="461665"/>
          </a:xfrm>
          <a:prstGeom prst="rect">
            <a:avLst/>
          </a:prstGeom>
          <a:noFill/>
        </p:spPr>
        <p:txBody>
          <a:bodyPr wrap="square" rtlCol="0">
            <a:spAutoFit/>
          </a:bodyPr>
          <a:lstStyle/>
          <a:p>
            <a:r>
              <a:rPr lang="fr-FR" sz="1200" dirty="0"/>
              <a:t>Réponse HTTP</a:t>
            </a:r>
          </a:p>
        </p:txBody>
      </p:sp>
      <p:cxnSp>
        <p:nvCxnSpPr>
          <p:cNvPr id="42" name="Connecteur droit avec flèche 41">
            <a:extLst>
              <a:ext uri="{FF2B5EF4-FFF2-40B4-BE49-F238E27FC236}">
                <a16:creationId xmlns:a16="http://schemas.microsoft.com/office/drawing/2014/main" id="{F4899373-8DF8-3C59-CD7C-5BE63F0F9276}"/>
              </a:ext>
            </a:extLst>
          </p:cNvPr>
          <p:cNvCxnSpPr>
            <a:cxnSpLocks/>
          </p:cNvCxnSpPr>
          <p:nvPr/>
        </p:nvCxnSpPr>
        <p:spPr>
          <a:xfrm flipH="1">
            <a:off x="8953482" y="2997213"/>
            <a:ext cx="1159713" cy="9443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onnecteur droit avec flèche 43">
            <a:extLst>
              <a:ext uri="{FF2B5EF4-FFF2-40B4-BE49-F238E27FC236}">
                <a16:creationId xmlns:a16="http://schemas.microsoft.com/office/drawing/2014/main" id="{7095DCA6-5FEE-B5FC-8D21-9D48F0545DEF}"/>
              </a:ext>
            </a:extLst>
          </p:cNvPr>
          <p:cNvCxnSpPr>
            <a:cxnSpLocks/>
          </p:cNvCxnSpPr>
          <p:nvPr/>
        </p:nvCxnSpPr>
        <p:spPr>
          <a:xfrm flipH="1">
            <a:off x="5950741" y="4253902"/>
            <a:ext cx="14382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ADAB0334-5C5E-B6CE-B300-2CB11FDBBAB3}"/>
              </a:ext>
            </a:extLst>
          </p:cNvPr>
          <p:cNvCxnSpPr>
            <a:cxnSpLocks/>
          </p:cNvCxnSpPr>
          <p:nvPr/>
        </p:nvCxnSpPr>
        <p:spPr>
          <a:xfrm flipH="1">
            <a:off x="3133707" y="4238172"/>
            <a:ext cx="1162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Ellipse 9">
            <a:extLst>
              <a:ext uri="{FF2B5EF4-FFF2-40B4-BE49-F238E27FC236}">
                <a16:creationId xmlns:a16="http://schemas.microsoft.com/office/drawing/2014/main" id="{443EA784-C02C-5987-D5F9-28A807A9C7EE}"/>
              </a:ext>
            </a:extLst>
          </p:cNvPr>
          <p:cNvSpPr/>
          <p:nvPr/>
        </p:nvSpPr>
        <p:spPr>
          <a:xfrm>
            <a:off x="6872820" y="1575662"/>
            <a:ext cx="4922444" cy="4301262"/>
          </a:xfrm>
          <a:prstGeom prst="ellipse">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83810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BF6DC-62F4-4C24-171D-7A4F24084EA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A2A66C5-229A-149A-8F22-A64C65AF284F}"/>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50701A07-574C-B2AB-F689-5A7628F1E68F}"/>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0E9D8810-B002-1039-8645-EABE4583C390}"/>
              </a:ext>
            </a:extLst>
          </p:cNvPr>
          <p:cNvSpPr txBox="1"/>
          <p:nvPr/>
        </p:nvSpPr>
        <p:spPr>
          <a:xfrm>
            <a:off x="502920" y="118872"/>
            <a:ext cx="2285562" cy="492443"/>
          </a:xfrm>
          <a:prstGeom prst="rect">
            <a:avLst/>
          </a:prstGeom>
          <a:noFill/>
        </p:spPr>
        <p:txBody>
          <a:bodyPr wrap="none">
            <a:spAutoFit/>
          </a:bodyPr>
          <a:lstStyle/>
          <a:p>
            <a:pPr>
              <a:defRPr sz="2600" b="1">
                <a:solidFill>
                  <a:srgbClr val="FFFFFF"/>
                </a:solidFill>
                <a:latin typeface="Aptos Display"/>
              </a:defRPr>
            </a:pPr>
            <a:r>
              <a:rPr lang="fr-FR" dirty="0"/>
              <a:t>Les Repository</a:t>
            </a:r>
            <a:endParaRPr dirty="0"/>
          </a:p>
        </p:txBody>
      </p:sp>
      <p:sp>
        <p:nvSpPr>
          <p:cNvPr id="7" name="TextBox 6">
            <a:extLst>
              <a:ext uri="{FF2B5EF4-FFF2-40B4-BE49-F238E27FC236}">
                <a16:creationId xmlns:a16="http://schemas.microsoft.com/office/drawing/2014/main" id="{C984468B-6ED7-BD90-D96A-ABBD90E9DD75}"/>
              </a:ext>
            </a:extLst>
          </p:cNvPr>
          <p:cNvSpPr txBox="1"/>
          <p:nvPr/>
        </p:nvSpPr>
        <p:spPr>
          <a:xfrm>
            <a:off x="265961" y="1120676"/>
            <a:ext cx="5723359" cy="3785652"/>
          </a:xfrm>
          <a:prstGeom prst="rect">
            <a:avLst/>
          </a:prstGeom>
          <a:noFill/>
        </p:spPr>
        <p:txBody>
          <a:bodyPr wrap="square">
            <a:spAutoFit/>
          </a:bodyPr>
          <a:lstStyle/>
          <a:p>
            <a:pPr algn="just"/>
            <a:r>
              <a:rPr lang="fr-FR" sz="1600" dirty="0">
                <a:latin typeface="Aptos" panose="020B0004020202020204" pitchFamily="34" charset="0"/>
              </a:rPr>
              <a:t>Pour </a:t>
            </a:r>
            <a:r>
              <a:rPr lang="fr-FR" sz="1600" b="1" dirty="0">
                <a:latin typeface="Aptos" panose="020B0004020202020204" pitchFamily="34" charset="0"/>
              </a:rPr>
              <a:t>communiquer</a:t>
            </a:r>
            <a:r>
              <a:rPr lang="fr-FR" sz="1600" dirty="0">
                <a:latin typeface="Aptos" panose="020B0004020202020204" pitchFamily="34" charset="0"/>
              </a:rPr>
              <a:t> avec la base de données, nous pouvons utiliser des </a:t>
            </a:r>
            <a:r>
              <a:rPr lang="fr-FR" sz="1600" b="1" dirty="0">
                <a:latin typeface="Aptos" panose="020B0004020202020204" pitchFamily="34" charset="0"/>
              </a:rPr>
              <a:t>repositories</a:t>
            </a:r>
            <a:r>
              <a:rPr lang="fr-FR" sz="1600" dirty="0">
                <a:latin typeface="Aptos" panose="020B0004020202020204" pitchFamily="34" charset="0"/>
              </a:rPr>
              <a:t>.</a:t>
            </a:r>
          </a:p>
          <a:p>
            <a:pPr algn="just"/>
            <a:br>
              <a:rPr lang="fr-FR" sz="1600" dirty="0">
                <a:latin typeface="Aptos" panose="020B0004020202020204" pitchFamily="34" charset="0"/>
              </a:rPr>
            </a:br>
            <a:r>
              <a:rPr lang="fr-FR" sz="1600" dirty="0">
                <a:latin typeface="Aptos" panose="020B0004020202020204" pitchFamily="34" charset="0"/>
              </a:rPr>
              <a:t>Pour faciliter les traitements nous allons utiliser JPA. </a:t>
            </a:r>
          </a:p>
          <a:p>
            <a:pPr algn="just"/>
            <a:endParaRPr lang="fr-FR" sz="1600" dirty="0">
              <a:latin typeface="Aptos" panose="020B0004020202020204" pitchFamily="34" charset="0"/>
            </a:endParaRPr>
          </a:p>
          <a:p>
            <a:pPr algn="just"/>
            <a:r>
              <a:rPr lang="fr-FR" sz="1600" b="1" dirty="0">
                <a:latin typeface="Aptos" panose="020B0004020202020204" pitchFamily="34" charset="0"/>
              </a:rPr>
              <a:t>JPA</a:t>
            </a:r>
            <a:r>
              <a:rPr lang="fr-FR" sz="1600" dirty="0">
                <a:latin typeface="Aptos" panose="020B0004020202020204" pitchFamily="34" charset="0"/>
              </a:rPr>
              <a:t> (</a:t>
            </a:r>
            <a:r>
              <a:rPr lang="fr-FR" sz="1600" i="1" dirty="0">
                <a:latin typeface="Aptos" panose="020B0004020202020204" pitchFamily="34" charset="0"/>
              </a:rPr>
              <a:t>Java </a:t>
            </a:r>
            <a:r>
              <a:rPr lang="fr-FR" sz="1600" i="1" dirty="0" err="1">
                <a:latin typeface="Aptos" panose="020B0004020202020204" pitchFamily="34" charset="0"/>
              </a:rPr>
              <a:t>Persistence</a:t>
            </a:r>
            <a:r>
              <a:rPr lang="fr-FR" sz="1600" i="1" dirty="0">
                <a:latin typeface="Aptos" panose="020B0004020202020204" pitchFamily="34" charset="0"/>
              </a:rPr>
              <a:t> API</a:t>
            </a:r>
            <a:r>
              <a:rPr lang="fr-FR" sz="1600" dirty="0">
                <a:latin typeface="Aptos" panose="020B0004020202020204" pitchFamily="34" charset="0"/>
              </a:rPr>
              <a:t>) est une spécification Java qui définit une manière standard de sauvegarder et de récupérer des objets Java dans une base de données relationnelle.</a:t>
            </a:r>
          </a:p>
          <a:p>
            <a:pPr algn="just"/>
            <a:r>
              <a:rPr lang="fr-FR" sz="1600" dirty="0">
                <a:latin typeface="Aptos" panose="020B0004020202020204" pitchFamily="34" charset="0"/>
              </a:rPr>
              <a:t>Elle permet de faire le lien entre :</a:t>
            </a:r>
          </a:p>
          <a:p>
            <a:pPr marL="285750" indent="-285750" algn="just">
              <a:buFont typeface="Arial" panose="020B0604020202020204" pitchFamily="34" charset="0"/>
              <a:buChar char="•"/>
            </a:pPr>
            <a:r>
              <a:rPr lang="fr-FR" sz="1600" dirty="0">
                <a:latin typeface="Aptos" panose="020B0004020202020204" pitchFamily="34" charset="0"/>
              </a:rPr>
              <a:t>les </a:t>
            </a:r>
            <a:r>
              <a:rPr lang="fr-FR" sz="1600" b="1" dirty="0">
                <a:latin typeface="Aptos" panose="020B0004020202020204" pitchFamily="34" charset="0"/>
              </a:rPr>
              <a:t>classes Java</a:t>
            </a:r>
            <a:r>
              <a:rPr lang="fr-FR" sz="1600" dirty="0">
                <a:latin typeface="Aptos" panose="020B0004020202020204" pitchFamily="34" charset="0"/>
              </a:rPr>
              <a:t>, appelées entités </a:t>
            </a:r>
          </a:p>
          <a:p>
            <a:pPr marL="285750" indent="-285750" algn="just">
              <a:buFont typeface="Arial" panose="020B0604020202020204" pitchFamily="34" charset="0"/>
              <a:buChar char="•"/>
            </a:pPr>
            <a:r>
              <a:rPr lang="fr-FR" sz="1600" dirty="0">
                <a:latin typeface="Aptos" panose="020B0004020202020204" pitchFamily="34" charset="0"/>
              </a:rPr>
              <a:t>les </a:t>
            </a:r>
            <a:r>
              <a:rPr lang="fr-FR" sz="1600" b="1" dirty="0">
                <a:latin typeface="Aptos" panose="020B0004020202020204" pitchFamily="34" charset="0"/>
              </a:rPr>
              <a:t>tables</a:t>
            </a:r>
            <a:r>
              <a:rPr lang="fr-FR" sz="1600" dirty="0">
                <a:latin typeface="Aptos" panose="020B0004020202020204" pitchFamily="34" charset="0"/>
              </a:rPr>
              <a:t> de la base de données</a:t>
            </a:r>
          </a:p>
          <a:p>
            <a:pPr marL="285750" indent="-285750" algn="just">
              <a:buFont typeface="Arial" panose="020B0604020202020204" pitchFamily="34" charset="0"/>
              <a:buChar char="•"/>
            </a:pPr>
            <a:r>
              <a:rPr lang="fr-FR" sz="1600" dirty="0">
                <a:latin typeface="Aptos" panose="020B0004020202020204" pitchFamily="34" charset="0"/>
              </a:rPr>
              <a:t>les </a:t>
            </a:r>
            <a:r>
              <a:rPr lang="fr-FR" sz="1600" b="1" dirty="0">
                <a:latin typeface="Aptos" panose="020B0004020202020204" pitchFamily="34" charset="0"/>
              </a:rPr>
              <a:t>attributs</a:t>
            </a:r>
            <a:r>
              <a:rPr lang="fr-FR" sz="1600" dirty="0">
                <a:latin typeface="Aptos" panose="020B0004020202020204" pitchFamily="34" charset="0"/>
              </a:rPr>
              <a:t> des classes</a:t>
            </a:r>
          </a:p>
          <a:p>
            <a:pPr marL="285750" indent="-285750" algn="just">
              <a:buFont typeface="Arial" panose="020B0604020202020204" pitchFamily="34" charset="0"/>
              <a:buChar char="•"/>
            </a:pPr>
            <a:r>
              <a:rPr lang="fr-FR" sz="1600" dirty="0">
                <a:latin typeface="Aptos" panose="020B0004020202020204" pitchFamily="34" charset="0"/>
              </a:rPr>
              <a:t>les </a:t>
            </a:r>
            <a:r>
              <a:rPr lang="fr-FR" sz="1600" b="1" dirty="0">
                <a:latin typeface="Aptos" panose="020B0004020202020204" pitchFamily="34" charset="0"/>
              </a:rPr>
              <a:t>colonnes</a:t>
            </a:r>
            <a:r>
              <a:rPr lang="fr-FR" sz="1600" dirty="0">
                <a:latin typeface="Aptos" panose="020B0004020202020204" pitchFamily="34" charset="0"/>
              </a:rPr>
              <a:t> des tables</a:t>
            </a:r>
          </a:p>
          <a:p>
            <a:pPr algn="just"/>
            <a:endParaRPr lang="fr-FR" sz="1600" dirty="0">
              <a:latin typeface="Aptos" panose="020B0004020202020204" pitchFamily="34" charset="0"/>
            </a:endParaRPr>
          </a:p>
          <a:p>
            <a:endParaRPr lang="fr-FR" sz="1600" dirty="0">
              <a:latin typeface="Aptos" panose="020B0004020202020204" pitchFamily="34" charset="0"/>
            </a:endParaRPr>
          </a:p>
        </p:txBody>
      </p:sp>
      <p:sp>
        <p:nvSpPr>
          <p:cNvPr id="8" name="TextBox 7">
            <a:extLst>
              <a:ext uri="{FF2B5EF4-FFF2-40B4-BE49-F238E27FC236}">
                <a16:creationId xmlns:a16="http://schemas.microsoft.com/office/drawing/2014/main" id="{7E66ABD6-D2E6-3059-0712-83DA6C0A97D6}"/>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pic>
        <p:nvPicPr>
          <p:cNvPr id="9" name="Image 8">
            <a:extLst>
              <a:ext uri="{FF2B5EF4-FFF2-40B4-BE49-F238E27FC236}">
                <a16:creationId xmlns:a16="http://schemas.microsoft.com/office/drawing/2014/main" id="{E45A3A2C-E986-7099-3E52-0CC342E2C81B}"/>
              </a:ext>
            </a:extLst>
          </p:cNvPr>
          <p:cNvPicPr>
            <a:picLocks noChangeAspect="1"/>
          </p:cNvPicPr>
          <p:nvPr/>
        </p:nvPicPr>
        <p:blipFill>
          <a:blip r:embed="rId2"/>
          <a:srcRect/>
          <a:stretch/>
        </p:blipFill>
        <p:spPr>
          <a:xfrm>
            <a:off x="6100061" y="2433379"/>
            <a:ext cx="5886199" cy="1991242"/>
          </a:xfrm>
          <a:prstGeom prst="rect">
            <a:avLst/>
          </a:prstGeom>
        </p:spPr>
      </p:pic>
      <p:sp>
        <p:nvSpPr>
          <p:cNvPr id="2" name="Espace réservé du numéro de diapositive 1">
            <a:extLst>
              <a:ext uri="{FF2B5EF4-FFF2-40B4-BE49-F238E27FC236}">
                <a16:creationId xmlns:a16="http://schemas.microsoft.com/office/drawing/2014/main" id="{2182A41C-0718-3DBC-2AE0-846CFD9E8A45}"/>
              </a:ext>
            </a:extLst>
          </p:cNvPr>
          <p:cNvSpPr>
            <a:spLocks noGrp="1"/>
          </p:cNvSpPr>
          <p:nvPr>
            <p:ph type="sldNum" sz="quarter" idx="12"/>
          </p:nvPr>
        </p:nvSpPr>
        <p:spPr/>
        <p:txBody>
          <a:bodyPr/>
          <a:lstStyle/>
          <a:p>
            <a:fld id="{C1FF6DA9-008F-8B48-92A6-B652298478BF}" type="slidenum">
              <a:rPr lang="en-US" smtClean="0"/>
              <a:t>26</a:t>
            </a:fld>
            <a:endParaRPr lang="en-US" dirty="0"/>
          </a:p>
        </p:txBody>
      </p:sp>
      <p:cxnSp>
        <p:nvCxnSpPr>
          <p:cNvPr id="14" name="Connecteur : en arc 13">
            <a:extLst>
              <a:ext uri="{FF2B5EF4-FFF2-40B4-BE49-F238E27FC236}">
                <a16:creationId xmlns:a16="http://schemas.microsoft.com/office/drawing/2014/main" id="{8FFA6D39-C141-C7CD-C206-2AD30E7C8FDF}"/>
              </a:ext>
            </a:extLst>
          </p:cNvPr>
          <p:cNvCxnSpPr/>
          <p:nvPr/>
        </p:nvCxnSpPr>
        <p:spPr>
          <a:xfrm rot="16200000" flipV="1">
            <a:off x="10466440" y="1863213"/>
            <a:ext cx="884903" cy="658761"/>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ZoneTexte 14">
            <a:extLst>
              <a:ext uri="{FF2B5EF4-FFF2-40B4-BE49-F238E27FC236}">
                <a16:creationId xmlns:a16="http://schemas.microsoft.com/office/drawing/2014/main" id="{62FE8863-84F3-FECA-AF35-C7A81CFC48D1}"/>
              </a:ext>
            </a:extLst>
          </p:cNvPr>
          <p:cNvSpPr txBox="1"/>
          <p:nvPr/>
        </p:nvSpPr>
        <p:spPr>
          <a:xfrm>
            <a:off x="9871588" y="1194863"/>
            <a:ext cx="1366684" cy="584775"/>
          </a:xfrm>
          <a:prstGeom prst="rect">
            <a:avLst/>
          </a:prstGeom>
          <a:noFill/>
        </p:spPr>
        <p:txBody>
          <a:bodyPr wrap="square" rtlCol="0">
            <a:spAutoFit/>
          </a:bodyPr>
          <a:lstStyle/>
          <a:p>
            <a:r>
              <a:rPr lang="fr-FR" sz="1600" dirty="0"/>
              <a:t>Type de </a:t>
            </a:r>
            <a:r>
              <a:rPr lang="fr-FR" sz="1600" dirty="0" err="1"/>
              <a:t>l’id</a:t>
            </a:r>
            <a:r>
              <a:rPr lang="fr-FR" sz="1600" dirty="0"/>
              <a:t> de l’entité</a:t>
            </a:r>
          </a:p>
        </p:txBody>
      </p:sp>
    </p:spTree>
    <p:extLst>
      <p:ext uri="{BB962C8B-B14F-4D97-AF65-F5344CB8AC3E}">
        <p14:creationId xmlns:p14="http://schemas.microsoft.com/office/powerpoint/2010/main" val="2358431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8F8AB-9149-BA96-1ADA-15B0C714670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6A91862-52DB-5A13-FB69-7BD264061272}"/>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B4DDB195-2238-B786-F56A-747F706C8624}"/>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DFFE8EB0-77E5-515D-4B01-209EDDE660B5}"/>
              </a:ext>
            </a:extLst>
          </p:cNvPr>
          <p:cNvSpPr txBox="1"/>
          <p:nvPr/>
        </p:nvSpPr>
        <p:spPr>
          <a:xfrm>
            <a:off x="502920" y="118872"/>
            <a:ext cx="2285562" cy="492443"/>
          </a:xfrm>
          <a:prstGeom prst="rect">
            <a:avLst/>
          </a:prstGeom>
          <a:noFill/>
        </p:spPr>
        <p:txBody>
          <a:bodyPr wrap="none">
            <a:spAutoFit/>
          </a:bodyPr>
          <a:lstStyle/>
          <a:p>
            <a:pPr>
              <a:defRPr sz="2600" b="1">
                <a:solidFill>
                  <a:srgbClr val="FFFFFF"/>
                </a:solidFill>
                <a:latin typeface="Aptos Display"/>
              </a:defRPr>
            </a:pPr>
            <a:r>
              <a:rPr lang="fr-FR" dirty="0"/>
              <a:t>Les Repository</a:t>
            </a:r>
            <a:endParaRPr dirty="0"/>
          </a:p>
        </p:txBody>
      </p:sp>
      <p:sp>
        <p:nvSpPr>
          <p:cNvPr id="7" name="TextBox 6">
            <a:extLst>
              <a:ext uri="{FF2B5EF4-FFF2-40B4-BE49-F238E27FC236}">
                <a16:creationId xmlns:a16="http://schemas.microsoft.com/office/drawing/2014/main" id="{71DF2664-996D-5A08-3239-F484B7539F6F}"/>
              </a:ext>
            </a:extLst>
          </p:cNvPr>
          <p:cNvSpPr txBox="1"/>
          <p:nvPr/>
        </p:nvSpPr>
        <p:spPr>
          <a:xfrm>
            <a:off x="209954" y="1309922"/>
            <a:ext cx="5723359" cy="4524315"/>
          </a:xfrm>
          <a:prstGeom prst="rect">
            <a:avLst/>
          </a:prstGeom>
          <a:noFill/>
        </p:spPr>
        <p:txBody>
          <a:bodyPr wrap="square">
            <a:spAutoFit/>
          </a:bodyPr>
          <a:lstStyle/>
          <a:p>
            <a:pPr algn="just"/>
            <a:endParaRPr lang="fr-FR" sz="1600" dirty="0">
              <a:latin typeface="Aptos" panose="020B0004020202020204" pitchFamily="34" charset="0"/>
            </a:endParaRPr>
          </a:p>
          <a:p>
            <a:pPr algn="just"/>
            <a:r>
              <a:rPr lang="fr-FR" sz="1600" dirty="0">
                <a:latin typeface="Aptos" panose="020B0004020202020204" pitchFamily="34" charset="0"/>
              </a:rPr>
              <a:t>En étendant une interface comme </a:t>
            </a:r>
            <a:r>
              <a:rPr lang="fr-FR" sz="1600" b="1" dirty="0" err="1">
                <a:latin typeface="Aptos" panose="020B0004020202020204" pitchFamily="34" charset="0"/>
              </a:rPr>
              <a:t>JpaRepository</a:t>
            </a:r>
            <a:r>
              <a:rPr lang="fr-FR" sz="1600" dirty="0">
                <a:latin typeface="Aptos" panose="020B0004020202020204" pitchFamily="34" charset="0"/>
              </a:rPr>
              <a:t>, nous bénéficions de nombreuses méthodes déjà implémentées, par exemple :</a:t>
            </a:r>
          </a:p>
          <a:p>
            <a:pPr algn="just"/>
            <a:r>
              <a:rPr lang="fr-FR" sz="1600" b="1" dirty="0" err="1">
                <a:latin typeface="Aptos" panose="020B0004020202020204" pitchFamily="34" charset="0"/>
              </a:rPr>
              <a:t>findAll</a:t>
            </a:r>
            <a:r>
              <a:rPr lang="fr-FR" sz="1600" b="1" dirty="0">
                <a:latin typeface="Aptos" panose="020B0004020202020204" pitchFamily="34" charset="0"/>
              </a:rPr>
              <a:t>()</a:t>
            </a:r>
            <a:r>
              <a:rPr lang="fr-FR" sz="1600" dirty="0">
                <a:latin typeface="Aptos" panose="020B0004020202020204" pitchFamily="34" charset="0"/>
              </a:rPr>
              <a:t> pour récupérer toutes les entités ;</a:t>
            </a:r>
          </a:p>
          <a:p>
            <a:pPr algn="just"/>
            <a:r>
              <a:rPr lang="fr-FR" sz="1600" b="1" dirty="0" err="1">
                <a:latin typeface="Aptos" panose="020B0004020202020204" pitchFamily="34" charset="0"/>
              </a:rPr>
              <a:t>findById</a:t>
            </a:r>
            <a:r>
              <a:rPr lang="fr-FR" sz="1600" b="1" dirty="0">
                <a:latin typeface="Aptos" panose="020B0004020202020204" pitchFamily="34" charset="0"/>
              </a:rPr>
              <a:t>()</a:t>
            </a:r>
            <a:r>
              <a:rPr lang="fr-FR" sz="1600" dirty="0">
                <a:latin typeface="Aptos" panose="020B0004020202020204" pitchFamily="34" charset="0"/>
              </a:rPr>
              <a:t> pour rechercher une entité par son identifiant ;</a:t>
            </a:r>
          </a:p>
          <a:p>
            <a:pPr algn="just"/>
            <a:r>
              <a:rPr lang="fr-FR" sz="1600" b="1" dirty="0" err="1">
                <a:latin typeface="Aptos" panose="020B0004020202020204" pitchFamily="34" charset="0"/>
              </a:rPr>
              <a:t>save</a:t>
            </a:r>
            <a:r>
              <a:rPr lang="fr-FR" sz="1600" b="1" dirty="0">
                <a:latin typeface="Aptos" panose="020B0004020202020204" pitchFamily="34" charset="0"/>
              </a:rPr>
              <a:t>()</a:t>
            </a:r>
            <a:r>
              <a:rPr lang="fr-FR" sz="1600" dirty="0">
                <a:latin typeface="Aptos" panose="020B0004020202020204" pitchFamily="34" charset="0"/>
              </a:rPr>
              <a:t> pour insérer ou modifier une entité ;</a:t>
            </a:r>
          </a:p>
          <a:p>
            <a:pPr algn="just"/>
            <a:r>
              <a:rPr lang="fr-FR" sz="1600" b="1" dirty="0" err="1">
                <a:latin typeface="Aptos" panose="020B0004020202020204" pitchFamily="34" charset="0"/>
              </a:rPr>
              <a:t>deleteById</a:t>
            </a:r>
            <a:r>
              <a:rPr lang="fr-FR" sz="1600" b="1" dirty="0">
                <a:latin typeface="Aptos" panose="020B0004020202020204" pitchFamily="34" charset="0"/>
              </a:rPr>
              <a:t>()</a:t>
            </a:r>
            <a:r>
              <a:rPr lang="fr-FR" sz="1600" dirty="0">
                <a:latin typeface="Aptos" panose="020B0004020202020204" pitchFamily="34" charset="0"/>
              </a:rPr>
              <a:t> pour supprimer une entité.</a:t>
            </a:r>
          </a:p>
          <a:p>
            <a:pPr algn="just"/>
            <a:endParaRPr lang="fr-FR" sz="1600" dirty="0">
              <a:latin typeface="Aptos" panose="020B0004020202020204" pitchFamily="34" charset="0"/>
            </a:endParaRPr>
          </a:p>
          <a:p>
            <a:pPr algn="just"/>
            <a:r>
              <a:rPr lang="fr-FR" sz="1600" dirty="0">
                <a:latin typeface="Aptos" panose="020B0004020202020204" pitchFamily="34" charset="0"/>
              </a:rPr>
              <a:t>Spring Data JPA permet également de créer certaines requêtes simplement en respectant une </a:t>
            </a:r>
            <a:r>
              <a:rPr lang="fr-FR" sz="1600" b="1" dirty="0">
                <a:latin typeface="Aptos" panose="020B0004020202020204" pitchFamily="34" charset="0"/>
              </a:rPr>
              <a:t>convention de nommage</a:t>
            </a:r>
            <a:r>
              <a:rPr lang="fr-FR" sz="1600" dirty="0">
                <a:latin typeface="Aptos" panose="020B0004020202020204" pitchFamily="34" charset="0"/>
              </a:rPr>
              <a:t>. </a:t>
            </a:r>
          </a:p>
          <a:p>
            <a:pPr algn="just"/>
            <a:r>
              <a:rPr lang="fr-FR" sz="1600" dirty="0">
                <a:latin typeface="Aptos" panose="020B0004020202020204" pitchFamily="34" charset="0"/>
              </a:rPr>
              <a:t>Par exemple : </a:t>
            </a:r>
            <a:r>
              <a:rPr lang="fr-FR" sz="1600" dirty="0" err="1">
                <a:latin typeface="Aptos" panose="020B0004020202020204" pitchFamily="34" charset="0"/>
              </a:rPr>
              <a:t>findByNameOrderByName</a:t>
            </a:r>
            <a:r>
              <a:rPr lang="fr-FR" sz="1600" dirty="0">
                <a:latin typeface="Aptos" panose="020B0004020202020204" pitchFamily="34" charset="0"/>
              </a:rPr>
              <a:t>(String </a:t>
            </a:r>
            <a:r>
              <a:rPr lang="fr-FR" sz="1600" dirty="0" err="1">
                <a:latin typeface="Aptos" panose="020B0004020202020204" pitchFamily="34" charset="0"/>
              </a:rPr>
              <a:t>name</a:t>
            </a:r>
            <a:r>
              <a:rPr lang="fr-FR" sz="1600" dirty="0">
                <a:latin typeface="Aptos" panose="020B0004020202020204" pitchFamily="34" charset="0"/>
              </a:rPr>
              <a:t>)</a:t>
            </a:r>
          </a:p>
          <a:p>
            <a:pPr algn="just"/>
            <a:endParaRPr lang="fr-FR" sz="1600" dirty="0">
              <a:latin typeface="Aptos" panose="020B0004020202020204" pitchFamily="34" charset="0"/>
            </a:endParaRPr>
          </a:p>
          <a:p>
            <a:pPr algn="just"/>
            <a:r>
              <a:rPr lang="fr-FR" sz="1600" dirty="0">
                <a:latin typeface="Aptos" panose="020B0004020202020204" pitchFamily="34" charset="0"/>
              </a:rPr>
              <a:t>Pour préciser la requête que nous allons faire on met l’annotation </a:t>
            </a:r>
            <a:r>
              <a:rPr lang="fr-FR" sz="1600" b="1" dirty="0">
                <a:latin typeface="Aptos" panose="020B0004020202020204" pitchFamily="34" charset="0"/>
              </a:rPr>
              <a:t>@Query. </a:t>
            </a:r>
            <a:r>
              <a:rPr lang="fr-FR" sz="1600" dirty="0">
                <a:latin typeface="Aptos" panose="020B0004020202020204" pitchFamily="34" charset="0"/>
              </a:rPr>
              <a:t>Il est important de noter que certaines requêtes ne sont pas supportées dans ce cas il faut préciser </a:t>
            </a:r>
            <a:r>
              <a:rPr lang="fr-FR" sz="1600" dirty="0" err="1">
                <a:latin typeface="Aptos" panose="020B0004020202020204" pitchFamily="34" charset="0"/>
              </a:rPr>
              <a:t>nativeQuery</a:t>
            </a:r>
            <a:r>
              <a:rPr lang="fr-FR" sz="1600" dirty="0">
                <a:latin typeface="Aptos" panose="020B0004020202020204" pitchFamily="34" charset="0"/>
              </a:rPr>
              <a:t>=</a:t>
            </a:r>
            <a:r>
              <a:rPr lang="fr-FR" sz="1600" dirty="0" err="1">
                <a:latin typeface="Aptos" panose="020B0004020202020204" pitchFamily="34" charset="0"/>
              </a:rPr>
              <a:t>true</a:t>
            </a:r>
            <a:r>
              <a:rPr lang="fr-FR" sz="1600" dirty="0">
                <a:latin typeface="Aptos" panose="020B0004020202020204" pitchFamily="34" charset="0"/>
              </a:rPr>
              <a:t>. De plus si on veut faire un </a:t>
            </a:r>
            <a:r>
              <a:rPr lang="fr-FR" sz="1600" dirty="0" err="1">
                <a:latin typeface="Aptos" panose="020B0004020202020204" pitchFamily="34" charset="0"/>
              </a:rPr>
              <a:t>delete</a:t>
            </a:r>
            <a:r>
              <a:rPr lang="fr-FR" sz="1600" dirty="0">
                <a:latin typeface="Aptos" panose="020B0004020202020204" pitchFamily="34" charset="0"/>
              </a:rPr>
              <a:t> il est important de mettre en plus </a:t>
            </a:r>
            <a:r>
              <a:rPr lang="fr-FR" sz="1600" b="1" dirty="0">
                <a:latin typeface="Aptos" panose="020B0004020202020204" pitchFamily="34" charset="0"/>
              </a:rPr>
              <a:t>@Modifying</a:t>
            </a:r>
          </a:p>
        </p:txBody>
      </p:sp>
      <p:sp>
        <p:nvSpPr>
          <p:cNvPr id="8" name="TextBox 7">
            <a:extLst>
              <a:ext uri="{FF2B5EF4-FFF2-40B4-BE49-F238E27FC236}">
                <a16:creationId xmlns:a16="http://schemas.microsoft.com/office/drawing/2014/main" id="{3849E9FD-4A33-D010-133D-C223B4087233}"/>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pic>
        <p:nvPicPr>
          <p:cNvPr id="9" name="Image 8">
            <a:extLst>
              <a:ext uri="{FF2B5EF4-FFF2-40B4-BE49-F238E27FC236}">
                <a16:creationId xmlns:a16="http://schemas.microsoft.com/office/drawing/2014/main" id="{296179A5-500B-94D1-0C9E-FF15281E5AE1}"/>
              </a:ext>
            </a:extLst>
          </p:cNvPr>
          <p:cNvPicPr>
            <a:picLocks noChangeAspect="1"/>
          </p:cNvPicPr>
          <p:nvPr/>
        </p:nvPicPr>
        <p:blipFill>
          <a:blip r:embed="rId2"/>
          <a:srcRect/>
          <a:stretch/>
        </p:blipFill>
        <p:spPr>
          <a:xfrm>
            <a:off x="6095847" y="1036467"/>
            <a:ext cx="5886199" cy="1991242"/>
          </a:xfrm>
          <a:prstGeom prst="rect">
            <a:avLst/>
          </a:prstGeom>
        </p:spPr>
      </p:pic>
      <p:sp>
        <p:nvSpPr>
          <p:cNvPr id="2" name="Espace réservé du numéro de diapositive 1">
            <a:extLst>
              <a:ext uri="{FF2B5EF4-FFF2-40B4-BE49-F238E27FC236}">
                <a16:creationId xmlns:a16="http://schemas.microsoft.com/office/drawing/2014/main" id="{1515C3D3-00AD-9FD2-7953-00184DF7085F}"/>
              </a:ext>
            </a:extLst>
          </p:cNvPr>
          <p:cNvSpPr>
            <a:spLocks noGrp="1"/>
          </p:cNvSpPr>
          <p:nvPr>
            <p:ph type="sldNum" sz="quarter" idx="12"/>
          </p:nvPr>
        </p:nvSpPr>
        <p:spPr/>
        <p:txBody>
          <a:bodyPr/>
          <a:lstStyle/>
          <a:p>
            <a:fld id="{C1FF6DA9-008F-8B48-92A6-B652298478BF}" type="slidenum">
              <a:rPr lang="en-US" smtClean="0"/>
              <a:t>27</a:t>
            </a:fld>
            <a:endParaRPr lang="en-US" dirty="0"/>
          </a:p>
        </p:txBody>
      </p:sp>
      <p:grpSp>
        <p:nvGrpSpPr>
          <p:cNvPr id="12" name="Groupe 11">
            <a:extLst>
              <a:ext uri="{FF2B5EF4-FFF2-40B4-BE49-F238E27FC236}">
                <a16:creationId xmlns:a16="http://schemas.microsoft.com/office/drawing/2014/main" id="{B91FF3F7-2840-A95E-6823-A2F79D1E5B36}"/>
              </a:ext>
            </a:extLst>
          </p:cNvPr>
          <p:cNvGrpSpPr/>
          <p:nvPr/>
        </p:nvGrpSpPr>
        <p:grpSpPr>
          <a:xfrm>
            <a:off x="7620000" y="3112408"/>
            <a:ext cx="2585884" cy="3321031"/>
            <a:chOff x="7620000" y="3112408"/>
            <a:chExt cx="2585884" cy="3321031"/>
          </a:xfrm>
        </p:grpSpPr>
        <p:pic>
          <p:nvPicPr>
            <p:cNvPr id="10" name="Image 9">
              <a:extLst>
                <a:ext uri="{FF2B5EF4-FFF2-40B4-BE49-F238E27FC236}">
                  <a16:creationId xmlns:a16="http://schemas.microsoft.com/office/drawing/2014/main" id="{4C84D6CD-9774-2A30-5E55-B17BFE657B6B}"/>
                </a:ext>
              </a:extLst>
            </p:cNvPr>
            <p:cNvPicPr>
              <a:picLocks noChangeAspect="1"/>
            </p:cNvPicPr>
            <p:nvPr/>
          </p:nvPicPr>
          <p:blipFill>
            <a:blip r:embed="rId3"/>
            <a:stretch>
              <a:fillRect/>
            </a:stretch>
          </p:blipFill>
          <p:spPr>
            <a:xfrm>
              <a:off x="7620000" y="3112408"/>
              <a:ext cx="2320413" cy="3166853"/>
            </a:xfrm>
            <a:prstGeom prst="rect">
              <a:avLst/>
            </a:prstGeom>
          </p:spPr>
        </p:pic>
        <p:sp>
          <p:nvSpPr>
            <p:cNvPr id="11" name="Rectangle 10">
              <a:extLst>
                <a:ext uri="{FF2B5EF4-FFF2-40B4-BE49-F238E27FC236}">
                  <a16:creationId xmlns:a16="http://schemas.microsoft.com/office/drawing/2014/main" id="{B94B486F-A24F-3161-E0E8-F1EEF3AF454E}"/>
                </a:ext>
              </a:extLst>
            </p:cNvPr>
            <p:cNvSpPr/>
            <p:nvPr/>
          </p:nvSpPr>
          <p:spPr>
            <a:xfrm>
              <a:off x="9615948" y="6017342"/>
              <a:ext cx="589936" cy="41609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noFill/>
              </a:endParaRPr>
            </a:p>
          </p:txBody>
        </p:sp>
      </p:grpSp>
    </p:spTree>
    <p:extLst>
      <p:ext uri="{BB962C8B-B14F-4D97-AF65-F5344CB8AC3E}">
        <p14:creationId xmlns:p14="http://schemas.microsoft.com/office/powerpoint/2010/main" val="31830697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128FA-023E-917C-7702-C17C09DE76E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57CC55B-0DE4-84E6-D9B3-B1E60132A67E}"/>
              </a:ext>
            </a:extLst>
          </p:cNvPr>
          <p:cNvSpPr/>
          <p:nvPr/>
        </p:nvSpPr>
        <p:spPr>
          <a:xfrm>
            <a:off x="0" y="0"/>
            <a:ext cx="12191695" cy="685800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55B85D9B-2536-B4A6-AD88-BE08BC1B9418}"/>
              </a:ext>
            </a:extLst>
          </p:cNvPr>
          <p:cNvSpPr txBox="1"/>
          <p:nvPr/>
        </p:nvSpPr>
        <p:spPr>
          <a:xfrm>
            <a:off x="1752447" y="2859613"/>
            <a:ext cx="8686800" cy="615553"/>
          </a:xfrm>
          <a:prstGeom prst="rect">
            <a:avLst/>
          </a:prstGeom>
          <a:noFill/>
        </p:spPr>
        <p:txBody>
          <a:bodyPr wrap="square">
            <a:spAutoFit/>
          </a:bodyPr>
          <a:lstStyle/>
          <a:p>
            <a:pPr algn="ctr">
              <a:defRPr sz="3400" b="1">
                <a:solidFill>
                  <a:srgbClr val="FFFFFF"/>
                </a:solidFill>
                <a:latin typeface="Aptos"/>
              </a:defRPr>
            </a:pPr>
            <a:r>
              <a:rPr lang="fr-FR" dirty="0"/>
              <a:t>Les DTO</a:t>
            </a:r>
            <a:endParaRPr dirty="0"/>
          </a:p>
        </p:txBody>
      </p:sp>
      <p:sp>
        <p:nvSpPr>
          <p:cNvPr id="3" name="Espace réservé du numéro de diapositive 2">
            <a:extLst>
              <a:ext uri="{FF2B5EF4-FFF2-40B4-BE49-F238E27FC236}">
                <a16:creationId xmlns:a16="http://schemas.microsoft.com/office/drawing/2014/main" id="{B07C6F9C-C7FF-B429-6377-96318641E4F8}"/>
              </a:ext>
            </a:extLst>
          </p:cNvPr>
          <p:cNvSpPr>
            <a:spLocks noGrp="1"/>
          </p:cNvSpPr>
          <p:nvPr>
            <p:ph type="sldNum" sz="quarter" idx="12"/>
          </p:nvPr>
        </p:nvSpPr>
        <p:spPr/>
        <p:txBody>
          <a:bodyPr/>
          <a:lstStyle/>
          <a:p>
            <a:fld id="{C1FF6DA9-008F-8B48-92A6-B652298478BF}" type="slidenum">
              <a:rPr lang="en-US" smtClean="0"/>
              <a:t>28</a:t>
            </a:fld>
            <a:endParaRPr lang="en-US"/>
          </a:p>
        </p:txBody>
      </p:sp>
    </p:spTree>
    <p:extLst>
      <p:ext uri="{BB962C8B-B14F-4D97-AF65-F5344CB8AC3E}">
        <p14:creationId xmlns:p14="http://schemas.microsoft.com/office/powerpoint/2010/main" val="4264517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1D487-DB5C-0B2E-E9C1-3FC9E64FF27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60E6CC4-CC6D-10AB-D1F1-997EBA62D3F4}"/>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D7A2385B-3B85-E539-41D2-471DAED8FA40}"/>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257D840F-8DA3-B973-0176-CAFC476213F1}"/>
              </a:ext>
            </a:extLst>
          </p:cNvPr>
          <p:cNvSpPr txBox="1"/>
          <p:nvPr/>
        </p:nvSpPr>
        <p:spPr>
          <a:xfrm>
            <a:off x="502920" y="118872"/>
            <a:ext cx="1518942" cy="492443"/>
          </a:xfrm>
          <a:prstGeom prst="rect">
            <a:avLst/>
          </a:prstGeom>
          <a:noFill/>
        </p:spPr>
        <p:txBody>
          <a:bodyPr wrap="none">
            <a:spAutoFit/>
          </a:bodyPr>
          <a:lstStyle/>
          <a:p>
            <a:pPr>
              <a:defRPr sz="2600" b="1">
                <a:solidFill>
                  <a:srgbClr val="FFFFFF"/>
                </a:solidFill>
                <a:latin typeface="Aptos Display"/>
              </a:defRPr>
            </a:pPr>
            <a:r>
              <a:rPr lang="fr-FR" dirty="0"/>
              <a:t>Structure</a:t>
            </a:r>
            <a:endParaRPr dirty="0"/>
          </a:p>
        </p:txBody>
      </p:sp>
      <p:sp>
        <p:nvSpPr>
          <p:cNvPr id="8" name="TextBox 7">
            <a:extLst>
              <a:ext uri="{FF2B5EF4-FFF2-40B4-BE49-F238E27FC236}">
                <a16:creationId xmlns:a16="http://schemas.microsoft.com/office/drawing/2014/main" id="{1D606AAA-A945-7EE1-58CE-22377CDAEDA9}"/>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13" name="Espace réservé du numéro de diapositive 12">
            <a:extLst>
              <a:ext uri="{FF2B5EF4-FFF2-40B4-BE49-F238E27FC236}">
                <a16:creationId xmlns:a16="http://schemas.microsoft.com/office/drawing/2014/main" id="{2F597001-554E-B772-C6CF-39A81EBB8873}"/>
              </a:ext>
            </a:extLst>
          </p:cNvPr>
          <p:cNvSpPr>
            <a:spLocks noGrp="1"/>
          </p:cNvSpPr>
          <p:nvPr>
            <p:ph type="sldNum" sz="quarter" idx="12"/>
          </p:nvPr>
        </p:nvSpPr>
        <p:spPr/>
        <p:txBody>
          <a:bodyPr/>
          <a:lstStyle/>
          <a:p>
            <a:fld id="{C1FF6DA9-008F-8B48-92A6-B652298478BF}" type="slidenum">
              <a:rPr lang="en-US" smtClean="0"/>
              <a:t>29</a:t>
            </a:fld>
            <a:endParaRPr lang="en-US"/>
          </a:p>
        </p:txBody>
      </p:sp>
      <p:pic>
        <p:nvPicPr>
          <p:cNvPr id="14" name="Image 13">
            <a:extLst>
              <a:ext uri="{FF2B5EF4-FFF2-40B4-BE49-F238E27FC236}">
                <a16:creationId xmlns:a16="http://schemas.microsoft.com/office/drawing/2014/main" id="{593513B9-2A4F-371C-33A7-36D05228F0F8}"/>
              </a:ext>
            </a:extLst>
          </p:cNvPr>
          <p:cNvPicPr>
            <a:picLocks noChangeAspect="1"/>
          </p:cNvPicPr>
          <p:nvPr/>
        </p:nvPicPr>
        <p:blipFill>
          <a:blip r:embed="rId2"/>
          <a:stretch>
            <a:fillRect/>
          </a:stretch>
        </p:blipFill>
        <p:spPr>
          <a:xfrm>
            <a:off x="1192946" y="1736641"/>
            <a:ext cx="1095432" cy="1146383"/>
          </a:xfrm>
          <a:prstGeom prst="rect">
            <a:avLst/>
          </a:prstGeom>
        </p:spPr>
      </p:pic>
      <p:sp>
        <p:nvSpPr>
          <p:cNvPr id="15" name="Rectangle : coins arrondis 14">
            <a:extLst>
              <a:ext uri="{FF2B5EF4-FFF2-40B4-BE49-F238E27FC236}">
                <a16:creationId xmlns:a16="http://schemas.microsoft.com/office/drawing/2014/main" id="{8247D67B-A6FD-D583-8F6D-AB2C15F68302}"/>
              </a:ext>
            </a:extLst>
          </p:cNvPr>
          <p:cNvSpPr/>
          <p:nvPr/>
        </p:nvSpPr>
        <p:spPr>
          <a:xfrm>
            <a:off x="1454941"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err="1">
                <a:solidFill>
                  <a:schemeClr val="tx1"/>
                </a:solidFill>
              </a:rPr>
              <a:t>Controlleur</a:t>
            </a:r>
            <a:endParaRPr lang="fr-FR" dirty="0">
              <a:solidFill>
                <a:schemeClr val="tx1"/>
              </a:solidFill>
            </a:endParaRPr>
          </a:p>
        </p:txBody>
      </p:sp>
      <p:sp>
        <p:nvSpPr>
          <p:cNvPr id="17" name="Rectangle : coins arrondis 16">
            <a:extLst>
              <a:ext uri="{FF2B5EF4-FFF2-40B4-BE49-F238E27FC236}">
                <a16:creationId xmlns:a16="http://schemas.microsoft.com/office/drawing/2014/main" id="{BE2B05A7-67B2-069D-BE3D-651E76725D1A}"/>
              </a:ext>
            </a:extLst>
          </p:cNvPr>
          <p:cNvSpPr/>
          <p:nvPr/>
        </p:nvSpPr>
        <p:spPr>
          <a:xfrm>
            <a:off x="4283866"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solidFill>
                  <a:schemeClr val="tx1"/>
                </a:solidFill>
              </a:rPr>
              <a:t>Service</a:t>
            </a:r>
          </a:p>
        </p:txBody>
      </p:sp>
      <p:sp>
        <p:nvSpPr>
          <p:cNvPr id="19" name="Rectangle : coins arrondis 18">
            <a:extLst>
              <a:ext uri="{FF2B5EF4-FFF2-40B4-BE49-F238E27FC236}">
                <a16:creationId xmlns:a16="http://schemas.microsoft.com/office/drawing/2014/main" id="{4D3B7790-B3F1-FD15-DC76-05C97CD0B456}"/>
              </a:ext>
            </a:extLst>
          </p:cNvPr>
          <p:cNvSpPr/>
          <p:nvPr/>
        </p:nvSpPr>
        <p:spPr>
          <a:xfrm>
            <a:off x="7389016"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solidFill>
                  <a:schemeClr val="tx1"/>
                </a:solidFill>
              </a:rPr>
              <a:t>Repository</a:t>
            </a:r>
          </a:p>
        </p:txBody>
      </p:sp>
      <p:grpSp>
        <p:nvGrpSpPr>
          <p:cNvPr id="21" name="Groupe 20">
            <a:extLst>
              <a:ext uri="{FF2B5EF4-FFF2-40B4-BE49-F238E27FC236}">
                <a16:creationId xmlns:a16="http://schemas.microsoft.com/office/drawing/2014/main" id="{8EC9516B-AC30-C47D-89DF-34EB43F2A7B5}"/>
              </a:ext>
            </a:extLst>
          </p:cNvPr>
          <p:cNvGrpSpPr/>
          <p:nvPr/>
        </p:nvGrpSpPr>
        <p:grpSpPr>
          <a:xfrm>
            <a:off x="10003567" y="2207240"/>
            <a:ext cx="1281173" cy="1552639"/>
            <a:chOff x="9634476" y="1876361"/>
            <a:chExt cx="1281173" cy="1552639"/>
          </a:xfrm>
        </p:grpSpPr>
        <p:pic>
          <p:nvPicPr>
            <p:cNvPr id="11" name="Image 10">
              <a:extLst>
                <a:ext uri="{FF2B5EF4-FFF2-40B4-BE49-F238E27FC236}">
                  <a16:creationId xmlns:a16="http://schemas.microsoft.com/office/drawing/2014/main" id="{9D3363A8-8485-CEC2-F634-4BE1C79500C3}"/>
                </a:ext>
              </a:extLst>
            </p:cNvPr>
            <p:cNvPicPr>
              <a:picLocks noChangeAspect="1"/>
            </p:cNvPicPr>
            <p:nvPr/>
          </p:nvPicPr>
          <p:blipFill>
            <a:blip r:embed="rId3"/>
            <a:stretch>
              <a:fillRect/>
            </a:stretch>
          </p:blipFill>
          <p:spPr>
            <a:xfrm>
              <a:off x="9634476" y="1876361"/>
              <a:ext cx="1281173" cy="1351568"/>
            </a:xfrm>
            <a:prstGeom prst="rect">
              <a:avLst/>
            </a:prstGeom>
          </p:spPr>
        </p:pic>
        <p:sp>
          <p:nvSpPr>
            <p:cNvPr id="20" name="ZoneTexte 19">
              <a:extLst>
                <a:ext uri="{FF2B5EF4-FFF2-40B4-BE49-F238E27FC236}">
                  <a16:creationId xmlns:a16="http://schemas.microsoft.com/office/drawing/2014/main" id="{B0668A78-6DB1-C38A-0070-1CE3C65B4EF7}"/>
                </a:ext>
              </a:extLst>
            </p:cNvPr>
            <p:cNvSpPr txBox="1"/>
            <p:nvPr/>
          </p:nvSpPr>
          <p:spPr>
            <a:xfrm>
              <a:off x="10003599" y="3121223"/>
              <a:ext cx="542925" cy="307777"/>
            </a:xfrm>
            <a:prstGeom prst="rect">
              <a:avLst/>
            </a:prstGeom>
            <a:noFill/>
          </p:spPr>
          <p:txBody>
            <a:bodyPr wrap="square" rtlCol="0">
              <a:spAutoFit/>
            </a:bodyPr>
            <a:lstStyle/>
            <a:p>
              <a:r>
                <a:rPr lang="fr-FR" sz="1400" dirty="0"/>
                <a:t>BDD</a:t>
              </a:r>
              <a:endParaRPr lang="fr-FR" dirty="0"/>
            </a:p>
          </p:txBody>
        </p:sp>
      </p:grpSp>
      <p:cxnSp>
        <p:nvCxnSpPr>
          <p:cNvPr id="23" name="Connecteur droit avec flèche 22">
            <a:extLst>
              <a:ext uri="{FF2B5EF4-FFF2-40B4-BE49-F238E27FC236}">
                <a16:creationId xmlns:a16="http://schemas.microsoft.com/office/drawing/2014/main" id="{16F72669-0D6E-2AF1-6579-4C68A8B779B7}"/>
              </a:ext>
            </a:extLst>
          </p:cNvPr>
          <p:cNvCxnSpPr>
            <a:stCxn id="14" idx="2"/>
            <a:endCxn id="15" idx="0"/>
          </p:cNvCxnSpPr>
          <p:nvPr/>
        </p:nvCxnSpPr>
        <p:spPr>
          <a:xfrm>
            <a:off x="1740662" y="2883024"/>
            <a:ext cx="547717" cy="10864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ZoneTexte 23">
            <a:extLst>
              <a:ext uri="{FF2B5EF4-FFF2-40B4-BE49-F238E27FC236}">
                <a16:creationId xmlns:a16="http://schemas.microsoft.com/office/drawing/2014/main" id="{D8C2AE01-CD56-1774-0BD5-1672840A327A}"/>
              </a:ext>
            </a:extLst>
          </p:cNvPr>
          <p:cNvSpPr txBox="1"/>
          <p:nvPr/>
        </p:nvSpPr>
        <p:spPr>
          <a:xfrm>
            <a:off x="2064510" y="2826276"/>
            <a:ext cx="1281173" cy="646331"/>
          </a:xfrm>
          <a:prstGeom prst="rect">
            <a:avLst/>
          </a:prstGeom>
          <a:noFill/>
        </p:spPr>
        <p:txBody>
          <a:bodyPr wrap="square" rtlCol="0">
            <a:spAutoFit/>
          </a:bodyPr>
          <a:lstStyle/>
          <a:p>
            <a:r>
              <a:rPr lang="fr-FR" sz="1200" dirty="0"/>
              <a:t>Envoie d’une requête par un utilisateur</a:t>
            </a:r>
          </a:p>
        </p:txBody>
      </p:sp>
      <p:sp>
        <p:nvSpPr>
          <p:cNvPr id="25" name="ZoneTexte 24">
            <a:extLst>
              <a:ext uri="{FF2B5EF4-FFF2-40B4-BE49-F238E27FC236}">
                <a16:creationId xmlns:a16="http://schemas.microsoft.com/office/drawing/2014/main" id="{174131BF-29F8-E36E-05D4-ADB4B7428E9F}"/>
              </a:ext>
            </a:extLst>
          </p:cNvPr>
          <p:cNvSpPr txBox="1"/>
          <p:nvPr/>
        </p:nvSpPr>
        <p:spPr>
          <a:xfrm>
            <a:off x="1707325" y="4828812"/>
            <a:ext cx="1162050" cy="276999"/>
          </a:xfrm>
          <a:prstGeom prst="rect">
            <a:avLst/>
          </a:prstGeom>
          <a:noFill/>
        </p:spPr>
        <p:txBody>
          <a:bodyPr wrap="square" rtlCol="0">
            <a:spAutoFit/>
          </a:bodyPr>
          <a:lstStyle/>
          <a:p>
            <a:r>
              <a:rPr lang="fr-FR" sz="1200" dirty="0"/>
              <a:t>DTO &lt;-&gt; </a:t>
            </a:r>
            <a:r>
              <a:rPr lang="fr-FR" sz="1200" dirty="0" err="1"/>
              <a:t>Entity</a:t>
            </a:r>
            <a:endParaRPr lang="fr-FR" sz="1200" dirty="0"/>
          </a:p>
        </p:txBody>
      </p:sp>
      <p:cxnSp>
        <p:nvCxnSpPr>
          <p:cNvPr id="27" name="Connecteur droit avec flèche 26">
            <a:extLst>
              <a:ext uri="{FF2B5EF4-FFF2-40B4-BE49-F238E27FC236}">
                <a16:creationId xmlns:a16="http://schemas.microsoft.com/office/drawing/2014/main" id="{EC8B5F80-07AC-8489-49D6-A2CD004706FF}"/>
              </a:ext>
            </a:extLst>
          </p:cNvPr>
          <p:cNvCxnSpPr>
            <a:cxnSpLocks/>
          </p:cNvCxnSpPr>
          <p:nvPr/>
        </p:nvCxnSpPr>
        <p:spPr>
          <a:xfrm>
            <a:off x="3121816" y="4544517"/>
            <a:ext cx="1162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ZoneTexte 27">
            <a:extLst>
              <a:ext uri="{FF2B5EF4-FFF2-40B4-BE49-F238E27FC236}">
                <a16:creationId xmlns:a16="http://schemas.microsoft.com/office/drawing/2014/main" id="{BBC663E4-7284-454C-72FB-C03C473BD018}"/>
              </a:ext>
            </a:extLst>
          </p:cNvPr>
          <p:cNvSpPr txBox="1"/>
          <p:nvPr/>
        </p:nvSpPr>
        <p:spPr>
          <a:xfrm>
            <a:off x="3369466" y="4560196"/>
            <a:ext cx="690533" cy="276999"/>
          </a:xfrm>
          <a:prstGeom prst="rect">
            <a:avLst/>
          </a:prstGeom>
          <a:noFill/>
        </p:spPr>
        <p:txBody>
          <a:bodyPr wrap="square" rtlCol="0">
            <a:spAutoFit/>
          </a:bodyPr>
          <a:lstStyle/>
          <a:p>
            <a:r>
              <a:rPr lang="fr-FR" sz="1200" dirty="0" err="1"/>
              <a:t>entity</a:t>
            </a:r>
            <a:endParaRPr lang="fr-FR" sz="1400" dirty="0"/>
          </a:p>
        </p:txBody>
      </p:sp>
      <p:cxnSp>
        <p:nvCxnSpPr>
          <p:cNvPr id="30" name="Connecteur droit avec flèche 29">
            <a:extLst>
              <a:ext uri="{FF2B5EF4-FFF2-40B4-BE49-F238E27FC236}">
                <a16:creationId xmlns:a16="http://schemas.microsoft.com/office/drawing/2014/main" id="{79AC6151-6B62-D56E-55F4-412E17846B0A}"/>
              </a:ext>
            </a:extLst>
          </p:cNvPr>
          <p:cNvCxnSpPr>
            <a:cxnSpLocks/>
          </p:cNvCxnSpPr>
          <p:nvPr/>
        </p:nvCxnSpPr>
        <p:spPr>
          <a:xfrm>
            <a:off x="5950741" y="4560196"/>
            <a:ext cx="14382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ZoneTexte 31">
            <a:extLst>
              <a:ext uri="{FF2B5EF4-FFF2-40B4-BE49-F238E27FC236}">
                <a16:creationId xmlns:a16="http://schemas.microsoft.com/office/drawing/2014/main" id="{2AC687E8-2B00-9CA9-28A5-E4E3206E5F29}"/>
              </a:ext>
            </a:extLst>
          </p:cNvPr>
          <p:cNvSpPr txBox="1"/>
          <p:nvPr/>
        </p:nvSpPr>
        <p:spPr>
          <a:xfrm>
            <a:off x="6396511" y="4618619"/>
            <a:ext cx="690533" cy="276999"/>
          </a:xfrm>
          <a:prstGeom prst="rect">
            <a:avLst/>
          </a:prstGeom>
          <a:noFill/>
        </p:spPr>
        <p:txBody>
          <a:bodyPr wrap="square" rtlCol="0">
            <a:spAutoFit/>
          </a:bodyPr>
          <a:lstStyle/>
          <a:p>
            <a:r>
              <a:rPr lang="fr-FR" sz="1200" dirty="0" err="1"/>
              <a:t>entity</a:t>
            </a:r>
            <a:endParaRPr lang="fr-FR" sz="1400" dirty="0"/>
          </a:p>
        </p:txBody>
      </p:sp>
      <p:cxnSp>
        <p:nvCxnSpPr>
          <p:cNvPr id="34" name="Connecteur droit avec flèche 33">
            <a:extLst>
              <a:ext uri="{FF2B5EF4-FFF2-40B4-BE49-F238E27FC236}">
                <a16:creationId xmlns:a16="http://schemas.microsoft.com/office/drawing/2014/main" id="{3BB92D3E-3566-9F90-C4EC-67DA39935FCB}"/>
              </a:ext>
            </a:extLst>
          </p:cNvPr>
          <p:cNvCxnSpPr>
            <a:cxnSpLocks/>
            <a:stCxn id="19" idx="3"/>
          </p:cNvCxnSpPr>
          <p:nvPr/>
        </p:nvCxnSpPr>
        <p:spPr>
          <a:xfrm flipV="1">
            <a:off x="9055891" y="3391058"/>
            <a:ext cx="1204819" cy="9722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73E48989-A3D3-9F19-D501-2FB5179D9B0E}"/>
              </a:ext>
            </a:extLst>
          </p:cNvPr>
          <p:cNvSpPr txBox="1"/>
          <p:nvPr/>
        </p:nvSpPr>
        <p:spPr>
          <a:xfrm>
            <a:off x="9424982" y="3976903"/>
            <a:ext cx="690533" cy="276999"/>
          </a:xfrm>
          <a:prstGeom prst="rect">
            <a:avLst/>
          </a:prstGeom>
          <a:noFill/>
        </p:spPr>
        <p:txBody>
          <a:bodyPr wrap="square" rtlCol="0">
            <a:spAutoFit/>
          </a:bodyPr>
          <a:lstStyle/>
          <a:p>
            <a:r>
              <a:rPr lang="fr-FR" sz="1200" dirty="0" err="1"/>
              <a:t>entity</a:t>
            </a:r>
            <a:endParaRPr lang="fr-FR" sz="1400" dirty="0"/>
          </a:p>
        </p:txBody>
      </p:sp>
      <p:cxnSp>
        <p:nvCxnSpPr>
          <p:cNvPr id="38" name="Connecteur droit avec flèche 37">
            <a:extLst>
              <a:ext uri="{FF2B5EF4-FFF2-40B4-BE49-F238E27FC236}">
                <a16:creationId xmlns:a16="http://schemas.microsoft.com/office/drawing/2014/main" id="{E7E4FBCF-2CCA-2DD9-257F-04356D36986B}"/>
              </a:ext>
            </a:extLst>
          </p:cNvPr>
          <p:cNvCxnSpPr/>
          <p:nvPr/>
        </p:nvCxnSpPr>
        <p:spPr>
          <a:xfrm flipH="1" flipV="1">
            <a:off x="1454941" y="2826276"/>
            <a:ext cx="252384" cy="10902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ZoneTexte 38">
            <a:extLst>
              <a:ext uri="{FF2B5EF4-FFF2-40B4-BE49-F238E27FC236}">
                <a16:creationId xmlns:a16="http://schemas.microsoft.com/office/drawing/2014/main" id="{24CD9B85-E58C-C422-E290-E33AD064BE5E}"/>
              </a:ext>
            </a:extLst>
          </p:cNvPr>
          <p:cNvSpPr txBox="1"/>
          <p:nvPr/>
        </p:nvSpPr>
        <p:spPr>
          <a:xfrm>
            <a:off x="807241" y="3165938"/>
            <a:ext cx="942946" cy="461665"/>
          </a:xfrm>
          <a:prstGeom prst="rect">
            <a:avLst/>
          </a:prstGeom>
          <a:noFill/>
        </p:spPr>
        <p:txBody>
          <a:bodyPr wrap="square" rtlCol="0">
            <a:spAutoFit/>
          </a:bodyPr>
          <a:lstStyle/>
          <a:p>
            <a:r>
              <a:rPr lang="fr-FR" sz="1200" dirty="0"/>
              <a:t>Réponse HTTP</a:t>
            </a:r>
          </a:p>
        </p:txBody>
      </p:sp>
      <p:cxnSp>
        <p:nvCxnSpPr>
          <p:cNvPr id="42" name="Connecteur droit avec flèche 41">
            <a:extLst>
              <a:ext uri="{FF2B5EF4-FFF2-40B4-BE49-F238E27FC236}">
                <a16:creationId xmlns:a16="http://schemas.microsoft.com/office/drawing/2014/main" id="{F1C87081-954A-7FD6-A64F-06D041928DF3}"/>
              </a:ext>
            </a:extLst>
          </p:cNvPr>
          <p:cNvCxnSpPr>
            <a:cxnSpLocks/>
          </p:cNvCxnSpPr>
          <p:nvPr/>
        </p:nvCxnSpPr>
        <p:spPr>
          <a:xfrm flipH="1">
            <a:off x="8953482" y="2997213"/>
            <a:ext cx="1159713" cy="9443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onnecteur droit avec flèche 43">
            <a:extLst>
              <a:ext uri="{FF2B5EF4-FFF2-40B4-BE49-F238E27FC236}">
                <a16:creationId xmlns:a16="http://schemas.microsoft.com/office/drawing/2014/main" id="{E007698D-3C51-3A0B-0A71-38BA145A26BC}"/>
              </a:ext>
            </a:extLst>
          </p:cNvPr>
          <p:cNvCxnSpPr>
            <a:cxnSpLocks/>
          </p:cNvCxnSpPr>
          <p:nvPr/>
        </p:nvCxnSpPr>
        <p:spPr>
          <a:xfrm flipH="1">
            <a:off x="5950741" y="4253902"/>
            <a:ext cx="14382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AED60679-0B3E-1880-CF30-D7F28C530D95}"/>
              </a:ext>
            </a:extLst>
          </p:cNvPr>
          <p:cNvCxnSpPr>
            <a:cxnSpLocks/>
          </p:cNvCxnSpPr>
          <p:nvPr/>
        </p:nvCxnSpPr>
        <p:spPr>
          <a:xfrm flipH="1">
            <a:off x="3133707" y="4238172"/>
            <a:ext cx="1162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Ellipse 9">
            <a:extLst>
              <a:ext uri="{FF2B5EF4-FFF2-40B4-BE49-F238E27FC236}">
                <a16:creationId xmlns:a16="http://schemas.microsoft.com/office/drawing/2014/main" id="{77061987-BAE6-34CC-8B9E-C3CEDBA9D481}"/>
              </a:ext>
            </a:extLst>
          </p:cNvPr>
          <p:cNvSpPr/>
          <p:nvPr/>
        </p:nvSpPr>
        <p:spPr>
          <a:xfrm>
            <a:off x="381000" y="1435608"/>
            <a:ext cx="3257550" cy="4141249"/>
          </a:xfrm>
          <a:prstGeom prst="ellipse">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5505828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544AD-2F26-AE95-7FDB-B7CCD6BFF33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7948157-003D-5905-8DAE-65849E510AE4}"/>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69BC7650-4330-F512-35A5-D1FAD3DD317F}"/>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35137A5-1298-2D68-631E-A6570F2A3661}"/>
              </a:ext>
            </a:extLst>
          </p:cNvPr>
          <p:cNvSpPr txBox="1"/>
          <p:nvPr/>
        </p:nvSpPr>
        <p:spPr>
          <a:xfrm>
            <a:off x="502920" y="118872"/>
            <a:ext cx="4556184" cy="492443"/>
          </a:xfrm>
          <a:prstGeom prst="rect">
            <a:avLst/>
          </a:prstGeom>
          <a:noFill/>
        </p:spPr>
        <p:txBody>
          <a:bodyPr wrap="none">
            <a:spAutoFit/>
          </a:bodyPr>
          <a:lstStyle/>
          <a:p>
            <a:pPr>
              <a:defRPr sz="2600" b="1">
                <a:solidFill>
                  <a:srgbClr val="FFFFFF"/>
                </a:solidFill>
                <a:latin typeface="Aptos Display"/>
              </a:defRPr>
            </a:pPr>
            <a:r>
              <a:rPr lang="fr-FR" dirty="0"/>
              <a:t>Les DTO (Data Transfer Object)</a:t>
            </a:r>
            <a:endParaRPr dirty="0"/>
          </a:p>
        </p:txBody>
      </p:sp>
      <p:sp>
        <p:nvSpPr>
          <p:cNvPr id="8" name="TextBox 7">
            <a:extLst>
              <a:ext uri="{FF2B5EF4-FFF2-40B4-BE49-F238E27FC236}">
                <a16:creationId xmlns:a16="http://schemas.microsoft.com/office/drawing/2014/main" id="{B1F648CF-E9EA-CB05-73B1-D42910D53652}"/>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pic>
        <p:nvPicPr>
          <p:cNvPr id="9" name="Image 8">
            <a:extLst>
              <a:ext uri="{FF2B5EF4-FFF2-40B4-BE49-F238E27FC236}">
                <a16:creationId xmlns:a16="http://schemas.microsoft.com/office/drawing/2014/main" id="{6F17C986-D390-CDE9-6EAD-9377EF695156}"/>
              </a:ext>
            </a:extLst>
          </p:cNvPr>
          <p:cNvPicPr>
            <a:picLocks noChangeAspect="1"/>
          </p:cNvPicPr>
          <p:nvPr/>
        </p:nvPicPr>
        <p:blipFill>
          <a:blip r:embed="rId2"/>
          <a:srcRect/>
          <a:stretch/>
        </p:blipFill>
        <p:spPr>
          <a:xfrm>
            <a:off x="7213659" y="1572768"/>
            <a:ext cx="4690351" cy="3687294"/>
          </a:xfrm>
          <a:prstGeom prst="rect">
            <a:avLst/>
          </a:prstGeom>
        </p:spPr>
      </p:pic>
      <p:sp>
        <p:nvSpPr>
          <p:cNvPr id="2" name="Espace réservé du numéro de diapositive 1">
            <a:extLst>
              <a:ext uri="{FF2B5EF4-FFF2-40B4-BE49-F238E27FC236}">
                <a16:creationId xmlns:a16="http://schemas.microsoft.com/office/drawing/2014/main" id="{5F558EAF-8360-7203-3093-ABBD7637F1DB}"/>
              </a:ext>
            </a:extLst>
          </p:cNvPr>
          <p:cNvSpPr>
            <a:spLocks noGrp="1"/>
          </p:cNvSpPr>
          <p:nvPr>
            <p:ph type="sldNum" sz="quarter" idx="12"/>
          </p:nvPr>
        </p:nvSpPr>
        <p:spPr/>
        <p:txBody>
          <a:bodyPr/>
          <a:lstStyle/>
          <a:p>
            <a:fld id="{C1FF6DA9-008F-8B48-92A6-B652298478BF}" type="slidenum">
              <a:rPr lang="en-US" smtClean="0"/>
              <a:t>30</a:t>
            </a:fld>
            <a:endParaRPr lang="en-US" dirty="0"/>
          </a:p>
        </p:txBody>
      </p:sp>
      <p:sp>
        <p:nvSpPr>
          <p:cNvPr id="6" name="ZoneTexte 5">
            <a:extLst>
              <a:ext uri="{FF2B5EF4-FFF2-40B4-BE49-F238E27FC236}">
                <a16:creationId xmlns:a16="http://schemas.microsoft.com/office/drawing/2014/main" id="{0A902328-9237-03A8-8D8E-E9487DE86A4B}"/>
              </a:ext>
            </a:extLst>
          </p:cNvPr>
          <p:cNvSpPr txBox="1"/>
          <p:nvPr/>
        </p:nvSpPr>
        <p:spPr>
          <a:xfrm>
            <a:off x="502920" y="2521059"/>
            <a:ext cx="5673213" cy="1815882"/>
          </a:xfrm>
          <a:prstGeom prst="rect">
            <a:avLst/>
          </a:prstGeom>
          <a:noFill/>
        </p:spPr>
        <p:txBody>
          <a:bodyPr wrap="square" rtlCol="0">
            <a:spAutoFit/>
          </a:bodyPr>
          <a:lstStyle/>
          <a:p>
            <a:pPr algn="just"/>
            <a:r>
              <a:rPr lang="fr-FR" sz="1600" dirty="0">
                <a:latin typeface="Aptos" panose="020B0004020202020204" pitchFamily="34" charset="0"/>
              </a:rPr>
              <a:t>Les DTO sont des objets qui permettent de communiqué avec le </a:t>
            </a:r>
            <a:r>
              <a:rPr lang="fr-FR" sz="1600" dirty="0" err="1">
                <a:latin typeface="Aptos" panose="020B0004020202020204" pitchFamily="34" charset="0"/>
              </a:rPr>
              <a:t>front-end</a:t>
            </a:r>
            <a:r>
              <a:rPr lang="fr-FR" sz="1600" dirty="0">
                <a:latin typeface="Aptos" panose="020B0004020202020204" pitchFamily="34" charset="0"/>
              </a:rPr>
              <a:t>. </a:t>
            </a:r>
          </a:p>
          <a:p>
            <a:pPr algn="just"/>
            <a:endParaRPr lang="fr-FR" sz="1600" dirty="0">
              <a:latin typeface="Aptos" panose="020B0004020202020204" pitchFamily="34" charset="0"/>
            </a:endParaRPr>
          </a:p>
          <a:p>
            <a:pPr algn="just"/>
            <a:r>
              <a:rPr lang="fr-FR" sz="1600" dirty="0">
                <a:latin typeface="Aptos" panose="020B0004020202020204" pitchFamily="34" charset="0"/>
              </a:rPr>
              <a:t>Par sécurité nous devons toujours passé par les DTO, l’entité peut contenir des données sensibles comme un mot de passe ou des données que l’on ne souhaite pas transmettre.</a:t>
            </a:r>
          </a:p>
          <a:p>
            <a:endParaRPr lang="fr-FR" sz="1600" dirty="0">
              <a:latin typeface="Aptos" panose="020B0004020202020204" pitchFamily="34" charset="0"/>
            </a:endParaRPr>
          </a:p>
        </p:txBody>
      </p:sp>
    </p:spTree>
    <p:extLst>
      <p:ext uri="{BB962C8B-B14F-4D97-AF65-F5344CB8AC3E}">
        <p14:creationId xmlns:p14="http://schemas.microsoft.com/office/powerpoint/2010/main" val="2215999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3A2EB-72A1-F468-243F-A5C9812A112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9698562-58E9-1FB8-1D62-AC612756433A}"/>
              </a:ext>
            </a:extLst>
          </p:cNvPr>
          <p:cNvSpPr/>
          <p:nvPr/>
        </p:nvSpPr>
        <p:spPr>
          <a:xfrm>
            <a:off x="0" y="0"/>
            <a:ext cx="12191695" cy="6858000"/>
          </a:xfrm>
          <a:prstGeom prst="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CD1F4E99-2B5B-37DD-0995-66DC992438A3}"/>
              </a:ext>
            </a:extLst>
          </p:cNvPr>
          <p:cNvSpPr txBox="1"/>
          <p:nvPr/>
        </p:nvSpPr>
        <p:spPr>
          <a:xfrm>
            <a:off x="1752447" y="2859613"/>
            <a:ext cx="8686800" cy="615553"/>
          </a:xfrm>
          <a:prstGeom prst="rect">
            <a:avLst/>
          </a:prstGeom>
          <a:noFill/>
        </p:spPr>
        <p:txBody>
          <a:bodyPr wrap="square">
            <a:spAutoFit/>
          </a:bodyPr>
          <a:lstStyle/>
          <a:p>
            <a:pPr algn="ctr">
              <a:defRPr sz="3400" b="1">
                <a:solidFill>
                  <a:srgbClr val="FFFFFF"/>
                </a:solidFill>
                <a:latin typeface="Aptos"/>
              </a:defRPr>
            </a:pPr>
            <a:r>
              <a:rPr lang="fr-FR" dirty="0"/>
              <a:t>Les </a:t>
            </a:r>
            <a:r>
              <a:rPr lang="fr-FR" dirty="0" err="1"/>
              <a:t>Mappers</a:t>
            </a:r>
            <a:endParaRPr dirty="0"/>
          </a:p>
        </p:txBody>
      </p:sp>
      <p:sp>
        <p:nvSpPr>
          <p:cNvPr id="3" name="Espace réservé du numéro de diapositive 2">
            <a:extLst>
              <a:ext uri="{FF2B5EF4-FFF2-40B4-BE49-F238E27FC236}">
                <a16:creationId xmlns:a16="http://schemas.microsoft.com/office/drawing/2014/main" id="{F4C86D6E-6508-AA4A-A750-0E74AE9B6C16}"/>
              </a:ext>
            </a:extLst>
          </p:cNvPr>
          <p:cNvSpPr>
            <a:spLocks noGrp="1"/>
          </p:cNvSpPr>
          <p:nvPr>
            <p:ph type="sldNum" sz="quarter" idx="12"/>
          </p:nvPr>
        </p:nvSpPr>
        <p:spPr/>
        <p:txBody>
          <a:bodyPr/>
          <a:lstStyle/>
          <a:p>
            <a:fld id="{C1FF6DA9-008F-8B48-92A6-B652298478BF}" type="slidenum">
              <a:rPr lang="en-US" smtClean="0"/>
              <a:t>31</a:t>
            </a:fld>
            <a:endParaRPr lang="en-US"/>
          </a:p>
        </p:txBody>
      </p:sp>
    </p:spTree>
    <p:extLst>
      <p:ext uri="{BB962C8B-B14F-4D97-AF65-F5344CB8AC3E}">
        <p14:creationId xmlns:p14="http://schemas.microsoft.com/office/powerpoint/2010/main" val="2275768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0FCFB-D56D-C7E3-1C86-C64B58751D7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C1A8E9E-DF4A-B29F-6840-7504077EED79}"/>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85A0F647-8886-BC85-C3CC-C87E103D0D07}"/>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6F719649-371F-8F43-FEA8-4922D7418A39}"/>
              </a:ext>
            </a:extLst>
          </p:cNvPr>
          <p:cNvSpPr txBox="1"/>
          <p:nvPr/>
        </p:nvSpPr>
        <p:spPr>
          <a:xfrm>
            <a:off x="502920" y="118872"/>
            <a:ext cx="1518942" cy="492443"/>
          </a:xfrm>
          <a:prstGeom prst="rect">
            <a:avLst/>
          </a:prstGeom>
          <a:noFill/>
        </p:spPr>
        <p:txBody>
          <a:bodyPr wrap="none">
            <a:spAutoFit/>
          </a:bodyPr>
          <a:lstStyle/>
          <a:p>
            <a:pPr>
              <a:defRPr sz="2600" b="1">
                <a:solidFill>
                  <a:srgbClr val="FFFFFF"/>
                </a:solidFill>
                <a:latin typeface="Aptos Display"/>
              </a:defRPr>
            </a:pPr>
            <a:r>
              <a:rPr lang="fr-FR" dirty="0"/>
              <a:t>Structure</a:t>
            </a:r>
            <a:endParaRPr dirty="0"/>
          </a:p>
        </p:txBody>
      </p:sp>
      <p:sp>
        <p:nvSpPr>
          <p:cNvPr id="8" name="TextBox 7">
            <a:extLst>
              <a:ext uri="{FF2B5EF4-FFF2-40B4-BE49-F238E27FC236}">
                <a16:creationId xmlns:a16="http://schemas.microsoft.com/office/drawing/2014/main" id="{5FA07D74-EC12-D0AC-FB26-C42000AB3BA9}"/>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13" name="Espace réservé du numéro de diapositive 12">
            <a:extLst>
              <a:ext uri="{FF2B5EF4-FFF2-40B4-BE49-F238E27FC236}">
                <a16:creationId xmlns:a16="http://schemas.microsoft.com/office/drawing/2014/main" id="{B4879784-25E2-95AA-80CB-EEC81186F209}"/>
              </a:ext>
            </a:extLst>
          </p:cNvPr>
          <p:cNvSpPr>
            <a:spLocks noGrp="1"/>
          </p:cNvSpPr>
          <p:nvPr>
            <p:ph type="sldNum" sz="quarter" idx="12"/>
          </p:nvPr>
        </p:nvSpPr>
        <p:spPr/>
        <p:txBody>
          <a:bodyPr/>
          <a:lstStyle/>
          <a:p>
            <a:fld id="{C1FF6DA9-008F-8B48-92A6-B652298478BF}" type="slidenum">
              <a:rPr lang="en-US" smtClean="0"/>
              <a:t>32</a:t>
            </a:fld>
            <a:endParaRPr lang="en-US"/>
          </a:p>
        </p:txBody>
      </p:sp>
      <p:pic>
        <p:nvPicPr>
          <p:cNvPr id="14" name="Image 13">
            <a:extLst>
              <a:ext uri="{FF2B5EF4-FFF2-40B4-BE49-F238E27FC236}">
                <a16:creationId xmlns:a16="http://schemas.microsoft.com/office/drawing/2014/main" id="{AD346081-57D2-068A-DE35-58564747402F}"/>
              </a:ext>
            </a:extLst>
          </p:cNvPr>
          <p:cNvPicPr>
            <a:picLocks noChangeAspect="1"/>
          </p:cNvPicPr>
          <p:nvPr/>
        </p:nvPicPr>
        <p:blipFill>
          <a:blip r:embed="rId2"/>
          <a:stretch>
            <a:fillRect/>
          </a:stretch>
        </p:blipFill>
        <p:spPr>
          <a:xfrm>
            <a:off x="1192946" y="1736641"/>
            <a:ext cx="1095432" cy="1146383"/>
          </a:xfrm>
          <a:prstGeom prst="rect">
            <a:avLst/>
          </a:prstGeom>
        </p:spPr>
      </p:pic>
      <p:sp>
        <p:nvSpPr>
          <p:cNvPr id="15" name="Rectangle : coins arrondis 14">
            <a:extLst>
              <a:ext uri="{FF2B5EF4-FFF2-40B4-BE49-F238E27FC236}">
                <a16:creationId xmlns:a16="http://schemas.microsoft.com/office/drawing/2014/main" id="{8DCC0E36-31AC-AD5B-C1A3-9934AC6F8361}"/>
              </a:ext>
            </a:extLst>
          </p:cNvPr>
          <p:cNvSpPr/>
          <p:nvPr/>
        </p:nvSpPr>
        <p:spPr>
          <a:xfrm>
            <a:off x="1454941"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err="1">
                <a:solidFill>
                  <a:schemeClr val="tx1"/>
                </a:solidFill>
              </a:rPr>
              <a:t>Controlleur</a:t>
            </a:r>
            <a:endParaRPr lang="fr-FR" dirty="0">
              <a:solidFill>
                <a:schemeClr val="tx1"/>
              </a:solidFill>
            </a:endParaRPr>
          </a:p>
        </p:txBody>
      </p:sp>
      <p:sp>
        <p:nvSpPr>
          <p:cNvPr id="17" name="Rectangle : coins arrondis 16">
            <a:extLst>
              <a:ext uri="{FF2B5EF4-FFF2-40B4-BE49-F238E27FC236}">
                <a16:creationId xmlns:a16="http://schemas.microsoft.com/office/drawing/2014/main" id="{297AC1B8-AC6B-EFE1-D01E-B902C6B1B110}"/>
              </a:ext>
            </a:extLst>
          </p:cNvPr>
          <p:cNvSpPr/>
          <p:nvPr/>
        </p:nvSpPr>
        <p:spPr>
          <a:xfrm>
            <a:off x="4283866"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solidFill>
                  <a:schemeClr val="tx1"/>
                </a:solidFill>
              </a:rPr>
              <a:t>Service</a:t>
            </a:r>
          </a:p>
        </p:txBody>
      </p:sp>
      <p:sp>
        <p:nvSpPr>
          <p:cNvPr id="19" name="Rectangle : coins arrondis 18">
            <a:extLst>
              <a:ext uri="{FF2B5EF4-FFF2-40B4-BE49-F238E27FC236}">
                <a16:creationId xmlns:a16="http://schemas.microsoft.com/office/drawing/2014/main" id="{BED85DB2-1119-A0BC-D3F8-3EFB60CD3A0D}"/>
              </a:ext>
            </a:extLst>
          </p:cNvPr>
          <p:cNvSpPr/>
          <p:nvPr/>
        </p:nvSpPr>
        <p:spPr>
          <a:xfrm>
            <a:off x="7389016" y="3969429"/>
            <a:ext cx="1666875" cy="787690"/>
          </a:xfrm>
          <a:prstGeom prst="roundRect">
            <a:avLst/>
          </a:prstGeom>
          <a:noFill/>
          <a:ln>
            <a:solidFill>
              <a:srgbClr val="1E1F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dirty="0">
                <a:solidFill>
                  <a:schemeClr val="tx1"/>
                </a:solidFill>
              </a:rPr>
              <a:t>Repository</a:t>
            </a:r>
          </a:p>
        </p:txBody>
      </p:sp>
      <p:grpSp>
        <p:nvGrpSpPr>
          <p:cNvPr id="21" name="Groupe 20">
            <a:extLst>
              <a:ext uri="{FF2B5EF4-FFF2-40B4-BE49-F238E27FC236}">
                <a16:creationId xmlns:a16="http://schemas.microsoft.com/office/drawing/2014/main" id="{A61E905E-E016-6A75-1923-ADD004C57262}"/>
              </a:ext>
            </a:extLst>
          </p:cNvPr>
          <p:cNvGrpSpPr/>
          <p:nvPr/>
        </p:nvGrpSpPr>
        <p:grpSpPr>
          <a:xfrm>
            <a:off x="10003567" y="2207240"/>
            <a:ext cx="1281173" cy="1552639"/>
            <a:chOff x="9634476" y="1876361"/>
            <a:chExt cx="1281173" cy="1552639"/>
          </a:xfrm>
        </p:grpSpPr>
        <p:pic>
          <p:nvPicPr>
            <p:cNvPr id="11" name="Image 10">
              <a:extLst>
                <a:ext uri="{FF2B5EF4-FFF2-40B4-BE49-F238E27FC236}">
                  <a16:creationId xmlns:a16="http://schemas.microsoft.com/office/drawing/2014/main" id="{73C55C40-618D-C5AA-2197-682C433AEAAF}"/>
                </a:ext>
              </a:extLst>
            </p:cNvPr>
            <p:cNvPicPr>
              <a:picLocks noChangeAspect="1"/>
            </p:cNvPicPr>
            <p:nvPr/>
          </p:nvPicPr>
          <p:blipFill>
            <a:blip r:embed="rId3"/>
            <a:stretch>
              <a:fillRect/>
            </a:stretch>
          </p:blipFill>
          <p:spPr>
            <a:xfrm>
              <a:off x="9634476" y="1876361"/>
              <a:ext cx="1281173" cy="1351568"/>
            </a:xfrm>
            <a:prstGeom prst="rect">
              <a:avLst/>
            </a:prstGeom>
          </p:spPr>
        </p:pic>
        <p:sp>
          <p:nvSpPr>
            <p:cNvPr id="20" name="ZoneTexte 19">
              <a:extLst>
                <a:ext uri="{FF2B5EF4-FFF2-40B4-BE49-F238E27FC236}">
                  <a16:creationId xmlns:a16="http://schemas.microsoft.com/office/drawing/2014/main" id="{8043039D-BC4F-C05C-D4C1-318AE822E31F}"/>
                </a:ext>
              </a:extLst>
            </p:cNvPr>
            <p:cNvSpPr txBox="1"/>
            <p:nvPr/>
          </p:nvSpPr>
          <p:spPr>
            <a:xfrm>
              <a:off x="10003599" y="3121223"/>
              <a:ext cx="542925" cy="307777"/>
            </a:xfrm>
            <a:prstGeom prst="rect">
              <a:avLst/>
            </a:prstGeom>
            <a:noFill/>
          </p:spPr>
          <p:txBody>
            <a:bodyPr wrap="square" rtlCol="0">
              <a:spAutoFit/>
            </a:bodyPr>
            <a:lstStyle/>
            <a:p>
              <a:r>
                <a:rPr lang="fr-FR" sz="1400" dirty="0"/>
                <a:t>BDD</a:t>
              </a:r>
              <a:endParaRPr lang="fr-FR" dirty="0"/>
            </a:p>
          </p:txBody>
        </p:sp>
      </p:grpSp>
      <p:cxnSp>
        <p:nvCxnSpPr>
          <p:cNvPr id="23" name="Connecteur droit avec flèche 22">
            <a:extLst>
              <a:ext uri="{FF2B5EF4-FFF2-40B4-BE49-F238E27FC236}">
                <a16:creationId xmlns:a16="http://schemas.microsoft.com/office/drawing/2014/main" id="{CACCDD7B-D0B9-02D9-3F3F-E55DBDB58455}"/>
              </a:ext>
            </a:extLst>
          </p:cNvPr>
          <p:cNvCxnSpPr>
            <a:stCxn id="14" idx="2"/>
            <a:endCxn id="15" idx="0"/>
          </p:cNvCxnSpPr>
          <p:nvPr/>
        </p:nvCxnSpPr>
        <p:spPr>
          <a:xfrm>
            <a:off x="1740662" y="2883024"/>
            <a:ext cx="547717" cy="108640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4" name="ZoneTexte 23">
            <a:extLst>
              <a:ext uri="{FF2B5EF4-FFF2-40B4-BE49-F238E27FC236}">
                <a16:creationId xmlns:a16="http://schemas.microsoft.com/office/drawing/2014/main" id="{A4D5F901-8A79-8469-8DBE-8A7A05B1E7B0}"/>
              </a:ext>
            </a:extLst>
          </p:cNvPr>
          <p:cNvSpPr txBox="1"/>
          <p:nvPr/>
        </p:nvSpPr>
        <p:spPr>
          <a:xfrm>
            <a:off x="2064510" y="2826276"/>
            <a:ext cx="1281173" cy="646331"/>
          </a:xfrm>
          <a:prstGeom prst="rect">
            <a:avLst/>
          </a:prstGeom>
          <a:noFill/>
        </p:spPr>
        <p:txBody>
          <a:bodyPr wrap="square" rtlCol="0">
            <a:spAutoFit/>
          </a:bodyPr>
          <a:lstStyle/>
          <a:p>
            <a:r>
              <a:rPr lang="fr-FR" sz="1200" dirty="0"/>
              <a:t>Envoie d’une requête par un utilisateur</a:t>
            </a:r>
          </a:p>
        </p:txBody>
      </p:sp>
      <p:sp>
        <p:nvSpPr>
          <p:cNvPr id="25" name="ZoneTexte 24">
            <a:extLst>
              <a:ext uri="{FF2B5EF4-FFF2-40B4-BE49-F238E27FC236}">
                <a16:creationId xmlns:a16="http://schemas.microsoft.com/office/drawing/2014/main" id="{1092F358-50BD-4BE1-A5FC-23F98AAB5581}"/>
              </a:ext>
            </a:extLst>
          </p:cNvPr>
          <p:cNvSpPr txBox="1"/>
          <p:nvPr/>
        </p:nvSpPr>
        <p:spPr>
          <a:xfrm>
            <a:off x="1707325" y="4828812"/>
            <a:ext cx="1162050" cy="276999"/>
          </a:xfrm>
          <a:prstGeom prst="rect">
            <a:avLst/>
          </a:prstGeom>
          <a:noFill/>
        </p:spPr>
        <p:txBody>
          <a:bodyPr wrap="square" rtlCol="0">
            <a:spAutoFit/>
          </a:bodyPr>
          <a:lstStyle/>
          <a:p>
            <a:r>
              <a:rPr lang="fr-FR" sz="1200" dirty="0"/>
              <a:t>DTO &lt;-&gt; </a:t>
            </a:r>
            <a:r>
              <a:rPr lang="fr-FR" sz="1200" dirty="0" err="1"/>
              <a:t>Entity</a:t>
            </a:r>
            <a:endParaRPr lang="fr-FR" sz="1200" dirty="0"/>
          </a:p>
        </p:txBody>
      </p:sp>
      <p:cxnSp>
        <p:nvCxnSpPr>
          <p:cNvPr id="27" name="Connecteur droit avec flèche 26">
            <a:extLst>
              <a:ext uri="{FF2B5EF4-FFF2-40B4-BE49-F238E27FC236}">
                <a16:creationId xmlns:a16="http://schemas.microsoft.com/office/drawing/2014/main" id="{17A339F8-D0D1-CA33-8A42-CBA8F7CDF0BE}"/>
              </a:ext>
            </a:extLst>
          </p:cNvPr>
          <p:cNvCxnSpPr>
            <a:cxnSpLocks/>
          </p:cNvCxnSpPr>
          <p:nvPr/>
        </p:nvCxnSpPr>
        <p:spPr>
          <a:xfrm>
            <a:off x="3121816" y="4544517"/>
            <a:ext cx="1162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ZoneTexte 27">
            <a:extLst>
              <a:ext uri="{FF2B5EF4-FFF2-40B4-BE49-F238E27FC236}">
                <a16:creationId xmlns:a16="http://schemas.microsoft.com/office/drawing/2014/main" id="{F0599A80-3708-E3F4-CF29-8E0C6800556E}"/>
              </a:ext>
            </a:extLst>
          </p:cNvPr>
          <p:cNvSpPr txBox="1"/>
          <p:nvPr/>
        </p:nvSpPr>
        <p:spPr>
          <a:xfrm>
            <a:off x="3369466" y="4560196"/>
            <a:ext cx="690533" cy="276999"/>
          </a:xfrm>
          <a:prstGeom prst="rect">
            <a:avLst/>
          </a:prstGeom>
          <a:noFill/>
        </p:spPr>
        <p:txBody>
          <a:bodyPr wrap="square" rtlCol="0">
            <a:spAutoFit/>
          </a:bodyPr>
          <a:lstStyle/>
          <a:p>
            <a:r>
              <a:rPr lang="fr-FR" sz="1200" dirty="0" err="1"/>
              <a:t>entity</a:t>
            </a:r>
            <a:endParaRPr lang="fr-FR" sz="1400" dirty="0"/>
          </a:p>
        </p:txBody>
      </p:sp>
      <p:cxnSp>
        <p:nvCxnSpPr>
          <p:cNvPr id="30" name="Connecteur droit avec flèche 29">
            <a:extLst>
              <a:ext uri="{FF2B5EF4-FFF2-40B4-BE49-F238E27FC236}">
                <a16:creationId xmlns:a16="http://schemas.microsoft.com/office/drawing/2014/main" id="{09AC239F-B7D0-68C3-073E-938957B9DC90}"/>
              </a:ext>
            </a:extLst>
          </p:cNvPr>
          <p:cNvCxnSpPr>
            <a:cxnSpLocks/>
          </p:cNvCxnSpPr>
          <p:nvPr/>
        </p:nvCxnSpPr>
        <p:spPr>
          <a:xfrm>
            <a:off x="5950741" y="4560196"/>
            <a:ext cx="14382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2" name="ZoneTexte 31">
            <a:extLst>
              <a:ext uri="{FF2B5EF4-FFF2-40B4-BE49-F238E27FC236}">
                <a16:creationId xmlns:a16="http://schemas.microsoft.com/office/drawing/2014/main" id="{3A43C008-1353-440A-0AA8-E5C7796F8A54}"/>
              </a:ext>
            </a:extLst>
          </p:cNvPr>
          <p:cNvSpPr txBox="1"/>
          <p:nvPr/>
        </p:nvSpPr>
        <p:spPr>
          <a:xfrm>
            <a:off x="6396511" y="4618619"/>
            <a:ext cx="690533" cy="276999"/>
          </a:xfrm>
          <a:prstGeom prst="rect">
            <a:avLst/>
          </a:prstGeom>
          <a:noFill/>
        </p:spPr>
        <p:txBody>
          <a:bodyPr wrap="square" rtlCol="0">
            <a:spAutoFit/>
          </a:bodyPr>
          <a:lstStyle/>
          <a:p>
            <a:r>
              <a:rPr lang="fr-FR" sz="1200" dirty="0" err="1"/>
              <a:t>entity</a:t>
            </a:r>
            <a:endParaRPr lang="fr-FR" sz="1400" dirty="0"/>
          </a:p>
        </p:txBody>
      </p:sp>
      <p:cxnSp>
        <p:nvCxnSpPr>
          <p:cNvPr id="34" name="Connecteur droit avec flèche 33">
            <a:extLst>
              <a:ext uri="{FF2B5EF4-FFF2-40B4-BE49-F238E27FC236}">
                <a16:creationId xmlns:a16="http://schemas.microsoft.com/office/drawing/2014/main" id="{51CD2005-6D51-B90F-3B58-8C6918DDA008}"/>
              </a:ext>
            </a:extLst>
          </p:cNvPr>
          <p:cNvCxnSpPr>
            <a:cxnSpLocks/>
            <a:stCxn id="19" idx="3"/>
          </p:cNvCxnSpPr>
          <p:nvPr/>
        </p:nvCxnSpPr>
        <p:spPr>
          <a:xfrm flipV="1">
            <a:off x="9055891" y="3391058"/>
            <a:ext cx="1204819" cy="9722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6" name="ZoneTexte 35">
            <a:extLst>
              <a:ext uri="{FF2B5EF4-FFF2-40B4-BE49-F238E27FC236}">
                <a16:creationId xmlns:a16="http://schemas.microsoft.com/office/drawing/2014/main" id="{971D05E8-55DE-0B04-FFF2-CAD681B7068F}"/>
              </a:ext>
            </a:extLst>
          </p:cNvPr>
          <p:cNvSpPr txBox="1"/>
          <p:nvPr/>
        </p:nvSpPr>
        <p:spPr>
          <a:xfrm>
            <a:off x="9424982" y="3976903"/>
            <a:ext cx="690533" cy="276999"/>
          </a:xfrm>
          <a:prstGeom prst="rect">
            <a:avLst/>
          </a:prstGeom>
          <a:noFill/>
        </p:spPr>
        <p:txBody>
          <a:bodyPr wrap="square" rtlCol="0">
            <a:spAutoFit/>
          </a:bodyPr>
          <a:lstStyle/>
          <a:p>
            <a:r>
              <a:rPr lang="fr-FR" sz="1200" dirty="0" err="1"/>
              <a:t>entity</a:t>
            </a:r>
            <a:endParaRPr lang="fr-FR" sz="1400" dirty="0"/>
          </a:p>
        </p:txBody>
      </p:sp>
      <p:cxnSp>
        <p:nvCxnSpPr>
          <p:cNvPr id="38" name="Connecteur droit avec flèche 37">
            <a:extLst>
              <a:ext uri="{FF2B5EF4-FFF2-40B4-BE49-F238E27FC236}">
                <a16:creationId xmlns:a16="http://schemas.microsoft.com/office/drawing/2014/main" id="{0B2E9954-B2F7-C445-B364-FD74EA135342}"/>
              </a:ext>
            </a:extLst>
          </p:cNvPr>
          <p:cNvCxnSpPr/>
          <p:nvPr/>
        </p:nvCxnSpPr>
        <p:spPr>
          <a:xfrm flipH="1" flipV="1">
            <a:off x="1454941" y="2826276"/>
            <a:ext cx="252384" cy="109026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9" name="ZoneTexte 38">
            <a:extLst>
              <a:ext uri="{FF2B5EF4-FFF2-40B4-BE49-F238E27FC236}">
                <a16:creationId xmlns:a16="http://schemas.microsoft.com/office/drawing/2014/main" id="{6CEB3EC9-D9EA-71F5-0EFE-DD9FE2730B7B}"/>
              </a:ext>
            </a:extLst>
          </p:cNvPr>
          <p:cNvSpPr txBox="1"/>
          <p:nvPr/>
        </p:nvSpPr>
        <p:spPr>
          <a:xfrm>
            <a:off x="807241" y="3165938"/>
            <a:ext cx="942946" cy="461665"/>
          </a:xfrm>
          <a:prstGeom prst="rect">
            <a:avLst/>
          </a:prstGeom>
          <a:noFill/>
        </p:spPr>
        <p:txBody>
          <a:bodyPr wrap="square" rtlCol="0">
            <a:spAutoFit/>
          </a:bodyPr>
          <a:lstStyle/>
          <a:p>
            <a:r>
              <a:rPr lang="fr-FR" sz="1200" dirty="0"/>
              <a:t>Réponse HTTP</a:t>
            </a:r>
          </a:p>
        </p:txBody>
      </p:sp>
      <p:cxnSp>
        <p:nvCxnSpPr>
          <p:cNvPr id="42" name="Connecteur droit avec flèche 41">
            <a:extLst>
              <a:ext uri="{FF2B5EF4-FFF2-40B4-BE49-F238E27FC236}">
                <a16:creationId xmlns:a16="http://schemas.microsoft.com/office/drawing/2014/main" id="{082E708A-6082-DC3D-6964-111B6B6C5F0C}"/>
              </a:ext>
            </a:extLst>
          </p:cNvPr>
          <p:cNvCxnSpPr>
            <a:cxnSpLocks/>
          </p:cNvCxnSpPr>
          <p:nvPr/>
        </p:nvCxnSpPr>
        <p:spPr>
          <a:xfrm flipH="1">
            <a:off x="8953482" y="2997213"/>
            <a:ext cx="1159713" cy="9443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onnecteur droit avec flèche 43">
            <a:extLst>
              <a:ext uri="{FF2B5EF4-FFF2-40B4-BE49-F238E27FC236}">
                <a16:creationId xmlns:a16="http://schemas.microsoft.com/office/drawing/2014/main" id="{2ED4CC7D-9498-7DF9-1994-9DCE94069351}"/>
              </a:ext>
            </a:extLst>
          </p:cNvPr>
          <p:cNvCxnSpPr>
            <a:cxnSpLocks/>
          </p:cNvCxnSpPr>
          <p:nvPr/>
        </p:nvCxnSpPr>
        <p:spPr>
          <a:xfrm flipH="1">
            <a:off x="5950741" y="4253902"/>
            <a:ext cx="143827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6031299F-1C67-10CA-4893-17C92B228105}"/>
              </a:ext>
            </a:extLst>
          </p:cNvPr>
          <p:cNvCxnSpPr>
            <a:cxnSpLocks/>
          </p:cNvCxnSpPr>
          <p:nvPr/>
        </p:nvCxnSpPr>
        <p:spPr>
          <a:xfrm flipH="1">
            <a:off x="3133707" y="4238172"/>
            <a:ext cx="1162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Ellipse 9">
            <a:extLst>
              <a:ext uri="{FF2B5EF4-FFF2-40B4-BE49-F238E27FC236}">
                <a16:creationId xmlns:a16="http://schemas.microsoft.com/office/drawing/2014/main" id="{907D8B70-AA8D-0A7B-0941-3D9C252E5DA8}"/>
              </a:ext>
            </a:extLst>
          </p:cNvPr>
          <p:cNvSpPr/>
          <p:nvPr/>
        </p:nvSpPr>
        <p:spPr>
          <a:xfrm>
            <a:off x="1581133" y="4683789"/>
            <a:ext cx="1283491" cy="586267"/>
          </a:xfrm>
          <a:prstGeom prst="ellipse">
            <a:avLst/>
          </a:prstGeom>
          <a:noFill/>
          <a:ln w="28575">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543548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5033D-5A55-5328-F6D4-0B6D41D2AFE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2B84D31-4411-3E7A-4483-A3759826DA82}"/>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7B4F15E9-2731-F517-D7F7-BA67D4623D68}"/>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C7F8524B-E7F7-5528-5772-81E4CDC3A926}"/>
              </a:ext>
            </a:extLst>
          </p:cNvPr>
          <p:cNvSpPr txBox="1"/>
          <p:nvPr/>
        </p:nvSpPr>
        <p:spPr>
          <a:xfrm>
            <a:off x="502920" y="118872"/>
            <a:ext cx="1988686" cy="492443"/>
          </a:xfrm>
          <a:prstGeom prst="rect">
            <a:avLst/>
          </a:prstGeom>
          <a:noFill/>
        </p:spPr>
        <p:txBody>
          <a:bodyPr wrap="none">
            <a:spAutoFit/>
          </a:bodyPr>
          <a:lstStyle/>
          <a:p>
            <a:pPr>
              <a:defRPr sz="2600" b="1">
                <a:solidFill>
                  <a:srgbClr val="FFFFFF"/>
                </a:solidFill>
                <a:latin typeface="Aptos Display"/>
              </a:defRPr>
            </a:pPr>
            <a:r>
              <a:rPr lang="fr-FR" dirty="0"/>
              <a:t>Les </a:t>
            </a:r>
            <a:r>
              <a:rPr lang="fr-FR" dirty="0" err="1"/>
              <a:t>Mappers</a:t>
            </a:r>
            <a:endParaRPr dirty="0"/>
          </a:p>
        </p:txBody>
      </p:sp>
      <p:sp>
        <p:nvSpPr>
          <p:cNvPr id="8" name="TextBox 7">
            <a:extLst>
              <a:ext uri="{FF2B5EF4-FFF2-40B4-BE49-F238E27FC236}">
                <a16:creationId xmlns:a16="http://schemas.microsoft.com/office/drawing/2014/main" id="{F4212E8C-8D7D-8BD0-CF93-F55AF6DE719C}"/>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pic>
        <p:nvPicPr>
          <p:cNvPr id="9" name="Image 8">
            <a:extLst>
              <a:ext uri="{FF2B5EF4-FFF2-40B4-BE49-F238E27FC236}">
                <a16:creationId xmlns:a16="http://schemas.microsoft.com/office/drawing/2014/main" id="{6E956C7C-D2EF-8211-DAA0-FE18D52CC704}"/>
              </a:ext>
            </a:extLst>
          </p:cNvPr>
          <p:cNvPicPr>
            <a:picLocks noChangeAspect="1"/>
          </p:cNvPicPr>
          <p:nvPr/>
        </p:nvPicPr>
        <p:blipFill>
          <a:blip r:embed="rId2"/>
          <a:srcRect/>
          <a:stretch/>
        </p:blipFill>
        <p:spPr>
          <a:xfrm>
            <a:off x="7213659" y="2060852"/>
            <a:ext cx="4690351" cy="2711126"/>
          </a:xfrm>
          <a:prstGeom prst="rect">
            <a:avLst/>
          </a:prstGeom>
        </p:spPr>
      </p:pic>
      <p:sp>
        <p:nvSpPr>
          <p:cNvPr id="2" name="Espace réservé du numéro de diapositive 1">
            <a:extLst>
              <a:ext uri="{FF2B5EF4-FFF2-40B4-BE49-F238E27FC236}">
                <a16:creationId xmlns:a16="http://schemas.microsoft.com/office/drawing/2014/main" id="{2D0D5844-9CA1-42B8-0A7F-46F78838C03A}"/>
              </a:ext>
            </a:extLst>
          </p:cNvPr>
          <p:cNvSpPr>
            <a:spLocks noGrp="1"/>
          </p:cNvSpPr>
          <p:nvPr>
            <p:ph type="sldNum" sz="quarter" idx="12"/>
          </p:nvPr>
        </p:nvSpPr>
        <p:spPr/>
        <p:txBody>
          <a:bodyPr/>
          <a:lstStyle/>
          <a:p>
            <a:fld id="{C1FF6DA9-008F-8B48-92A6-B652298478BF}" type="slidenum">
              <a:rPr lang="en-US" smtClean="0"/>
              <a:t>33</a:t>
            </a:fld>
            <a:endParaRPr lang="en-US" dirty="0"/>
          </a:p>
        </p:txBody>
      </p:sp>
      <p:sp>
        <p:nvSpPr>
          <p:cNvPr id="6" name="ZoneTexte 5">
            <a:extLst>
              <a:ext uri="{FF2B5EF4-FFF2-40B4-BE49-F238E27FC236}">
                <a16:creationId xmlns:a16="http://schemas.microsoft.com/office/drawing/2014/main" id="{660E7C51-2545-FDFF-EF83-993373B1DCB5}"/>
              </a:ext>
            </a:extLst>
          </p:cNvPr>
          <p:cNvSpPr txBox="1"/>
          <p:nvPr/>
        </p:nvSpPr>
        <p:spPr>
          <a:xfrm>
            <a:off x="502920" y="1452544"/>
            <a:ext cx="5673213" cy="4278094"/>
          </a:xfrm>
          <a:prstGeom prst="rect">
            <a:avLst/>
          </a:prstGeom>
          <a:noFill/>
        </p:spPr>
        <p:txBody>
          <a:bodyPr wrap="square" rtlCol="0">
            <a:spAutoFit/>
          </a:bodyPr>
          <a:lstStyle/>
          <a:p>
            <a:pPr algn="just"/>
            <a:r>
              <a:rPr lang="fr-FR" sz="1600" dirty="0">
                <a:latin typeface="Aptos" panose="020B0004020202020204" pitchFamily="34" charset="0"/>
              </a:rPr>
              <a:t>Pour </a:t>
            </a:r>
            <a:r>
              <a:rPr lang="fr-FR" sz="1600" b="1" dirty="0">
                <a:latin typeface="Aptos" panose="020B0004020202020204" pitchFamily="34" charset="0"/>
              </a:rPr>
              <a:t>convertir une entité en DTO</a:t>
            </a:r>
            <a:r>
              <a:rPr lang="fr-FR" sz="1600" dirty="0">
                <a:latin typeface="Aptos" panose="020B0004020202020204" pitchFamily="34" charset="0"/>
              </a:rPr>
              <a:t>, on utilise généralement un </a:t>
            </a:r>
            <a:r>
              <a:rPr lang="fr-FR" sz="1600" b="1" dirty="0">
                <a:latin typeface="Aptos" panose="020B0004020202020204" pitchFamily="34" charset="0"/>
              </a:rPr>
              <a:t>mapper</a:t>
            </a:r>
            <a:r>
              <a:rPr lang="fr-FR" sz="1600" dirty="0">
                <a:latin typeface="Aptos" panose="020B0004020202020204" pitchFamily="34" charset="0"/>
              </a:rPr>
              <a:t>. Avec </a:t>
            </a:r>
            <a:r>
              <a:rPr lang="fr-FR" sz="1600" dirty="0" err="1">
                <a:latin typeface="Aptos" panose="020B0004020202020204" pitchFamily="34" charset="0"/>
              </a:rPr>
              <a:t>MapStruct</a:t>
            </a:r>
            <a:r>
              <a:rPr lang="fr-FR" sz="1600" dirty="0">
                <a:latin typeface="Aptos" panose="020B0004020202020204" pitchFamily="34" charset="0"/>
              </a:rPr>
              <a:t>, le mapper permet de définir les conversions entre les deux objets. </a:t>
            </a:r>
            <a:r>
              <a:rPr lang="fr-FR" sz="1600" dirty="0" err="1">
                <a:latin typeface="Aptos" panose="020B0004020202020204" pitchFamily="34" charset="0"/>
              </a:rPr>
              <a:t>MapStruct</a:t>
            </a:r>
            <a:r>
              <a:rPr lang="fr-FR" sz="1600" dirty="0">
                <a:latin typeface="Aptos" panose="020B0004020202020204" pitchFamily="34" charset="0"/>
              </a:rPr>
              <a:t> est une librairie.</a:t>
            </a:r>
          </a:p>
          <a:p>
            <a:pPr algn="just"/>
            <a:endParaRPr lang="fr-FR" sz="1600" dirty="0">
              <a:latin typeface="Aptos" panose="020B0004020202020204" pitchFamily="34" charset="0"/>
            </a:endParaRPr>
          </a:p>
          <a:p>
            <a:pPr algn="just"/>
            <a:r>
              <a:rPr lang="fr-FR" sz="1600" dirty="0">
                <a:latin typeface="Aptos" panose="020B0004020202020204" pitchFamily="34" charset="0"/>
              </a:rPr>
              <a:t>L’annotation </a:t>
            </a:r>
            <a:r>
              <a:rPr lang="fr-FR" sz="1600" b="1" dirty="0">
                <a:latin typeface="Aptos" panose="020B0004020202020204" pitchFamily="34" charset="0"/>
              </a:rPr>
              <a:t>@Mapper(componentModel = "</a:t>
            </a:r>
            <a:r>
              <a:rPr lang="fr-FR" sz="1600" b="1" dirty="0" err="1">
                <a:latin typeface="Aptos" panose="020B0004020202020204" pitchFamily="34" charset="0"/>
              </a:rPr>
              <a:t>spring</a:t>
            </a:r>
            <a:r>
              <a:rPr lang="fr-FR" sz="1600" b="1" dirty="0">
                <a:latin typeface="Aptos" panose="020B0004020202020204" pitchFamily="34" charset="0"/>
              </a:rPr>
              <a:t>")</a:t>
            </a:r>
            <a:r>
              <a:rPr lang="fr-FR" sz="1600" dirty="0">
                <a:latin typeface="Aptos" panose="020B0004020202020204" pitchFamily="34" charset="0"/>
              </a:rPr>
              <a:t> indique à </a:t>
            </a:r>
            <a:r>
              <a:rPr lang="fr-FR" sz="1600" dirty="0" err="1">
                <a:latin typeface="Aptos" panose="020B0004020202020204" pitchFamily="34" charset="0"/>
              </a:rPr>
              <a:t>MapStruct</a:t>
            </a:r>
            <a:r>
              <a:rPr lang="fr-FR" sz="1600" dirty="0">
                <a:latin typeface="Aptos" panose="020B0004020202020204" pitchFamily="34" charset="0"/>
              </a:rPr>
              <a:t> de générer automatiquement l’implémentation du mapper et de l’enregistrer comme Bean Spring. Le mapper peut ensuite être injecté dans un service ou un contrôleur.</a:t>
            </a:r>
          </a:p>
          <a:p>
            <a:pPr algn="just"/>
            <a:endParaRPr lang="fr-FR" sz="1600" dirty="0">
              <a:latin typeface="Aptos" panose="020B0004020202020204" pitchFamily="34" charset="0"/>
            </a:endParaRPr>
          </a:p>
          <a:p>
            <a:pPr algn="just"/>
            <a:r>
              <a:rPr lang="fr-FR" sz="1600" dirty="0">
                <a:latin typeface="Aptos" panose="020B0004020202020204" pitchFamily="34" charset="0"/>
              </a:rPr>
              <a:t>Lorsque les propriétés de l’entité et du DTO ont le même nom et des types compatibles, </a:t>
            </a:r>
            <a:r>
              <a:rPr lang="fr-FR" sz="1600" dirty="0" err="1">
                <a:latin typeface="Aptos" panose="020B0004020202020204" pitchFamily="34" charset="0"/>
              </a:rPr>
              <a:t>MapStruct</a:t>
            </a:r>
            <a:r>
              <a:rPr lang="fr-FR" sz="1600" dirty="0">
                <a:latin typeface="Aptos" panose="020B0004020202020204" pitchFamily="34" charset="0"/>
              </a:rPr>
              <a:t> réalise automatiquement le mapping.</a:t>
            </a:r>
          </a:p>
          <a:p>
            <a:pPr algn="just"/>
            <a:endParaRPr lang="fr-FR" sz="1600" dirty="0">
              <a:latin typeface="Aptos" panose="020B0004020202020204" pitchFamily="34" charset="0"/>
            </a:endParaRPr>
          </a:p>
          <a:p>
            <a:pPr algn="just"/>
            <a:r>
              <a:rPr lang="fr-FR" sz="1600" dirty="0">
                <a:latin typeface="Aptos" panose="020B0004020202020204" pitchFamily="34" charset="0"/>
              </a:rPr>
              <a:t> Si les noms sont différents, on utilise l’annotation </a:t>
            </a:r>
            <a:r>
              <a:rPr lang="fr-FR" sz="1600" b="1" dirty="0">
                <a:latin typeface="Aptos" panose="020B0004020202020204" pitchFamily="34" charset="0"/>
              </a:rPr>
              <a:t>@Mapping</a:t>
            </a:r>
            <a:r>
              <a:rPr lang="fr-FR" sz="1600" dirty="0">
                <a:latin typeface="Aptos" panose="020B0004020202020204" pitchFamily="34" charset="0"/>
              </a:rPr>
              <a:t>. Si les types ne sont pas compatibles, il faut fournir une conversion personnalisée ou effectuer la conversion manuellement.</a:t>
            </a:r>
          </a:p>
        </p:txBody>
      </p:sp>
    </p:spTree>
    <p:extLst>
      <p:ext uri="{BB962C8B-B14F-4D97-AF65-F5344CB8AC3E}">
        <p14:creationId xmlns:p14="http://schemas.microsoft.com/office/powerpoint/2010/main" val="39330488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E1E16-80B9-E10E-392F-4ADF741629A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57BA729-75F8-0B8B-E9F8-E45D6C801136}"/>
              </a:ext>
            </a:extLst>
          </p:cNvPr>
          <p:cNvSpPr/>
          <p:nvPr/>
        </p:nvSpPr>
        <p:spPr>
          <a:xfrm>
            <a:off x="0" y="0"/>
            <a:ext cx="12191695" cy="68580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3B546349-47CC-FB57-7AAE-791C1EBC3EA5}"/>
              </a:ext>
            </a:extLst>
          </p:cNvPr>
          <p:cNvSpPr txBox="1"/>
          <p:nvPr/>
        </p:nvSpPr>
        <p:spPr>
          <a:xfrm>
            <a:off x="1752447" y="2859613"/>
            <a:ext cx="8686800" cy="615553"/>
          </a:xfrm>
          <a:prstGeom prst="rect">
            <a:avLst/>
          </a:prstGeom>
          <a:noFill/>
        </p:spPr>
        <p:txBody>
          <a:bodyPr wrap="square">
            <a:spAutoFit/>
          </a:bodyPr>
          <a:lstStyle/>
          <a:p>
            <a:pPr algn="ctr">
              <a:defRPr sz="3400" b="1">
                <a:solidFill>
                  <a:srgbClr val="FFFFFF"/>
                </a:solidFill>
                <a:latin typeface="Aptos"/>
              </a:defRPr>
            </a:pPr>
            <a:r>
              <a:rPr lang="fr-FR" dirty="0" err="1"/>
              <a:t>Liquibase</a:t>
            </a:r>
            <a:endParaRPr dirty="0"/>
          </a:p>
        </p:txBody>
      </p:sp>
      <p:sp>
        <p:nvSpPr>
          <p:cNvPr id="7" name="Espace réservé du numéro de diapositive 6">
            <a:extLst>
              <a:ext uri="{FF2B5EF4-FFF2-40B4-BE49-F238E27FC236}">
                <a16:creationId xmlns:a16="http://schemas.microsoft.com/office/drawing/2014/main" id="{A9CC6451-9E33-5FB1-3371-E0B7FEFDDA7C}"/>
              </a:ext>
            </a:extLst>
          </p:cNvPr>
          <p:cNvSpPr>
            <a:spLocks noGrp="1"/>
          </p:cNvSpPr>
          <p:nvPr>
            <p:ph type="sldNum" sz="quarter" idx="12"/>
          </p:nvPr>
        </p:nvSpPr>
        <p:spPr/>
        <p:txBody>
          <a:bodyPr/>
          <a:lstStyle/>
          <a:p>
            <a:fld id="{C1FF6DA9-008F-8B48-92A6-B652298478BF}" type="slidenum">
              <a:rPr lang="en-US" smtClean="0"/>
              <a:t>34</a:t>
            </a:fld>
            <a:endParaRPr lang="en-US"/>
          </a:p>
        </p:txBody>
      </p:sp>
    </p:spTree>
    <p:extLst>
      <p:ext uri="{BB962C8B-B14F-4D97-AF65-F5344CB8AC3E}">
        <p14:creationId xmlns:p14="http://schemas.microsoft.com/office/powerpoint/2010/main" val="41354554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50490-9294-1E44-4A5E-1E008951521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60E28DE-34B8-C5C1-C8FD-E4FB543F7264}"/>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549DB0CB-F14E-854A-06D3-2B2795C4D503}"/>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4418E82F-EDCD-8BA6-AAF2-228F1003626C}"/>
              </a:ext>
            </a:extLst>
          </p:cNvPr>
          <p:cNvSpPr txBox="1"/>
          <p:nvPr/>
        </p:nvSpPr>
        <p:spPr>
          <a:xfrm>
            <a:off x="502920" y="118872"/>
            <a:ext cx="1552028" cy="492443"/>
          </a:xfrm>
          <a:prstGeom prst="rect">
            <a:avLst/>
          </a:prstGeom>
          <a:noFill/>
        </p:spPr>
        <p:txBody>
          <a:bodyPr wrap="none">
            <a:spAutoFit/>
          </a:bodyPr>
          <a:lstStyle/>
          <a:p>
            <a:pPr>
              <a:defRPr sz="2600" b="1">
                <a:solidFill>
                  <a:srgbClr val="FFFFFF"/>
                </a:solidFill>
                <a:latin typeface="Aptos Display"/>
              </a:defRPr>
            </a:pPr>
            <a:r>
              <a:rPr lang="fr-FR" dirty="0" err="1"/>
              <a:t>Liquibase</a:t>
            </a:r>
            <a:endParaRPr dirty="0"/>
          </a:p>
        </p:txBody>
      </p:sp>
      <p:sp>
        <p:nvSpPr>
          <p:cNvPr id="8" name="TextBox 7">
            <a:extLst>
              <a:ext uri="{FF2B5EF4-FFF2-40B4-BE49-F238E27FC236}">
                <a16:creationId xmlns:a16="http://schemas.microsoft.com/office/drawing/2014/main" id="{ABB068A6-B54D-760E-7A12-3157529D3063}"/>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pic>
        <p:nvPicPr>
          <p:cNvPr id="9" name="Image 8">
            <a:extLst>
              <a:ext uri="{FF2B5EF4-FFF2-40B4-BE49-F238E27FC236}">
                <a16:creationId xmlns:a16="http://schemas.microsoft.com/office/drawing/2014/main" id="{C0A51273-B04C-5431-812D-F216FF4B4904}"/>
              </a:ext>
            </a:extLst>
          </p:cNvPr>
          <p:cNvPicPr>
            <a:picLocks noChangeAspect="1"/>
          </p:cNvPicPr>
          <p:nvPr/>
        </p:nvPicPr>
        <p:blipFill>
          <a:blip r:embed="rId2"/>
          <a:srcRect/>
          <a:stretch/>
        </p:blipFill>
        <p:spPr>
          <a:xfrm>
            <a:off x="7421719" y="1435608"/>
            <a:ext cx="4267361" cy="2711126"/>
          </a:xfrm>
          <a:prstGeom prst="rect">
            <a:avLst/>
          </a:prstGeom>
        </p:spPr>
      </p:pic>
      <p:sp>
        <p:nvSpPr>
          <p:cNvPr id="2" name="Espace réservé du numéro de diapositive 1">
            <a:extLst>
              <a:ext uri="{FF2B5EF4-FFF2-40B4-BE49-F238E27FC236}">
                <a16:creationId xmlns:a16="http://schemas.microsoft.com/office/drawing/2014/main" id="{AE95BDEA-B511-9EAC-8B56-8FCD0A933F66}"/>
              </a:ext>
            </a:extLst>
          </p:cNvPr>
          <p:cNvSpPr>
            <a:spLocks noGrp="1"/>
          </p:cNvSpPr>
          <p:nvPr>
            <p:ph type="sldNum" sz="quarter" idx="12"/>
          </p:nvPr>
        </p:nvSpPr>
        <p:spPr/>
        <p:txBody>
          <a:bodyPr/>
          <a:lstStyle/>
          <a:p>
            <a:fld id="{C1FF6DA9-008F-8B48-92A6-B652298478BF}" type="slidenum">
              <a:rPr lang="en-US" smtClean="0"/>
              <a:t>35</a:t>
            </a:fld>
            <a:endParaRPr lang="en-US" dirty="0"/>
          </a:p>
        </p:txBody>
      </p:sp>
      <p:sp>
        <p:nvSpPr>
          <p:cNvPr id="6" name="ZoneTexte 5">
            <a:extLst>
              <a:ext uri="{FF2B5EF4-FFF2-40B4-BE49-F238E27FC236}">
                <a16:creationId xmlns:a16="http://schemas.microsoft.com/office/drawing/2014/main" id="{EB8EDF10-71C3-8EA5-EFF9-1DAABFCD1868}"/>
              </a:ext>
            </a:extLst>
          </p:cNvPr>
          <p:cNvSpPr txBox="1"/>
          <p:nvPr/>
        </p:nvSpPr>
        <p:spPr>
          <a:xfrm>
            <a:off x="502920" y="1794627"/>
            <a:ext cx="5673213" cy="3046988"/>
          </a:xfrm>
          <a:prstGeom prst="rect">
            <a:avLst/>
          </a:prstGeom>
          <a:noFill/>
        </p:spPr>
        <p:txBody>
          <a:bodyPr wrap="square" rtlCol="0">
            <a:spAutoFit/>
          </a:bodyPr>
          <a:lstStyle/>
          <a:p>
            <a:pPr algn="just"/>
            <a:r>
              <a:rPr lang="fr-FR" sz="1600" dirty="0">
                <a:latin typeface="Aptos" panose="020B0004020202020204" pitchFamily="34" charset="0"/>
              </a:rPr>
              <a:t>Afin de gérer au mieux la base de données, nous allons utiliser </a:t>
            </a:r>
            <a:r>
              <a:rPr lang="fr-FR" sz="1600" b="1" dirty="0" err="1">
                <a:latin typeface="Aptos" panose="020B0004020202020204" pitchFamily="34" charset="0"/>
              </a:rPr>
              <a:t>Liquibase</a:t>
            </a:r>
            <a:r>
              <a:rPr lang="fr-FR" sz="1600" b="1" dirty="0">
                <a:latin typeface="Aptos" panose="020B0004020202020204" pitchFamily="34" charset="0"/>
              </a:rPr>
              <a:t> </a:t>
            </a:r>
            <a:r>
              <a:rPr lang="fr-FR" sz="1600" dirty="0">
                <a:latin typeface="Aptos" panose="020B0004020202020204" pitchFamily="34" charset="0"/>
              </a:rPr>
              <a:t>afin de créer, modifier, supprimer les tables avec les quelles nous allons communiquer par la suite.</a:t>
            </a:r>
          </a:p>
          <a:p>
            <a:pPr algn="just"/>
            <a:endParaRPr lang="fr-FR" sz="1600" dirty="0">
              <a:latin typeface="Aptos" panose="020B0004020202020204" pitchFamily="34" charset="0"/>
            </a:endParaRPr>
          </a:p>
          <a:p>
            <a:pPr algn="just"/>
            <a:r>
              <a:rPr lang="fr-FR" sz="1600" dirty="0">
                <a:latin typeface="Aptos" panose="020B0004020202020204" pitchFamily="34" charset="0"/>
              </a:rPr>
              <a:t>Les fichiers </a:t>
            </a:r>
            <a:r>
              <a:rPr lang="fr-FR" sz="1600" dirty="0" err="1">
                <a:latin typeface="Aptos" panose="020B0004020202020204" pitchFamily="34" charset="0"/>
              </a:rPr>
              <a:t>liquibases</a:t>
            </a:r>
            <a:r>
              <a:rPr lang="fr-FR" sz="1600" dirty="0">
                <a:latin typeface="Aptos" panose="020B0004020202020204" pitchFamily="34" charset="0"/>
              </a:rPr>
              <a:t> sont rangés dans le package </a:t>
            </a:r>
            <a:r>
              <a:rPr lang="fr-FR" sz="1600" b="1" dirty="0" err="1">
                <a:latin typeface="Aptos" panose="020B0004020202020204" pitchFamily="34" charset="0"/>
              </a:rPr>
              <a:t>resources</a:t>
            </a:r>
            <a:r>
              <a:rPr lang="fr-FR" sz="1600" b="1" dirty="0">
                <a:latin typeface="Aptos" panose="020B0004020202020204" pitchFamily="34" charset="0"/>
              </a:rPr>
              <a:t>, </a:t>
            </a:r>
            <a:r>
              <a:rPr lang="fr-FR" sz="1600" dirty="0">
                <a:latin typeface="Aptos" panose="020B0004020202020204" pitchFamily="34" charset="0"/>
              </a:rPr>
              <a:t>ensuite nous avons deux types de fichiers : </a:t>
            </a:r>
            <a:r>
              <a:rPr lang="fr-FR" sz="1600" dirty="0" err="1">
                <a:latin typeface="Aptos" panose="020B0004020202020204" pitchFamily="34" charset="0"/>
              </a:rPr>
              <a:t>yaml</a:t>
            </a:r>
            <a:r>
              <a:rPr lang="fr-FR" sz="1600" dirty="0">
                <a:latin typeface="Aptos" panose="020B0004020202020204" pitchFamily="34" charset="0"/>
              </a:rPr>
              <a:t> ou xml. Le fichier .</a:t>
            </a:r>
            <a:r>
              <a:rPr lang="fr-FR" sz="1600" dirty="0" err="1">
                <a:latin typeface="Aptos" panose="020B0004020202020204" pitchFamily="34" charset="0"/>
              </a:rPr>
              <a:t>yml</a:t>
            </a:r>
            <a:r>
              <a:rPr lang="fr-FR" sz="1600" dirty="0">
                <a:latin typeface="Aptos" panose="020B0004020202020204" pitchFamily="34" charset="0"/>
              </a:rPr>
              <a:t> permet de lister les différents fichiers .xml qui devront être  exécuter. </a:t>
            </a:r>
          </a:p>
          <a:p>
            <a:pPr algn="just"/>
            <a:endParaRPr lang="fr-FR" sz="1600" b="1" dirty="0">
              <a:latin typeface="Aptos" panose="020B0004020202020204" pitchFamily="34" charset="0"/>
            </a:endParaRPr>
          </a:p>
          <a:p>
            <a:pPr algn="just"/>
            <a:r>
              <a:rPr lang="fr-FR" sz="1600" dirty="0">
                <a:latin typeface="Aptos" panose="020B0004020202020204" pitchFamily="34" charset="0"/>
              </a:rPr>
              <a:t>Pour indiquer à l’application ou se situe le fichier .</a:t>
            </a:r>
            <a:r>
              <a:rPr lang="fr-FR" sz="1600" dirty="0" err="1">
                <a:latin typeface="Aptos" panose="020B0004020202020204" pitchFamily="34" charset="0"/>
              </a:rPr>
              <a:t>yml</a:t>
            </a:r>
            <a:r>
              <a:rPr lang="fr-FR" sz="1600" dirty="0">
                <a:latin typeface="Aptos" panose="020B0004020202020204" pitchFamily="34" charset="0"/>
              </a:rPr>
              <a:t> à charger, il faut le préciser dans le fichier </a:t>
            </a:r>
            <a:r>
              <a:rPr lang="fr-FR" sz="1600" dirty="0" err="1">
                <a:latin typeface="Aptos" panose="020B0004020202020204" pitchFamily="34" charset="0"/>
              </a:rPr>
              <a:t>application.yml</a:t>
            </a:r>
            <a:r>
              <a:rPr lang="fr-FR" sz="1600" dirty="0">
                <a:latin typeface="Aptos" panose="020B0004020202020204" pitchFamily="34" charset="0"/>
              </a:rPr>
              <a:t>. </a:t>
            </a:r>
          </a:p>
          <a:p>
            <a:endParaRPr lang="fr-FR" sz="1600" dirty="0">
              <a:latin typeface="Aptos" panose="020B0004020202020204" pitchFamily="34" charset="0"/>
            </a:endParaRPr>
          </a:p>
        </p:txBody>
      </p:sp>
      <p:pic>
        <p:nvPicPr>
          <p:cNvPr id="10" name="Image 9">
            <a:extLst>
              <a:ext uri="{FF2B5EF4-FFF2-40B4-BE49-F238E27FC236}">
                <a16:creationId xmlns:a16="http://schemas.microsoft.com/office/drawing/2014/main" id="{C7A1C198-B291-226B-DC6F-D43ADF75B1B7}"/>
              </a:ext>
            </a:extLst>
          </p:cNvPr>
          <p:cNvPicPr>
            <a:picLocks noChangeAspect="1"/>
          </p:cNvPicPr>
          <p:nvPr/>
        </p:nvPicPr>
        <p:blipFill>
          <a:blip r:embed="rId3"/>
          <a:stretch>
            <a:fillRect/>
          </a:stretch>
        </p:blipFill>
        <p:spPr>
          <a:xfrm>
            <a:off x="7311697" y="4844647"/>
            <a:ext cx="4487244" cy="902156"/>
          </a:xfrm>
          <a:prstGeom prst="rect">
            <a:avLst/>
          </a:prstGeom>
        </p:spPr>
      </p:pic>
    </p:spTree>
    <p:extLst>
      <p:ext uri="{BB962C8B-B14F-4D97-AF65-F5344CB8AC3E}">
        <p14:creationId xmlns:p14="http://schemas.microsoft.com/office/powerpoint/2010/main" val="26315702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8645A-4305-18A0-2ACD-C3CA1069BF8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6A03B4C-572A-E5FE-3F70-212147F2E0A1}"/>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A90B070B-B6C8-3EBE-3638-E5721CCBF0BA}"/>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0FBB85C0-3472-A74E-4C08-CD5F2D7FAE10}"/>
              </a:ext>
            </a:extLst>
          </p:cNvPr>
          <p:cNvSpPr txBox="1"/>
          <p:nvPr/>
        </p:nvSpPr>
        <p:spPr>
          <a:xfrm>
            <a:off x="502920" y="118872"/>
            <a:ext cx="1552028" cy="492443"/>
          </a:xfrm>
          <a:prstGeom prst="rect">
            <a:avLst/>
          </a:prstGeom>
          <a:noFill/>
        </p:spPr>
        <p:txBody>
          <a:bodyPr wrap="none">
            <a:spAutoFit/>
          </a:bodyPr>
          <a:lstStyle/>
          <a:p>
            <a:pPr>
              <a:defRPr sz="2600" b="1">
                <a:solidFill>
                  <a:srgbClr val="FFFFFF"/>
                </a:solidFill>
                <a:latin typeface="Aptos Display"/>
              </a:defRPr>
            </a:pPr>
            <a:r>
              <a:rPr lang="fr-FR" dirty="0" err="1"/>
              <a:t>Liquibase</a:t>
            </a:r>
            <a:endParaRPr dirty="0"/>
          </a:p>
        </p:txBody>
      </p:sp>
      <p:sp>
        <p:nvSpPr>
          <p:cNvPr id="8" name="TextBox 7">
            <a:extLst>
              <a:ext uri="{FF2B5EF4-FFF2-40B4-BE49-F238E27FC236}">
                <a16:creationId xmlns:a16="http://schemas.microsoft.com/office/drawing/2014/main" id="{A7AC19C0-255A-5120-EB50-480F12AAC9A2}"/>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2" name="Espace réservé du numéro de diapositive 1">
            <a:extLst>
              <a:ext uri="{FF2B5EF4-FFF2-40B4-BE49-F238E27FC236}">
                <a16:creationId xmlns:a16="http://schemas.microsoft.com/office/drawing/2014/main" id="{C41B9D0F-E37D-415F-DFA0-5B269589EA00}"/>
              </a:ext>
            </a:extLst>
          </p:cNvPr>
          <p:cNvSpPr>
            <a:spLocks noGrp="1"/>
          </p:cNvSpPr>
          <p:nvPr>
            <p:ph type="sldNum" sz="quarter" idx="12"/>
          </p:nvPr>
        </p:nvSpPr>
        <p:spPr/>
        <p:txBody>
          <a:bodyPr/>
          <a:lstStyle/>
          <a:p>
            <a:fld id="{C1FF6DA9-008F-8B48-92A6-B652298478BF}" type="slidenum">
              <a:rPr lang="en-US" smtClean="0"/>
              <a:t>36</a:t>
            </a:fld>
            <a:endParaRPr lang="en-US" dirty="0"/>
          </a:p>
        </p:txBody>
      </p:sp>
      <p:pic>
        <p:nvPicPr>
          <p:cNvPr id="10" name="Image 9">
            <a:extLst>
              <a:ext uri="{FF2B5EF4-FFF2-40B4-BE49-F238E27FC236}">
                <a16:creationId xmlns:a16="http://schemas.microsoft.com/office/drawing/2014/main" id="{99111793-A46F-E208-60E1-A186DE1E6109}"/>
              </a:ext>
            </a:extLst>
          </p:cNvPr>
          <p:cNvPicPr>
            <a:picLocks noChangeAspect="1"/>
          </p:cNvPicPr>
          <p:nvPr/>
        </p:nvPicPr>
        <p:blipFill>
          <a:blip r:embed="rId2"/>
          <a:srcRect/>
          <a:stretch/>
        </p:blipFill>
        <p:spPr>
          <a:xfrm>
            <a:off x="269653" y="1457031"/>
            <a:ext cx="4871513" cy="4038622"/>
          </a:xfrm>
          <a:prstGeom prst="rect">
            <a:avLst/>
          </a:prstGeom>
        </p:spPr>
      </p:pic>
      <p:sp>
        <p:nvSpPr>
          <p:cNvPr id="7" name="ZoneTexte 6">
            <a:extLst>
              <a:ext uri="{FF2B5EF4-FFF2-40B4-BE49-F238E27FC236}">
                <a16:creationId xmlns:a16="http://schemas.microsoft.com/office/drawing/2014/main" id="{493A1E86-C378-B52D-DF9D-A642254D888F}"/>
              </a:ext>
            </a:extLst>
          </p:cNvPr>
          <p:cNvSpPr txBox="1"/>
          <p:nvPr/>
        </p:nvSpPr>
        <p:spPr>
          <a:xfrm>
            <a:off x="5690740" y="2764706"/>
            <a:ext cx="5412688" cy="3293209"/>
          </a:xfrm>
          <a:prstGeom prst="rect">
            <a:avLst/>
          </a:prstGeom>
          <a:noFill/>
        </p:spPr>
        <p:txBody>
          <a:bodyPr wrap="square" rtlCol="0">
            <a:spAutoFit/>
          </a:bodyPr>
          <a:lstStyle/>
          <a:p>
            <a:pPr algn="just"/>
            <a:r>
              <a:rPr lang="fr-FR" sz="1600" dirty="0">
                <a:latin typeface="Aptos" panose="020B0004020202020204" pitchFamily="34" charset="0"/>
              </a:rPr>
              <a:t>Lorsqu’on va créer le fichier .xml, nous allons faire une succession de </a:t>
            </a:r>
            <a:r>
              <a:rPr lang="fr-FR" sz="1600" b="1" dirty="0" err="1">
                <a:latin typeface="Aptos" panose="020B0004020202020204" pitchFamily="34" charset="0"/>
              </a:rPr>
              <a:t>ChangeSet</a:t>
            </a:r>
            <a:r>
              <a:rPr lang="fr-FR" sz="1600" b="1" dirty="0">
                <a:latin typeface="Aptos" panose="020B0004020202020204" pitchFamily="34" charset="0"/>
              </a:rPr>
              <a:t>. </a:t>
            </a:r>
            <a:r>
              <a:rPr lang="fr-FR" sz="1600" dirty="0">
                <a:latin typeface="Aptos" panose="020B0004020202020204" pitchFamily="34" charset="0"/>
              </a:rPr>
              <a:t>Un </a:t>
            </a:r>
            <a:r>
              <a:rPr lang="fr-FR" sz="1600" dirty="0" err="1">
                <a:latin typeface="Aptos" panose="020B0004020202020204" pitchFamily="34" charset="0"/>
              </a:rPr>
              <a:t>changeset</a:t>
            </a:r>
            <a:r>
              <a:rPr lang="fr-FR" sz="1600" dirty="0">
                <a:latin typeface="Aptos" panose="020B0004020202020204" pitchFamily="34" charset="0"/>
              </a:rPr>
              <a:t> = une action à faire.</a:t>
            </a:r>
          </a:p>
          <a:p>
            <a:pPr algn="just"/>
            <a:r>
              <a:rPr lang="fr-FR" sz="1600" b="1" dirty="0">
                <a:latin typeface="Aptos" panose="020B0004020202020204" pitchFamily="34" charset="0"/>
              </a:rPr>
              <a:t> </a:t>
            </a:r>
            <a:r>
              <a:rPr lang="fr-FR" sz="1600" dirty="0">
                <a:latin typeface="Aptos" panose="020B0004020202020204" pitchFamily="34" charset="0"/>
              </a:rPr>
              <a:t>Il est possible de préciser des conditions avant de faire l’action afin d’éviter les erreurs. </a:t>
            </a:r>
            <a:r>
              <a:rPr lang="fr-FR" sz="1600" b="1" dirty="0">
                <a:latin typeface="Aptos" panose="020B0004020202020204" pitchFamily="34" charset="0"/>
              </a:rPr>
              <a:t>Si un </a:t>
            </a:r>
            <a:r>
              <a:rPr lang="fr-FR" sz="1600" b="1" dirty="0" err="1">
                <a:latin typeface="Aptos" panose="020B0004020202020204" pitchFamily="34" charset="0"/>
              </a:rPr>
              <a:t>changeSet</a:t>
            </a:r>
            <a:r>
              <a:rPr lang="fr-FR" sz="1600" b="1" dirty="0">
                <a:latin typeface="Aptos" panose="020B0004020202020204" pitchFamily="34" charset="0"/>
              </a:rPr>
              <a:t> a déjà était </a:t>
            </a:r>
            <a:r>
              <a:rPr lang="fr-FR" sz="1600" b="1" dirty="0" err="1">
                <a:latin typeface="Aptos" panose="020B0004020202020204" pitchFamily="34" charset="0"/>
              </a:rPr>
              <a:t>executé</a:t>
            </a:r>
            <a:r>
              <a:rPr lang="fr-FR" sz="1600" b="1" dirty="0">
                <a:latin typeface="Aptos" panose="020B0004020202020204" pitchFamily="34" charset="0"/>
              </a:rPr>
              <a:t> il ne se refera pas</a:t>
            </a:r>
            <a:r>
              <a:rPr lang="fr-FR" sz="1600" dirty="0">
                <a:latin typeface="Aptos" panose="020B0004020202020204" pitchFamily="34" charset="0"/>
              </a:rPr>
              <a:t>.</a:t>
            </a:r>
          </a:p>
          <a:p>
            <a:pPr algn="just"/>
            <a:endParaRPr lang="fr-FR" sz="1600" dirty="0">
              <a:latin typeface="Aptos" panose="020B0004020202020204" pitchFamily="34" charset="0"/>
            </a:endParaRPr>
          </a:p>
          <a:p>
            <a:pPr algn="just"/>
            <a:r>
              <a:rPr lang="fr-FR" sz="1600" dirty="0">
                <a:latin typeface="Aptos" panose="020B0004020202020204" pitchFamily="34" charset="0"/>
              </a:rPr>
              <a:t>Lorsqu’on créer une table, on va pouvoir préciser les colonnes à mettre ainsi que le type de données et les différentes contraintes.</a:t>
            </a:r>
          </a:p>
          <a:p>
            <a:pPr algn="just"/>
            <a:endParaRPr lang="fr-FR" sz="1600" dirty="0">
              <a:latin typeface="Aptos" panose="020B0004020202020204" pitchFamily="34" charset="0"/>
            </a:endParaRPr>
          </a:p>
          <a:p>
            <a:pPr algn="just"/>
            <a:r>
              <a:rPr lang="fr-FR" sz="1600" dirty="0">
                <a:latin typeface="Aptos" panose="020B0004020202020204" pitchFamily="34" charset="0"/>
              </a:rPr>
              <a:t>Il sera possible de venir modifier cette table via un nouveau </a:t>
            </a:r>
            <a:r>
              <a:rPr lang="fr-FR" sz="1600" dirty="0" err="1">
                <a:latin typeface="Aptos" panose="020B0004020202020204" pitchFamily="34" charset="0"/>
              </a:rPr>
              <a:t>changeset</a:t>
            </a:r>
            <a:r>
              <a:rPr lang="fr-FR" sz="1600" dirty="0">
                <a:latin typeface="Aptos" panose="020B0004020202020204" pitchFamily="34" charset="0"/>
              </a:rPr>
              <a:t> par la suite</a:t>
            </a:r>
          </a:p>
        </p:txBody>
      </p:sp>
      <p:grpSp>
        <p:nvGrpSpPr>
          <p:cNvPr id="12" name="Groupe 11">
            <a:extLst>
              <a:ext uri="{FF2B5EF4-FFF2-40B4-BE49-F238E27FC236}">
                <a16:creationId xmlns:a16="http://schemas.microsoft.com/office/drawing/2014/main" id="{8850E8C2-D605-3359-6246-4133EAA9C11D}"/>
              </a:ext>
            </a:extLst>
          </p:cNvPr>
          <p:cNvGrpSpPr/>
          <p:nvPr/>
        </p:nvGrpSpPr>
        <p:grpSpPr>
          <a:xfrm>
            <a:off x="6263403" y="892453"/>
            <a:ext cx="4267361" cy="1578485"/>
            <a:chOff x="6263403" y="903986"/>
            <a:chExt cx="4267361" cy="1578485"/>
          </a:xfrm>
        </p:grpSpPr>
        <p:pic>
          <p:nvPicPr>
            <p:cNvPr id="9" name="Image 8">
              <a:extLst>
                <a:ext uri="{FF2B5EF4-FFF2-40B4-BE49-F238E27FC236}">
                  <a16:creationId xmlns:a16="http://schemas.microsoft.com/office/drawing/2014/main" id="{1D9411FD-1289-68D2-BEF0-54720A4E8452}"/>
                </a:ext>
              </a:extLst>
            </p:cNvPr>
            <p:cNvPicPr>
              <a:picLocks noChangeAspect="1"/>
            </p:cNvPicPr>
            <p:nvPr/>
          </p:nvPicPr>
          <p:blipFill>
            <a:blip r:embed="rId3"/>
            <a:srcRect/>
            <a:stretch/>
          </p:blipFill>
          <p:spPr>
            <a:xfrm>
              <a:off x="6263403" y="903986"/>
              <a:ext cx="4267361" cy="1342818"/>
            </a:xfrm>
            <a:prstGeom prst="rect">
              <a:avLst/>
            </a:prstGeom>
          </p:spPr>
        </p:pic>
        <p:sp>
          <p:nvSpPr>
            <p:cNvPr id="11" name="ZoneTexte 10">
              <a:extLst>
                <a:ext uri="{FF2B5EF4-FFF2-40B4-BE49-F238E27FC236}">
                  <a16:creationId xmlns:a16="http://schemas.microsoft.com/office/drawing/2014/main" id="{5B991AD1-64C7-AEB2-B371-EBA1850ABF1E}"/>
                </a:ext>
              </a:extLst>
            </p:cNvPr>
            <p:cNvSpPr txBox="1"/>
            <p:nvPr/>
          </p:nvSpPr>
          <p:spPr>
            <a:xfrm>
              <a:off x="7716416" y="2220861"/>
              <a:ext cx="2351314" cy="261610"/>
            </a:xfrm>
            <a:prstGeom prst="rect">
              <a:avLst/>
            </a:prstGeom>
            <a:noFill/>
          </p:spPr>
          <p:txBody>
            <a:bodyPr wrap="square" rtlCol="0">
              <a:spAutoFit/>
            </a:bodyPr>
            <a:lstStyle/>
            <a:p>
              <a:r>
                <a:rPr lang="fr-FR" sz="1100" dirty="0">
                  <a:latin typeface="Aptos" panose="020B0004020202020204" pitchFamily="34" charset="0"/>
                </a:rPr>
                <a:t>Syntaxe fichier .</a:t>
              </a:r>
              <a:r>
                <a:rPr lang="fr-FR" sz="1100" dirty="0" err="1">
                  <a:latin typeface="Aptos" panose="020B0004020202020204" pitchFamily="34" charset="0"/>
                </a:rPr>
                <a:t>yml</a:t>
              </a:r>
              <a:endParaRPr lang="fr-FR" sz="1100" dirty="0">
                <a:latin typeface="Aptos" panose="020B0004020202020204" pitchFamily="34" charset="0"/>
              </a:endParaRPr>
            </a:p>
          </p:txBody>
        </p:sp>
      </p:grpSp>
    </p:spTree>
    <p:extLst>
      <p:ext uri="{BB962C8B-B14F-4D97-AF65-F5344CB8AC3E}">
        <p14:creationId xmlns:p14="http://schemas.microsoft.com/office/powerpoint/2010/main" val="6100381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67BB0-1E47-0CFF-91FC-D3D99154364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EA614F1-3217-FD27-2AE5-DD4D15639309}"/>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1DFBD6B5-BADA-3D69-5FD2-FF441F54FB7B}"/>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266C550-1287-36F8-E713-A4CFB119BCAC}"/>
              </a:ext>
            </a:extLst>
          </p:cNvPr>
          <p:cNvSpPr txBox="1"/>
          <p:nvPr/>
        </p:nvSpPr>
        <p:spPr>
          <a:xfrm>
            <a:off x="502920" y="118872"/>
            <a:ext cx="1552028" cy="492443"/>
          </a:xfrm>
          <a:prstGeom prst="rect">
            <a:avLst/>
          </a:prstGeom>
          <a:noFill/>
        </p:spPr>
        <p:txBody>
          <a:bodyPr wrap="none">
            <a:spAutoFit/>
          </a:bodyPr>
          <a:lstStyle/>
          <a:p>
            <a:pPr>
              <a:defRPr sz="2600" b="1">
                <a:solidFill>
                  <a:srgbClr val="FFFFFF"/>
                </a:solidFill>
                <a:latin typeface="Aptos Display"/>
              </a:defRPr>
            </a:pPr>
            <a:r>
              <a:rPr lang="fr-FR" dirty="0" err="1"/>
              <a:t>Liquibase</a:t>
            </a:r>
            <a:endParaRPr dirty="0"/>
          </a:p>
        </p:txBody>
      </p:sp>
      <p:sp>
        <p:nvSpPr>
          <p:cNvPr id="8" name="TextBox 7">
            <a:extLst>
              <a:ext uri="{FF2B5EF4-FFF2-40B4-BE49-F238E27FC236}">
                <a16:creationId xmlns:a16="http://schemas.microsoft.com/office/drawing/2014/main" id="{FC308EC7-18D4-C945-A038-4AB06937D0BA}"/>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2" name="Espace réservé du numéro de diapositive 1">
            <a:extLst>
              <a:ext uri="{FF2B5EF4-FFF2-40B4-BE49-F238E27FC236}">
                <a16:creationId xmlns:a16="http://schemas.microsoft.com/office/drawing/2014/main" id="{B53F5368-C14A-536A-E10D-E41BA3D02328}"/>
              </a:ext>
            </a:extLst>
          </p:cNvPr>
          <p:cNvSpPr>
            <a:spLocks noGrp="1"/>
          </p:cNvSpPr>
          <p:nvPr>
            <p:ph type="sldNum" sz="quarter" idx="12"/>
          </p:nvPr>
        </p:nvSpPr>
        <p:spPr/>
        <p:txBody>
          <a:bodyPr/>
          <a:lstStyle/>
          <a:p>
            <a:fld id="{C1FF6DA9-008F-8B48-92A6-B652298478BF}" type="slidenum">
              <a:rPr lang="en-US" smtClean="0"/>
              <a:t>37</a:t>
            </a:fld>
            <a:endParaRPr lang="en-US" dirty="0"/>
          </a:p>
        </p:txBody>
      </p:sp>
      <p:sp>
        <p:nvSpPr>
          <p:cNvPr id="6" name="ZoneTexte 5">
            <a:extLst>
              <a:ext uri="{FF2B5EF4-FFF2-40B4-BE49-F238E27FC236}">
                <a16:creationId xmlns:a16="http://schemas.microsoft.com/office/drawing/2014/main" id="{D61DA3B3-51A8-DB94-C4C7-2096ABECF388}"/>
              </a:ext>
            </a:extLst>
          </p:cNvPr>
          <p:cNvSpPr txBox="1"/>
          <p:nvPr/>
        </p:nvSpPr>
        <p:spPr>
          <a:xfrm>
            <a:off x="237707" y="1109056"/>
            <a:ext cx="5673213" cy="5047536"/>
          </a:xfrm>
          <a:prstGeom prst="rect">
            <a:avLst/>
          </a:prstGeom>
          <a:noFill/>
        </p:spPr>
        <p:txBody>
          <a:bodyPr wrap="square" rtlCol="0">
            <a:spAutoFit/>
          </a:bodyPr>
          <a:lstStyle/>
          <a:p>
            <a:pPr algn="just"/>
            <a:r>
              <a:rPr lang="fr-FR" sz="1400" dirty="0">
                <a:latin typeface="Aptos" panose="020B0004020202020204" pitchFamily="34" charset="0"/>
              </a:rPr>
              <a:t>Pour suivre les migrations exécutées, </a:t>
            </a:r>
            <a:r>
              <a:rPr lang="fr-FR" sz="1400" b="1" dirty="0" err="1">
                <a:latin typeface="Aptos" panose="020B0004020202020204" pitchFamily="34" charset="0"/>
              </a:rPr>
              <a:t>Liquibase</a:t>
            </a:r>
            <a:r>
              <a:rPr lang="fr-FR" sz="1400" dirty="0">
                <a:latin typeface="Aptos" panose="020B0004020202020204" pitchFamily="34" charset="0"/>
              </a:rPr>
              <a:t> crée généralement deux tables dans la base de données :</a:t>
            </a:r>
          </a:p>
          <a:p>
            <a:pPr marL="285750" lvl="0" indent="-285750" algn="just">
              <a:buFont typeface="Arial" panose="020B0604020202020204" pitchFamily="34" charset="0"/>
              <a:buChar char="•"/>
            </a:pPr>
            <a:r>
              <a:rPr lang="fr-FR" sz="1400" b="1" dirty="0">
                <a:latin typeface="Aptos" panose="020B0004020202020204" pitchFamily="34" charset="0"/>
              </a:rPr>
              <a:t>DATABASECHANGELOG </a:t>
            </a:r>
            <a:r>
              <a:rPr lang="fr-FR" sz="1400" dirty="0">
                <a:latin typeface="Aptos" panose="020B0004020202020204" pitchFamily="34" charset="0"/>
              </a:rPr>
              <a:t>: contient la liste des </a:t>
            </a:r>
            <a:r>
              <a:rPr lang="fr-FR" sz="1400" b="1" dirty="0" err="1">
                <a:latin typeface="Aptos" panose="020B0004020202020204" pitchFamily="34" charset="0"/>
              </a:rPr>
              <a:t>changeSet</a:t>
            </a:r>
            <a:r>
              <a:rPr lang="fr-FR" sz="1400" dirty="0">
                <a:latin typeface="Aptos" panose="020B0004020202020204" pitchFamily="34" charset="0"/>
              </a:rPr>
              <a:t> déjà exécutés </a:t>
            </a:r>
            <a:r>
              <a:rPr lang="fr-FR" sz="1400" dirty="0">
                <a:latin typeface="Aptos" panose="020B0004020202020204" pitchFamily="34" charset="0"/>
                <a:sym typeface="Wingdings" panose="05000000000000000000" pitchFamily="2" charset="2"/>
              </a:rPr>
              <a:t> permet de savoir les migrations appliquées</a:t>
            </a:r>
            <a:endParaRPr lang="fr-FR" sz="1400" dirty="0">
              <a:latin typeface="Aptos" panose="020B0004020202020204" pitchFamily="34" charset="0"/>
            </a:endParaRPr>
          </a:p>
          <a:p>
            <a:pPr marL="285750" lvl="0" indent="-285750" algn="just">
              <a:buFont typeface="Arial" panose="020B0604020202020204" pitchFamily="34" charset="0"/>
              <a:buChar char="•"/>
            </a:pPr>
            <a:r>
              <a:rPr lang="fr-FR" sz="1400" b="1" dirty="0">
                <a:latin typeface="Aptos" panose="020B0004020202020204" pitchFamily="34" charset="0"/>
              </a:rPr>
              <a:t>DATABASECHANGELOGLOCK</a:t>
            </a:r>
            <a:r>
              <a:rPr lang="fr-FR" sz="1400" dirty="0">
                <a:latin typeface="Aptos" panose="020B0004020202020204" pitchFamily="34" charset="0"/>
              </a:rPr>
              <a:t> : empêche plusieurs instances de </a:t>
            </a:r>
            <a:r>
              <a:rPr lang="fr-FR" sz="1400" dirty="0" err="1">
                <a:latin typeface="Aptos" panose="020B0004020202020204" pitchFamily="34" charset="0"/>
              </a:rPr>
              <a:t>Liquibase</a:t>
            </a:r>
            <a:r>
              <a:rPr lang="fr-FR" sz="1400" dirty="0">
                <a:latin typeface="Aptos" panose="020B0004020202020204" pitchFamily="34" charset="0"/>
              </a:rPr>
              <a:t> d’exécuter des migrations simultanément.</a:t>
            </a:r>
          </a:p>
          <a:p>
            <a:pPr lvl="0" algn="just"/>
            <a:endParaRPr lang="fr-FR" sz="1400" dirty="0">
              <a:latin typeface="Aptos" panose="020B0004020202020204" pitchFamily="34" charset="0"/>
            </a:endParaRPr>
          </a:p>
          <a:p>
            <a:pPr algn="just"/>
            <a:endParaRPr lang="fr-FR" sz="1400" dirty="0">
              <a:latin typeface="Aptos" panose="020B0004020202020204" pitchFamily="34" charset="0"/>
            </a:endParaRPr>
          </a:p>
          <a:p>
            <a:pPr algn="just"/>
            <a:r>
              <a:rPr lang="fr-FR" sz="1400" dirty="0">
                <a:latin typeface="Aptos" panose="020B0004020202020204" pitchFamily="34" charset="0"/>
              </a:rPr>
              <a:t>Pour rejouer un </a:t>
            </a:r>
            <a:r>
              <a:rPr lang="fr-FR" sz="1400" b="1" dirty="0" err="1">
                <a:latin typeface="Aptos" panose="020B0004020202020204" pitchFamily="34" charset="0"/>
              </a:rPr>
              <a:t>changeSet</a:t>
            </a:r>
            <a:r>
              <a:rPr lang="fr-FR" sz="1400" dirty="0">
                <a:latin typeface="Aptos" panose="020B0004020202020204" pitchFamily="34" charset="0"/>
              </a:rPr>
              <a:t>, vous pouvez </a:t>
            </a:r>
            <a:r>
              <a:rPr lang="fr-FR" sz="1400" b="1" dirty="0">
                <a:latin typeface="Aptos" panose="020B0004020202020204" pitchFamily="34" charset="0"/>
              </a:rPr>
              <a:t>supprimer la ligne </a:t>
            </a:r>
            <a:r>
              <a:rPr lang="fr-FR" sz="1400" dirty="0">
                <a:latin typeface="Aptos" panose="020B0004020202020204" pitchFamily="34" charset="0"/>
              </a:rPr>
              <a:t>correspondante dans DATABASECHANGELOG. </a:t>
            </a:r>
            <a:r>
              <a:rPr lang="fr-FR" sz="1400" dirty="0" err="1">
                <a:latin typeface="Aptos" panose="020B0004020202020204" pitchFamily="34" charset="0"/>
              </a:rPr>
              <a:t>Liquibase</a:t>
            </a:r>
            <a:r>
              <a:rPr lang="fr-FR" sz="1400" dirty="0">
                <a:latin typeface="Aptos" panose="020B0004020202020204" pitchFamily="34" charset="0"/>
              </a:rPr>
              <a:t> considérera alors cette migration comme </a:t>
            </a:r>
            <a:r>
              <a:rPr lang="fr-FR" sz="1400" b="1" dirty="0">
                <a:latin typeface="Aptos" panose="020B0004020202020204" pitchFamily="34" charset="0"/>
              </a:rPr>
              <a:t>nouvelle</a:t>
            </a:r>
            <a:r>
              <a:rPr lang="fr-FR" sz="1400" dirty="0">
                <a:latin typeface="Aptos" panose="020B0004020202020204" pitchFamily="34" charset="0"/>
              </a:rPr>
              <a:t> et </a:t>
            </a:r>
            <a:r>
              <a:rPr lang="fr-FR" sz="1400" b="1" dirty="0">
                <a:latin typeface="Aptos" panose="020B0004020202020204" pitchFamily="34" charset="0"/>
              </a:rPr>
              <a:t>l’exécutera à nouveau</a:t>
            </a:r>
            <a:r>
              <a:rPr lang="fr-FR" sz="1400" dirty="0">
                <a:latin typeface="Aptos" panose="020B0004020202020204" pitchFamily="34" charset="0"/>
              </a:rPr>
              <a:t>. Cette pratique doit toutefois être utilisée avec précaution et plutôt dans un environnement de développement.</a:t>
            </a:r>
          </a:p>
          <a:p>
            <a:pPr algn="just"/>
            <a:endParaRPr lang="fr-FR" sz="1400" dirty="0">
              <a:latin typeface="Aptos" panose="020B0004020202020204" pitchFamily="34" charset="0"/>
            </a:endParaRPr>
          </a:p>
          <a:p>
            <a:pPr algn="just"/>
            <a:r>
              <a:rPr lang="fr-FR" sz="1400" dirty="0">
                <a:latin typeface="Aptos" panose="020B0004020202020204" pitchFamily="34" charset="0"/>
              </a:rPr>
              <a:t>Il est également important de ne pas modifier un </a:t>
            </a:r>
            <a:r>
              <a:rPr lang="fr-FR" sz="1400" b="1" dirty="0" err="1">
                <a:latin typeface="Aptos" panose="020B0004020202020204" pitchFamily="34" charset="0"/>
              </a:rPr>
              <a:t>changeSet</a:t>
            </a:r>
            <a:r>
              <a:rPr lang="fr-FR" sz="1400" dirty="0">
                <a:latin typeface="Aptos" panose="020B0004020202020204" pitchFamily="34" charset="0"/>
              </a:rPr>
              <a:t> déjà exécuté. </a:t>
            </a:r>
            <a:r>
              <a:rPr lang="fr-FR" sz="1400" dirty="0" err="1">
                <a:latin typeface="Aptos" panose="020B0004020202020204" pitchFamily="34" charset="0"/>
              </a:rPr>
              <a:t>Liquibase</a:t>
            </a:r>
            <a:r>
              <a:rPr lang="fr-FR" sz="1400" dirty="0">
                <a:latin typeface="Aptos" panose="020B0004020202020204" pitchFamily="34" charset="0"/>
              </a:rPr>
              <a:t> calcule une empreinte, appelée </a:t>
            </a:r>
            <a:r>
              <a:rPr lang="fr-FR" sz="1400" b="1" dirty="0">
                <a:latin typeface="Aptos" panose="020B0004020202020204" pitchFamily="34" charset="0"/>
              </a:rPr>
              <a:t>checksum</a:t>
            </a:r>
            <a:r>
              <a:rPr lang="fr-FR" sz="1400" dirty="0">
                <a:latin typeface="Aptos" panose="020B0004020202020204" pitchFamily="34" charset="0"/>
              </a:rPr>
              <a:t>, du contenu du </a:t>
            </a:r>
            <a:r>
              <a:rPr lang="fr-FR" sz="1400" b="1" dirty="0" err="1">
                <a:latin typeface="Aptos" panose="020B0004020202020204" pitchFamily="34" charset="0"/>
              </a:rPr>
              <a:t>changeSet</a:t>
            </a:r>
            <a:r>
              <a:rPr lang="fr-FR" sz="1400" dirty="0">
                <a:latin typeface="Aptos" panose="020B0004020202020204" pitchFamily="34" charset="0"/>
              </a:rPr>
              <a:t>. Si vous modifiez ce contenu après son exécution, le checksum enregistré ne correspondra plus au nouveau checksum. </a:t>
            </a:r>
            <a:r>
              <a:rPr lang="fr-FR" sz="1400" dirty="0" err="1">
                <a:latin typeface="Aptos" panose="020B0004020202020204" pitchFamily="34" charset="0"/>
              </a:rPr>
              <a:t>Liquibase</a:t>
            </a:r>
            <a:r>
              <a:rPr lang="fr-FR" sz="1400" dirty="0">
                <a:latin typeface="Aptos" panose="020B0004020202020204" pitchFamily="34" charset="0"/>
              </a:rPr>
              <a:t> détectera alors une incohérence et générera une erreur au démarrage de l’application.</a:t>
            </a:r>
          </a:p>
          <a:p>
            <a:pPr algn="just"/>
            <a:r>
              <a:rPr lang="fr-FR" sz="1400" dirty="0">
                <a:latin typeface="Aptos" panose="020B0004020202020204" pitchFamily="34" charset="0"/>
                <a:sym typeface="Wingdings" panose="05000000000000000000" pitchFamily="2" charset="2"/>
              </a:rPr>
              <a:t></a:t>
            </a:r>
            <a:r>
              <a:rPr lang="fr-FR" sz="1400" dirty="0">
                <a:latin typeface="Aptos" panose="020B0004020202020204" pitchFamily="34" charset="0"/>
              </a:rPr>
              <a:t>Pour faire évoluer la base de données, il faut créer un nouveau </a:t>
            </a:r>
            <a:r>
              <a:rPr lang="fr-FR" sz="1400" b="1" dirty="0" err="1">
                <a:latin typeface="Aptos" panose="020B0004020202020204" pitchFamily="34" charset="0"/>
              </a:rPr>
              <a:t>changeSet</a:t>
            </a:r>
            <a:r>
              <a:rPr lang="fr-FR" sz="1400" dirty="0">
                <a:latin typeface="Aptos" panose="020B0004020202020204" pitchFamily="34" charset="0"/>
              </a:rPr>
              <a:t>.</a:t>
            </a:r>
          </a:p>
          <a:p>
            <a:endParaRPr lang="fr-FR" sz="1400" dirty="0">
              <a:latin typeface="Aptos" panose="020B0004020202020204" pitchFamily="34" charset="0"/>
            </a:endParaRPr>
          </a:p>
        </p:txBody>
      </p:sp>
      <p:grpSp>
        <p:nvGrpSpPr>
          <p:cNvPr id="24" name="Groupe 23">
            <a:extLst>
              <a:ext uri="{FF2B5EF4-FFF2-40B4-BE49-F238E27FC236}">
                <a16:creationId xmlns:a16="http://schemas.microsoft.com/office/drawing/2014/main" id="{1F95B0CE-E8F9-D145-CA5E-EE782C00929E}"/>
              </a:ext>
            </a:extLst>
          </p:cNvPr>
          <p:cNvGrpSpPr/>
          <p:nvPr/>
        </p:nvGrpSpPr>
        <p:grpSpPr>
          <a:xfrm>
            <a:off x="6265424" y="2063492"/>
            <a:ext cx="5820560" cy="2913298"/>
            <a:chOff x="6288680" y="2924441"/>
            <a:chExt cx="5820560" cy="2913298"/>
          </a:xfrm>
        </p:grpSpPr>
        <p:pic>
          <p:nvPicPr>
            <p:cNvPr id="9" name="Image 8">
              <a:extLst>
                <a:ext uri="{FF2B5EF4-FFF2-40B4-BE49-F238E27FC236}">
                  <a16:creationId xmlns:a16="http://schemas.microsoft.com/office/drawing/2014/main" id="{33D90FE9-E90A-C7AE-16FA-CE677CA18783}"/>
                </a:ext>
              </a:extLst>
            </p:cNvPr>
            <p:cNvPicPr>
              <a:picLocks noChangeAspect="1"/>
            </p:cNvPicPr>
            <p:nvPr/>
          </p:nvPicPr>
          <p:blipFill>
            <a:blip r:embed="rId2"/>
            <a:srcRect/>
            <a:stretch/>
          </p:blipFill>
          <p:spPr>
            <a:xfrm>
              <a:off x="6553200" y="3690417"/>
              <a:ext cx="5556040" cy="528020"/>
            </a:xfrm>
            <a:prstGeom prst="rect">
              <a:avLst/>
            </a:prstGeom>
          </p:spPr>
        </p:pic>
        <p:cxnSp>
          <p:nvCxnSpPr>
            <p:cNvPr id="13" name="Connecteur : en arc 12">
              <a:extLst>
                <a:ext uri="{FF2B5EF4-FFF2-40B4-BE49-F238E27FC236}">
                  <a16:creationId xmlns:a16="http://schemas.microsoft.com/office/drawing/2014/main" id="{86D0AFE6-6909-23C6-C251-5AE30C9DC8DE}"/>
                </a:ext>
              </a:extLst>
            </p:cNvPr>
            <p:cNvCxnSpPr>
              <a:cxnSpLocks/>
            </p:cNvCxnSpPr>
            <p:nvPr/>
          </p:nvCxnSpPr>
          <p:spPr>
            <a:xfrm rot="5400000">
              <a:off x="6633040" y="4247454"/>
              <a:ext cx="1165324" cy="110729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ZoneTexte 14">
              <a:extLst>
                <a:ext uri="{FF2B5EF4-FFF2-40B4-BE49-F238E27FC236}">
                  <a16:creationId xmlns:a16="http://schemas.microsoft.com/office/drawing/2014/main" id="{2327FE76-EBA4-7992-D982-34C97AA7E80F}"/>
                </a:ext>
              </a:extLst>
            </p:cNvPr>
            <p:cNvSpPr txBox="1"/>
            <p:nvPr/>
          </p:nvSpPr>
          <p:spPr>
            <a:xfrm>
              <a:off x="6288680" y="5376074"/>
              <a:ext cx="1331320" cy="461665"/>
            </a:xfrm>
            <a:prstGeom prst="rect">
              <a:avLst/>
            </a:prstGeom>
            <a:noFill/>
          </p:spPr>
          <p:txBody>
            <a:bodyPr wrap="square" rtlCol="0">
              <a:spAutoFit/>
            </a:bodyPr>
            <a:lstStyle/>
            <a:p>
              <a:r>
                <a:rPr lang="fr-FR" sz="1200" dirty="0">
                  <a:latin typeface="Aptos" panose="020B0004020202020204" pitchFamily="34" charset="0"/>
                </a:rPr>
                <a:t>Nom du </a:t>
              </a:r>
              <a:r>
                <a:rPr lang="fr-FR" sz="1200" dirty="0" err="1">
                  <a:latin typeface="Aptos" panose="020B0004020202020204" pitchFamily="34" charset="0"/>
                </a:rPr>
                <a:t>changeset</a:t>
              </a:r>
              <a:endParaRPr lang="fr-FR" sz="1200" dirty="0">
                <a:latin typeface="Aptos" panose="020B0004020202020204" pitchFamily="34" charset="0"/>
              </a:endParaRPr>
            </a:p>
          </p:txBody>
        </p:sp>
        <p:cxnSp>
          <p:nvCxnSpPr>
            <p:cNvPr id="17" name="Connecteur : en arc 16">
              <a:extLst>
                <a:ext uri="{FF2B5EF4-FFF2-40B4-BE49-F238E27FC236}">
                  <a16:creationId xmlns:a16="http://schemas.microsoft.com/office/drawing/2014/main" id="{8747425D-E90E-17F0-E17C-323069F6541B}"/>
                </a:ext>
              </a:extLst>
            </p:cNvPr>
            <p:cNvCxnSpPr/>
            <p:nvPr/>
          </p:nvCxnSpPr>
          <p:spPr>
            <a:xfrm rot="16200000" flipH="1">
              <a:off x="9312451" y="4432540"/>
              <a:ext cx="960053" cy="531845"/>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68126111-11D2-B952-040D-0DD9706902A8}"/>
                </a:ext>
              </a:extLst>
            </p:cNvPr>
            <p:cNvSpPr txBox="1"/>
            <p:nvPr/>
          </p:nvSpPr>
          <p:spPr>
            <a:xfrm>
              <a:off x="9741940" y="5225983"/>
              <a:ext cx="1331320" cy="276999"/>
            </a:xfrm>
            <a:prstGeom prst="rect">
              <a:avLst/>
            </a:prstGeom>
            <a:noFill/>
          </p:spPr>
          <p:txBody>
            <a:bodyPr wrap="square" rtlCol="0">
              <a:spAutoFit/>
            </a:bodyPr>
            <a:lstStyle/>
            <a:p>
              <a:r>
                <a:rPr lang="fr-FR" sz="1200" dirty="0">
                  <a:latin typeface="Aptos" panose="020B0004020202020204" pitchFamily="34" charset="0"/>
                </a:rPr>
                <a:t>utilisateur</a:t>
              </a:r>
            </a:p>
          </p:txBody>
        </p:sp>
        <p:cxnSp>
          <p:nvCxnSpPr>
            <p:cNvPr id="21" name="Connecteur : en arc 20">
              <a:extLst>
                <a:ext uri="{FF2B5EF4-FFF2-40B4-BE49-F238E27FC236}">
                  <a16:creationId xmlns:a16="http://schemas.microsoft.com/office/drawing/2014/main" id="{BAD85323-58B6-7963-4953-29590BE0C185}"/>
                </a:ext>
              </a:extLst>
            </p:cNvPr>
            <p:cNvCxnSpPr/>
            <p:nvPr/>
          </p:nvCxnSpPr>
          <p:spPr>
            <a:xfrm rot="5400000" flipH="1" flipV="1">
              <a:off x="10629821" y="3179487"/>
              <a:ext cx="527339" cy="494522"/>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23" name="ZoneTexte 22">
              <a:extLst>
                <a:ext uri="{FF2B5EF4-FFF2-40B4-BE49-F238E27FC236}">
                  <a16:creationId xmlns:a16="http://schemas.microsoft.com/office/drawing/2014/main" id="{A204CCFE-F1F1-FDAA-FBAB-754FCB83AF98}"/>
                </a:ext>
              </a:extLst>
            </p:cNvPr>
            <p:cNvSpPr txBox="1"/>
            <p:nvPr/>
          </p:nvSpPr>
          <p:spPr>
            <a:xfrm>
              <a:off x="10646229" y="2924441"/>
              <a:ext cx="1331320" cy="276999"/>
            </a:xfrm>
            <a:prstGeom prst="rect">
              <a:avLst/>
            </a:prstGeom>
            <a:noFill/>
          </p:spPr>
          <p:txBody>
            <a:bodyPr wrap="square" rtlCol="0">
              <a:spAutoFit/>
            </a:bodyPr>
            <a:lstStyle/>
            <a:p>
              <a:r>
                <a:rPr lang="fr-FR" sz="1200" dirty="0">
                  <a:latin typeface="Aptos" panose="020B0004020202020204" pitchFamily="34" charset="0"/>
                </a:rPr>
                <a:t>Chemin d’</a:t>
              </a:r>
              <a:r>
                <a:rPr lang="fr-FR" sz="1200" dirty="0" err="1">
                  <a:latin typeface="Aptos" panose="020B0004020202020204" pitchFamily="34" charset="0"/>
                </a:rPr>
                <a:t>acces</a:t>
              </a:r>
              <a:endParaRPr lang="fr-FR" sz="1200" dirty="0">
                <a:latin typeface="Aptos" panose="020B0004020202020204" pitchFamily="34" charset="0"/>
              </a:endParaRPr>
            </a:p>
          </p:txBody>
        </p:sp>
      </p:grpSp>
    </p:spTree>
    <p:extLst>
      <p:ext uri="{BB962C8B-B14F-4D97-AF65-F5344CB8AC3E}">
        <p14:creationId xmlns:p14="http://schemas.microsoft.com/office/powerpoint/2010/main" val="5246043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DB977-0FF8-25F0-3457-BFCD0543983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5EEF430-E78F-F23A-D2BB-BAD00584DE8D}"/>
              </a:ext>
            </a:extLst>
          </p:cNvPr>
          <p:cNvSpPr/>
          <p:nvPr/>
        </p:nvSpPr>
        <p:spPr>
          <a:xfrm>
            <a:off x="0" y="0"/>
            <a:ext cx="12191695" cy="68580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3200" b="1" dirty="0">
                <a:latin typeface="Aptos" panose="020B0004020202020204" pitchFamily="34" charset="0"/>
              </a:rPr>
              <a:t>Les transactions</a:t>
            </a:r>
            <a:endParaRPr sz="3200" b="1" dirty="0">
              <a:latin typeface="Aptos" panose="020B0004020202020204" pitchFamily="34" charset="0"/>
            </a:endParaRPr>
          </a:p>
        </p:txBody>
      </p:sp>
      <p:sp>
        <p:nvSpPr>
          <p:cNvPr id="7" name="Espace réservé du numéro de diapositive 6">
            <a:extLst>
              <a:ext uri="{FF2B5EF4-FFF2-40B4-BE49-F238E27FC236}">
                <a16:creationId xmlns:a16="http://schemas.microsoft.com/office/drawing/2014/main" id="{6E09F258-39BC-BFFF-78AE-7BF1D05D7F79}"/>
              </a:ext>
            </a:extLst>
          </p:cNvPr>
          <p:cNvSpPr>
            <a:spLocks noGrp="1"/>
          </p:cNvSpPr>
          <p:nvPr>
            <p:ph type="sldNum" sz="quarter" idx="12"/>
          </p:nvPr>
        </p:nvSpPr>
        <p:spPr/>
        <p:txBody>
          <a:bodyPr/>
          <a:lstStyle/>
          <a:p>
            <a:fld id="{C1FF6DA9-008F-8B48-92A6-B652298478BF}" type="slidenum">
              <a:rPr lang="en-US" smtClean="0"/>
              <a:t>38</a:t>
            </a:fld>
            <a:endParaRPr lang="en-US"/>
          </a:p>
        </p:txBody>
      </p:sp>
    </p:spTree>
    <p:extLst>
      <p:ext uri="{BB962C8B-B14F-4D97-AF65-F5344CB8AC3E}">
        <p14:creationId xmlns:p14="http://schemas.microsoft.com/office/powerpoint/2010/main" val="6066399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18872"/>
            <a:ext cx="10058400" cy="411480"/>
          </a:xfrm>
          <a:prstGeom prst="rect">
            <a:avLst/>
          </a:prstGeom>
          <a:noFill/>
        </p:spPr>
        <p:txBody>
          <a:bodyPr wrap="none">
            <a:spAutoFit/>
          </a:bodyPr>
          <a:lstStyle/>
          <a:p>
            <a:pPr>
              <a:defRPr sz="2600" b="1">
                <a:solidFill>
                  <a:srgbClr val="FFFFFF"/>
                </a:solidFill>
                <a:latin typeface="Aptos Display"/>
              </a:defRPr>
            </a:pPr>
            <a:r>
              <a:t>Transactions</a:t>
            </a:r>
          </a:p>
        </p:txBody>
      </p:sp>
      <p:sp>
        <p:nvSpPr>
          <p:cNvPr id="7" name="TextBox 6"/>
          <p:cNvSpPr txBox="1"/>
          <p:nvPr/>
        </p:nvSpPr>
        <p:spPr>
          <a:xfrm>
            <a:off x="822807" y="1275874"/>
            <a:ext cx="5273040" cy="5170646"/>
          </a:xfrm>
          <a:prstGeom prst="rect">
            <a:avLst/>
          </a:prstGeom>
          <a:noFill/>
        </p:spPr>
        <p:txBody>
          <a:bodyPr wrap="square">
            <a:spAutoFit/>
          </a:bodyPr>
          <a:lstStyle/>
          <a:p>
            <a:pPr algn="just">
              <a:defRPr sz="2000">
                <a:solidFill>
                  <a:srgbClr val="232323"/>
                </a:solidFill>
                <a:latin typeface="Aptos"/>
              </a:defRPr>
            </a:pPr>
            <a:r>
              <a:rPr lang="fr-FR" sz="1600" dirty="0"/>
              <a:t>Une </a:t>
            </a:r>
            <a:r>
              <a:rPr lang="fr-FR" sz="1600" b="1" dirty="0"/>
              <a:t>transaction</a:t>
            </a:r>
            <a:r>
              <a:rPr lang="fr-FR" sz="1600" dirty="0"/>
              <a:t> regroupe </a:t>
            </a:r>
            <a:r>
              <a:rPr lang="fr-FR" sz="1600" b="1" dirty="0"/>
              <a:t>plusieurs opérations</a:t>
            </a:r>
            <a:r>
              <a:rPr lang="fr-FR" sz="1600" dirty="0"/>
              <a:t>.</a:t>
            </a:r>
          </a:p>
          <a:p>
            <a:pPr algn="just">
              <a:defRPr sz="2000">
                <a:solidFill>
                  <a:srgbClr val="232323"/>
                </a:solidFill>
                <a:latin typeface="Aptos"/>
              </a:defRPr>
            </a:pPr>
            <a:r>
              <a:rPr lang="fr-FR" sz="1600" dirty="0"/>
              <a:t>Dans le premier exemple il y a 2 transactions alors que dans le deuxième il y en a qu’une. </a:t>
            </a:r>
          </a:p>
          <a:p>
            <a:pPr algn="just">
              <a:spcAft>
                <a:spcPts val="1200"/>
              </a:spcAft>
              <a:defRPr sz="2000">
                <a:solidFill>
                  <a:srgbClr val="232323"/>
                </a:solidFill>
                <a:latin typeface="Aptos"/>
              </a:defRPr>
            </a:pPr>
            <a:endParaRPr lang="fr-FR" sz="1600" dirty="0"/>
          </a:p>
          <a:p>
            <a:pPr algn="just">
              <a:defRPr sz="2000">
                <a:solidFill>
                  <a:srgbClr val="232323"/>
                </a:solidFill>
                <a:latin typeface="Aptos"/>
              </a:defRPr>
            </a:pPr>
            <a:r>
              <a:rPr lang="fr-FR" sz="1600" b="1" dirty="0"/>
              <a:t>Exemple 1 :</a:t>
            </a:r>
          </a:p>
          <a:p>
            <a:pPr marL="285750" indent="-285750" algn="just">
              <a:buFont typeface="Arial" panose="020B0604020202020204" pitchFamily="34" charset="0"/>
              <a:buChar char="•"/>
              <a:defRPr sz="2000">
                <a:solidFill>
                  <a:srgbClr val="232323"/>
                </a:solidFill>
                <a:latin typeface="Aptos"/>
              </a:defRPr>
            </a:pPr>
            <a:r>
              <a:rPr lang="fr-FR" sz="1600" dirty="0"/>
              <a:t>Transaction 1 : </a:t>
            </a:r>
            <a:r>
              <a:rPr lang="fr-FR" sz="1600" dirty="0" err="1"/>
              <a:t>delete</a:t>
            </a:r>
            <a:endParaRPr lang="fr-FR" sz="1600" dirty="0"/>
          </a:p>
          <a:p>
            <a:pPr marL="285750" indent="-285750" algn="just">
              <a:buFont typeface="Arial" panose="020B0604020202020204" pitchFamily="34" charset="0"/>
              <a:buChar char="•"/>
              <a:defRPr sz="2000">
                <a:solidFill>
                  <a:srgbClr val="232323"/>
                </a:solidFill>
                <a:latin typeface="Aptos"/>
              </a:defRPr>
            </a:pPr>
            <a:r>
              <a:rPr lang="fr-FR" sz="1600" dirty="0"/>
              <a:t>Transaction 2 : </a:t>
            </a:r>
            <a:r>
              <a:rPr lang="fr-FR" sz="1600" dirty="0" err="1"/>
              <a:t>create</a:t>
            </a:r>
            <a:r>
              <a:rPr lang="fr-FR" sz="1600" dirty="0"/>
              <a:t> </a:t>
            </a:r>
          </a:p>
          <a:p>
            <a:pPr algn="just">
              <a:defRPr sz="2000">
                <a:solidFill>
                  <a:srgbClr val="232323"/>
                </a:solidFill>
                <a:latin typeface="Aptos"/>
              </a:defRPr>
            </a:pPr>
            <a:r>
              <a:rPr lang="fr-FR" sz="1600" dirty="0"/>
              <a:t>Le souci de cette approche est que si il y a un souci lors du </a:t>
            </a:r>
            <a:r>
              <a:rPr lang="fr-FR" sz="1600" dirty="0" err="1"/>
              <a:t>create</a:t>
            </a:r>
            <a:r>
              <a:rPr lang="fr-FR" sz="1600" dirty="0"/>
              <a:t>, le </a:t>
            </a:r>
            <a:r>
              <a:rPr lang="fr-FR" sz="1600" dirty="0" err="1"/>
              <a:t>delete</a:t>
            </a:r>
            <a:r>
              <a:rPr lang="fr-FR" sz="1600" dirty="0"/>
              <a:t> aura été effectué et donc l’utilisateur sera définitivement supprimé </a:t>
            </a:r>
          </a:p>
          <a:p>
            <a:pPr algn="just">
              <a:defRPr sz="2000">
                <a:solidFill>
                  <a:srgbClr val="232323"/>
                </a:solidFill>
                <a:latin typeface="Aptos"/>
              </a:defRPr>
            </a:pPr>
            <a:endParaRPr lang="fr-FR" sz="1600" dirty="0"/>
          </a:p>
          <a:p>
            <a:pPr algn="just">
              <a:defRPr sz="2000">
                <a:solidFill>
                  <a:srgbClr val="232323"/>
                </a:solidFill>
                <a:latin typeface="Aptos"/>
              </a:defRPr>
            </a:pPr>
            <a:r>
              <a:rPr lang="fr-FR" sz="1600" b="1" dirty="0"/>
              <a:t>Exemple 2:</a:t>
            </a:r>
          </a:p>
          <a:p>
            <a:pPr marL="285750" indent="-285750" algn="just">
              <a:buFont typeface="Arial" panose="020B0604020202020204" pitchFamily="34" charset="0"/>
              <a:buChar char="•"/>
              <a:defRPr sz="2000">
                <a:solidFill>
                  <a:srgbClr val="232323"/>
                </a:solidFill>
                <a:latin typeface="Aptos"/>
              </a:defRPr>
            </a:pPr>
            <a:r>
              <a:rPr lang="fr-FR" sz="1600" dirty="0"/>
              <a:t>Transaction : </a:t>
            </a:r>
            <a:r>
              <a:rPr lang="fr-FR" sz="1600" dirty="0" err="1"/>
              <a:t>delete</a:t>
            </a:r>
            <a:r>
              <a:rPr lang="fr-FR" sz="1600" dirty="0"/>
              <a:t> + </a:t>
            </a:r>
            <a:r>
              <a:rPr lang="fr-FR" sz="1600" dirty="0" err="1"/>
              <a:t>create</a:t>
            </a:r>
            <a:r>
              <a:rPr lang="fr-FR" sz="1600" dirty="0"/>
              <a:t> </a:t>
            </a:r>
          </a:p>
          <a:p>
            <a:pPr algn="just">
              <a:defRPr sz="2000">
                <a:solidFill>
                  <a:srgbClr val="232323"/>
                </a:solidFill>
                <a:latin typeface="Aptos"/>
              </a:defRPr>
            </a:pPr>
            <a:r>
              <a:rPr lang="fr-FR" sz="1600" dirty="0"/>
              <a:t>Dans cette situation, si le </a:t>
            </a:r>
            <a:r>
              <a:rPr lang="fr-FR" sz="1600" dirty="0" err="1"/>
              <a:t>create</a:t>
            </a:r>
            <a:r>
              <a:rPr lang="fr-FR" sz="1600" dirty="0"/>
              <a:t> pose problème le </a:t>
            </a:r>
            <a:r>
              <a:rPr lang="fr-FR" sz="1600" dirty="0" err="1"/>
              <a:t>delete</a:t>
            </a:r>
            <a:r>
              <a:rPr lang="fr-FR" sz="1600" dirty="0"/>
              <a:t> ne sera pas appliqué donc nous reviendrons dans la situation initiale</a:t>
            </a:r>
          </a:p>
          <a:p>
            <a:pPr algn="just">
              <a:defRPr sz="2000">
                <a:solidFill>
                  <a:srgbClr val="232323"/>
                </a:solidFill>
                <a:latin typeface="Aptos"/>
              </a:defRPr>
            </a:pPr>
            <a:endParaRPr lang="fr-FR" sz="1600" dirty="0"/>
          </a:p>
          <a:p>
            <a:pPr algn="just">
              <a:defRPr sz="2000">
                <a:solidFill>
                  <a:srgbClr val="232323"/>
                </a:solidFill>
                <a:latin typeface="Aptos"/>
              </a:defRPr>
            </a:pPr>
            <a:r>
              <a:rPr lang="fr-FR" sz="1600" dirty="0">
                <a:sym typeface="Wingdings" panose="05000000000000000000" pitchFamily="2" charset="2"/>
              </a:rPr>
              <a:t> Suivant le besoin il faut donc utiliser le </a:t>
            </a:r>
            <a:r>
              <a:rPr lang="fr-FR" sz="1600" b="1" dirty="0">
                <a:sym typeface="Wingdings" panose="05000000000000000000" pitchFamily="2" charset="2"/>
              </a:rPr>
              <a:t>@Transactionnal</a:t>
            </a:r>
            <a:endParaRPr lang="fr-FR" sz="1600" b="1" dirty="0"/>
          </a:p>
          <a:p>
            <a:pPr>
              <a:spcAft>
                <a:spcPts val="1200"/>
              </a:spcAft>
              <a:defRPr sz="2000">
                <a:solidFill>
                  <a:srgbClr val="232323"/>
                </a:solidFill>
                <a:latin typeface="Aptos"/>
              </a:defRPr>
            </a:pPr>
            <a:endParaRPr lang="fr-FR" sz="1600" dirty="0"/>
          </a:p>
        </p:txBody>
      </p:sp>
      <p:sp>
        <p:nvSpPr>
          <p:cNvPr id="8" name="TextBox 7"/>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9" name="Espace réservé du numéro de diapositive 8">
            <a:extLst>
              <a:ext uri="{FF2B5EF4-FFF2-40B4-BE49-F238E27FC236}">
                <a16:creationId xmlns:a16="http://schemas.microsoft.com/office/drawing/2014/main" id="{09C33222-2870-FE23-D189-BD703D747159}"/>
              </a:ext>
            </a:extLst>
          </p:cNvPr>
          <p:cNvSpPr>
            <a:spLocks noGrp="1"/>
          </p:cNvSpPr>
          <p:nvPr>
            <p:ph type="sldNum" sz="quarter" idx="12"/>
          </p:nvPr>
        </p:nvSpPr>
        <p:spPr/>
        <p:txBody>
          <a:bodyPr/>
          <a:lstStyle/>
          <a:p>
            <a:fld id="{C1FF6DA9-008F-8B48-92A6-B652298478BF}" type="slidenum">
              <a:rPr lang="en-US" smtClean="0"/>
              <a:t>39</a:t>
            </a:fld>
            <a:endParaRPr lang="en-US"/>
          </a:p>
        </p:txBody>
      </p:sp>
      <p:pic>
        <p:nvPicPr>
          <p:cNvPr id="11" name="Image 10">
            <a:extLst>
              <a:ext uri="{FF2B5EF4-FFF2-40B4-BE49-F238E27FC236}">
                <a16:creationId xmlns:a16="http://schemas.microsoft.com/office/drawing/2014/main" id="{B71CA6F8-CACF-796F-1AF5-8F89EF86F8EA}"/>
              </a:ext>
            </a:extLst>
          </p:cNvPr>
          <p:cNvPicPr>
            <a:picLocks noChangeAspect="1"/>
          </p:cNvPicPr>
          <p:nvPr/>
        </p:nvPicPr>
        <p:blipFill>
          <a:blip r:embed="rId2"/>
          <a:stretch>
            <a:fillRect/>
          </a:stretch>
        </p:blipFill>
        <p:spPr>
          <a:xfrm>
            <a:off x="7007759" y="4301475"/>
            <a:ext cx="5020674" cy="1971513"/>
          </a:xfrm>
          <a:prstGeom prst="rect">
            <a:avLst/>
          </a:prstGeom>
        </p:spPr>
      </p:pic>
      <p:pic>
        <p:nvPicPr>
          <p:cNvPr id="13" name="Image 12">
            <a:extLst>
              <a:ext uri="{FF2B5EF4-FFF2-40B4-BE49-F238E27FC236}">
                <a16:creationId xmlns:a16="http://schemas.microsoft.com/office/drawing/2014/main" id="{9968B5CA-5F32-B272-FC15-C35C77AB1A34}"/>
              </a:ext>
            </a:extLst>
          </p:cNvPr>
          <p:cNvPicPr>
            <a:picLocks noChangeAspect="1"/>
          </p:cNvPicPr>
          <p:nvPr/>
        </p:nvPicPr>
        <p:blipFill>
          <a:blip r:embed="rId3"/>
          <a:stretch>
            <a:fillRect/>
          </a:stretch>
        </p:blipFill>
        <p:spPr>
          <a:xfrm>
            <a:off x="7007759" y="1324882"/>
            <a:ext cx="5020674" cy="213168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3AB12-F78D-D297-5177-B00CD048BE9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A95DE32-CAF2-9C4B-64D1-FCA20DA8E80F}"/>
              </a:ext>
            </a:extLst>
          </p:cNvPr>
          <p:cNvSpPr/>
          <p:nvPr/>
        </p:nvSpPr>
        <p:spPr>
          <a:xfrm>
            <a:off x="0" y="0"/>
            <a:ext cx="12191695" cy="68580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3200" b="1" dirty="0">
                <a:latin typeface="Aptos" panose="020B0004020202020204" pitchFamily="34" charset="0"/>
              </a:rPr>
              <a:t>Les tests</a:t>
            </a:r>
            <a:endParaRPr sz="3200" b="1" dirty="0">
              <a:latin typeface="Aptos" panose="020B0004020202020204" pitchFamily="34" charset="0"/>
            </a:endParaRPr>
          </a:p>
        </p:txBody>
      </p:sp>
      <p:sp>
        <p:nvSpPr>
          <p:cNvPr id="7" name="Espace réservé du numéro de diapositive 6">
            <a:extLst>
              <a:ext uri="{FF2B5EF4-FFF2-40B4-BE49-F238E27FC236}">
                <a16:creationId xmlns:a16="http://schemas.microsoft.com/office/drawing/2014/main" id="{08C0703C-9E3B-9A60-35BC-5729ED773995}"/>
              </a:ext>
            </a:extLst>
          </p:cNvPr>
          <p:cNvSpPr>
            <a:spLocks noGrp="1"/>
          </p:cNvSpPr>
          <p:nvPr>
            <p:ph type="sldNum" sz="quarter" idx="12"/>
          </p:nvPr>
        </p:nvSpPr>
        <p:spPr/>
        <p:txBody>
          <a:bodyPr/>
          <a:lstStyle/>
          <a:p>
            <a:fld id="{C1FF6DA9-008F-8B48-92A6-B652298478BF}" type="slidenum">
              <a:rPr lang="en-US" smtClean="0"/>
              <a:t>40</a:t>
            </a:fld>
            <a:endParaRPr lang="en-US"/>
          </a:p>
        </p:txBody>
      </p:sp>
    </p:spTree>
    <p:extLst>
      <p:ext uri="{BB962C8B-B14F-4D97-AF65-F5344CB8AC3E}">
        <p14:creationId xmlns:p14="http://schemas.microsoft.com/office/powerpoint/2010/main" val="989652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B6C2B-C2FD-4FCC-B36B-9C889082E8B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D63CD9-F7E8-8071-BD06-13606672A65B}"/>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B0A2549-4DAB-0778-1812-D8631E054108}"/>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1B753EA7-1CE0-05CC-78A5-BCC4A221C658}"/>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F103A95-66D3-86E6-1069-CE0C72E9E649}"/>
              </a:ext>
            </a:extLst>
          </p:cNvPr>
          <p:cNvSpPr txBox="1"/>
          <p:nvPr/>
        </p:nvSpPr>
        <p:spPr>
          <a:xfrm>
            <a:off x="502920" y="118872"/>
            <a:ext cx="10058400" cy="411480"/>
          </a:xfrm>
          <a:prstGeom prst="rect">
            <a:avLst/>
          </a:prstGeom>
          <a:noFill/>
        </p:spPr>
        <p:txBody>
          <a:bodyPr wrap="none">
            <a:spAutoFit/>
          </a:bodyPr>
          <a:lstStyle/>
          <a:p>
            <a:pPr>
              <a:defRPr sz="2600" b="1">
                <a:solidFill>
                  <a:srgbClr val="FFFFFF"/>
                </a:solidFill>
                <a:latin typeface="Aptos Display"/>
              </a:defRPr>
            </a:pPr>
            <a:r>
              <a:t>Tester une application Spring Boot</a:t>
            </a:r>
          </a:p>
        </p:txBody>
      </p:sp>
      <p:sp>
        <p:nvSpPr>
          <p:cNvPr id="7" name="TextBox 6">
            <a:extLst>
              <a:ext uri="{FF2B5EF4-FFF2-40B4-BE49-F238E27FC236}">
                <a16:creationId xmlns:a16="http://schemas.microsoft.com/office/drawing/2014/main" id="{B8BC705B-3F93-E5C9-043B-F1E0AE6580C8}"/>
              </a:ext>
            </a:extLst>
          </p:cNvPr>
          <p:cNvSpPr txBox="1"/>
          <p:nvPr/>
        </p:nvSpPr>
        <p:spPr>
          <a:xfrm>
            <a:off x="588010" y="2120949"/>
            <a:ext cx="6168390" cy="2616101"/>
          </a:xfrm>
          <a:prstGeom prst="rect">
            <a:avLst/>
          </a:prstGeom>
          <a:noFill/>
        </p:spPr>
        <p:txBody>
          <a:bodyPr wrap="square">
            <a:spAutoFit/>
          </a:bodyPr>
          <a:lstStyle/>
          <a:p>
            <a:pPr algn="just">
              <a:spcAft>
                <a:spcPts val="1200"/>
              </a:spcAft>
              <a:defRPr sz="2000">
                <a:solidFill>
                  <a:srgbClr val="232323"/>
                </a:solidFill>
                <a:latin typeface="Aptos"/>
              </a:defRPr>
            </a:pPr>
            <a:r>
              <a:rPr lang="fr-FR" sz="1600" dirty="0"/>
              <a:t>L’écriture de </a:t>
            </a:r>
            <a:r>
              <a:rPr lang="fr-FR" sz="1600" b="1" dirty="0"/>
              <a:t>test</a:t>
            </a:r>
            <a:r>
              <a:rPr lang="fr-FR" sz="1600" dirty="0"/>
              <a:t> est une chose </a:t>
            </a:r>
            <a:r>
              <a:rPr lang="fr-FR" sz="1600" b="1" dirty="0"/>
              <a:t>tout aussi importante </a:t>
            </a:r>
            <a:r>
              <a:rPr lang="fr-FR" sz="1600" dirty="0"/>
              <a:t>que votre code. Cela permettra de vérifier le bon comportement </a:t>
            </a:r>
            <a:r>
              <a:rPr lang="fr-FR" sz="1600" b="1" dirty="0"/>
              <a:t>automatiquement</a:t>
            </a:r>
            <a:r>
              <a:rPr lang="fr-FR" sz="1600" dirty="0"/>
              <a:t>. Il vous suffit de préparer votre jeu de données et d’écrire quelque ligne de plus.</a:t>
            </a:r>
          </a:p>
          <a:p>
            <a:pPr algn="just">
              <a:spcAft>
                <a:spcPts val="1200"/>
              </a:spcAft>
              <a:defRPr sz="2000">
                <a:solidFill>
                  <a:srgbClr val="232323"/>
                </a:solidFill>
                <a:latin typeface="Aptos"/>
              </a:defRPr>
            </a:pPr>
            <a:endParaRPr lang="fr-FR" sz="1600" dirty="0"/>
          </a:p>
          <a:p>
            <a:pPr algn="just">
              <a:spcAft>
                <a:spcPts val="1200"/>
              </a:spcAft>
              <a:defRPr sz="2000">
                <a:solidFill>
                  <a:srgbClr val="232323"/>
                </a:solidFill>
                <a:latin typeface="Aptos"/>
              </a:defRPr>
            </a:pPr>
            <a:r>
              <a:rPr lang="fr-FR" sz="1600" dirty="0"/>
              <a:t>Si par la suite vous venez à </a:t>
            </a:r>
            <a:r>
              <a:rPr lang="fr-FR" sz="1600" b="1" dirty="0"/>
              <a:t>modifier votre code </a:t>
            </a:r>
            <a:r>
              <a:rPr lang="fr-FR" sz="1600" dirty="0"/>
              <a:t>car le besoin évolue, le test permettra de vous </a:t>
            </a:r>
            <a:r>
              <a:rPr lang="fr-FR" sz="1600" b="1" dirty="0"/>
              <a:t>assurer</a:t>
            </a:r>
            <a:r>
              <a:rPr lang="fr-FR" sz="1600" dirty="0"/>
              <a:t> que les règles précédentes </a:t>
            </a:r>
            <a:r>
              <a:rPr lang="fr-FR" sz="1600" b="1" dirty="0"/>
              <a:t>fonctionnent toujours</a:t>
            </a:r>
            <a:r>
              <a:rPr lang="fr-FR" sz="1600" dirty="0"/>
              <a:t>. Ca permet de gagner du temps sur le long terme.</a:t>
            </a:r>
          </a:p>
        </p:txBody>
      </p:sp>
      <p:sp>
        <p:nvSpPr>
          <p:cNvPr id="8" name="TextBox 7">
            <a:extLst>
              <a:ext uri="{FF2B5EF4-FFF2-40B4-BE49-F238E27FC236}">
                <a16:creationId xmlns:a16="http://schemas.microsoft.com/office/drawing/2014/main" id="{8733C1E0-BE14-CACE-DDB7-5D4DAE49B289}"/>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9" name="Espace réservé du numéro de diapositive 8">
            <a:extLst>
              <a:ext uri="{FF2B5EF4-FFF2-40B4-BE49-F238E27FC236}">
                <a16:creationId xmlns:a16="http://schemas.microsoft.com/office/drawing/2014/main" id="{8B1DD689-FD08-2CCE-95F7-81B6F4615717}"/>
              </a:ext>
            </a:extLst>
          </p:cNvPr>
          <p:cNvSpPr>
            <a:spLocks noGrp="1"/>
          </p:cNvSpPr>
          <p:nvPr>
            <p:ph type="sldNum" sz="quarter" idx="12"/>
          </p:nvPr>
        </p:nvSpPr>
        <p:spPr/>
        <p:txBody>
          <a:bodyPr/>
          <a:lstStyle/>
          <a:p>
            <a:fld id="{C1FF6DA9-008F-8B48-92A6-B652298478BF}" type="slidenum">
              <a:rPr lang="en-US" smtClean="0"/>
              <a:t>41</a:t>
            </a:fld>
            <a:endParaRPr lang="en-US"/>
          </a:p>
        </p:txBody>
      </p:sp>
      <p:pic>
        <p:nvPicPr>
          <p:cNvPr id="10" name="Image 9">
            <a:extLst>
              <a:ext uri="{FF2B5EF4-FFF2-40B4-BE49-F238E27FC236}">
                <a16:creationId xmlns:a16="http://schemas.microsoft.com/office/drawing/2014/main" id="{9FEECE0B-307A-58D6-D9D7-A96C404FD36C}"/>
              </a:ext>
            </a:extLst>
          </p:cNvPr>
          <p:cNvPicPr>
            <a:picLocks noChangeAspect="1"/>
          </p:cNvPicPr>
          <p:nvPr/>
        </p:nvPicPr>
        <p:blipFill>
          <a:blip r:embed="rId2"/>
          <a:stretch>
            <a:fillRect/>
          </a:stretch>
        </p:blipFill>
        <p:spPr>
          <a:xfrm>
            <a:off x="7782064" y="2192527"/>
            <a:ext cx="4067415" cy="2254144"/>
          </a:xfrm>
          <a:prstGeom prst="rect">
            <a:avLst/>
          </a:prstGeom>
        </p:spPr>
      </p:pic>
      <p:cxnSp>
        <p:nvCxnSpPr>
          <p:cNvPr id="12" name="Connecteur : en arc 11">
            <a:extLst>
              <a:ext uri="{FF2B5EF4-FFF2-40B4-BE49-F238E27FC236}">
                <a16:creationId xmlns:a16="http://schemas.microsoft.com/office/drawing/2014/main" id="{D6FC0CB4-B266-A4A7-FABD-B9AAB663BE4D}"/>
              </a:ext>
            </a:extLst>
          </p:cNvPr>
          <p:cNvCxnSpPr/>
          <p:nvPr/>
        </p:nvCxnSpPr>
        <p:spPr>
          <a:xfrm rot="16200000" flipH="1">
            <a:off x="8659061" y="4474410"/>
            <a:ext cx="893679" cy="838200"/>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ZoneTexte 12">
            <a:extLst>
              <a:ext uri="{FF2B5EF4-FFF2-40B4-BE49-F238E27FC236}">
                <a16:creationId xmlns:a16="http://schemas.microsoft.com/office/drawing/2014/main" id="{E195380F-1FBF-7B36-8560-26E450B527D7}"/>
              </a:ext>
            </a:extLst>
          </p:cNvPr>
          <p:cNvSpPr txBox="1"/>
          <p:nvPr/>
        </p:nvSpPr>
        <p:spPr>
          <a:xfrm>
            <a:off x="8991600" y="5369433"/>
            <a:ext cx="1511300" cy="461665"/>
          </a:xfrm>
          <a:prstGeom prst="rect">
            <a:avLst/>
          </a:prstGeom>
          <a:noFill/>
        </p:spPr>
        <p:txBody>
          <a:bodyPr wrap="square" rtlCol="0">
            <a:spAutoFit/>
          </a:bodyPr>
          <a:lstStyle/>
          <a:p>
            <a:r>
              <a:rPr lang="fr-FR" sz="1200" dirty="0"/>
              <a:t>Exemple de test qui passe</a:t>
            </a:r>
          </a:p>
        </p:txBody>
      </p:sp>
    </p:spTree>
    <p:extLst>
      <p:ext uri="{BB962C8B-B14F-4D97-AF65-F5344CB8AC3E}">
        <p14:creationId xmlns:p14="http://schemas.microsoft.com/office/powerpoint/2010/main" val="25614428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DA64E-7A64-6CB6-032C-E2243E26943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4E9877A-FD31-D358-A773-915CA66D737B}"/>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0E05706C-2AA7-BF1C-D14A-F4531954C784}"/>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5D5BDAE3-CEAB-DBF2-39CB-4EF911116715}"/>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727104FB-FC74-47EB-FAA7-44661CB0CE77}"/>
              </a:ext>
            </a:extLst>
          </p:cNvPr>
          <p:cNvSpPr txBox="1"/>
          <p:nvPr/>
        </p:nvSpPr>
        <p:spPr>
          <a:xfrm>
            <a:off x="502920" y="118872"/>
            <a:ext cx="10058400" cy="411480"/>
          </a:xfrm>
          <a:prstGeom prst="rect">
            <a:avLst/>
          </a:prstGeom>
          <a:noFill/>
        </p:spPr>
        <p:txBody>
          <a:bodyPr wrap="none">
            <a:spAutoFit/>
          </a:bodyPr>
          <a:lstStyle/>
          <a:p>
            <a:pPr>
              <a:defRPr sz="2600" b="1">
                <a:solidFill>
                  <a:srgbClr val="FFFFFF"/>
                </a:solidFill>
                <a:latin typeface="Aptos Display"/>
              </a:defRPr>
            </a:pPr>
            <a:r>
              <a:t>Tester une application Spring Boot</a:t>
            </a:r>
          </a:p>
        </p:txBody>
      </p:sp>
      <p:sp>
        <p:nvSpPr>
          <p:cNvPr id="7" name="TextBox 6">
            <a:extLst>
              <a:ext uri="{FF2B5EF4-FFF2-40B4-BE49-F238E27FC236}">
                <a16:creationId xmlns:a16="http://schemas.microsoft.com/office/drawing/2014/main" id="{19765A36-862D-213F-9A58-45E4B4BED4E6}"/>
              </a:ext>
            </a:extLst>
          </p:cNvPr>
          <p:cNvSpPr txBox="1"/>
          <p:nvPr/>
        </p:nvSpPr>
        <p:spPr>
          <a:xfrm>
            <a:off x="588010" y="1031462"/>
            <a:ext cx="10515600" cy="3785652"/>
          </a:xfrm>
          <a:prstGeom prst="rect">
            <a:avLst/>
          </a:prstGeom>
          <a:noFill/>
        </p:spPr>
        <p:txBody>
          <a:bodyPr wrap="square">
            <a:spAutoFit/>
          </a:bodyPr>
          <a:lstStyle/>
          <a:p>
            <a:pPr algn="just">
              <a:defRPr sz="2000">
                <a:solidFill>
                  <a:srgbClr val="232323"/>
                </a:solidFill>
                <a:latin typeface="Aptos"/>
              </a:defRPr>
            </a:pPr>
            <a:r>
              <a:rPr lang="fr-FR" sz="1600" dirty="0"/>
              <a:t>Il existe différents types de test :</a:t>
            </a:r>
          </a:p>
          <a:p>
            <a:pPr marL="342900" indent="-342900" algn="just">
              <a:buFont typeface="Arial" panose="020B0604020202020204" pitchFamily="34" charset="0"/>
              <a:buChar char="•"/>
              <a:defRPr sz="2000">
                <a:solidFill>
                  <a:srgbClr val="232323"/>
                </a:solidFill>
                <a:latin typeface="Aptos"/>
              </a:defRPr>
            </a:pPr>
            <a:r>
              <a:rPr lang="fr-FR" sz="1600" b="1" dirty="0"/>
              <a:t>Test unitaire</a:t>
            </a:r>
          </a:p>
          <a:p>
            <a:pPr marL="342900" indent="-342900" algn="just">
              <a:buFont typeface="Arial" panose="020B0604020202020204" pitchFamily="34" charset="0"/>
              <a:buChar char="•"/>
              <a:defRPr sz="2000">
                <a:solidFill>
                  <a:srgbClr val="232323"/>
                </a:solidFill>
                <a:latin typeface="Aptos"/>
              </a:defRPr>
            </a:pPr>
            <a:r>
              <a:rPr lang="fr-FR" sz="1600" b="1" dirty="0"/>
              <a:t>Test d’intégration </a:t>
            </a:r>
          </a:p>
          <a:p>
            <a:pPr marL="342900" indent="-342900" algn="just">
              <a:buFont typeface="Arial" panose="020B0604020202020204" pitchFamily="34" charset="0"/>
              <a:buChar char="•"/>
              <a:defRPr sz="2000">
                <a:solidFill>
                  <a:srgbClr val="232323"/>
                </a:solidFill>
                <a:latin typeface="Aptos"/>
              </a:defRPr>
            </a:pPr>
            <a:r>
              <a:rPr lang="fr-FR" sz="1600" dirty="0"/>
              <a:t>Test de non </a:t>
            </a:r>
            <a:r>
              <a:rPr lang="fr-FR" sz="1600" dirty="0" err="1"/>
              <a:t>regression</a:t>
            </a:r>
            <a:endParaRPr lang="fr-FR" sz="1600" dirty="0"/>
          </a:p>
          <a:p>
            <a:pPr marL="342900" indent="-342900" algn="just">
              <a:buFont typeface="Arial" panose="020B0604020202020204" pitchFamily="34" charset="0"/>
              <a:buChar char="•"/>
              <a:defRPr sz="2000">
                <a:solidFill>
                  <a:srgbClr val="232323"/>
                </a:solidFill>
                <a:latin typeface="Aptos"/>
              </a:defRPr>
            </a:pPr>
            <a:r>
              <a:rPr lang="fr-FR" sz="1600" dirty="0"/>
              <a:t>Test End-to-end</a:t>
            </a:r>
          </a:p>
          <a:p>
            <a:pPr marL="342900" indent="-342900" algn="just">
              <a:buFont typeface="Arial" panose="020B0604020202020204" pitchFamily="34" charset="0"/>
              <a:buChar char="•"/>
              <a:defRPr sz="2000">
                <a:solidFill>
                  <a:srgbClr val="232323"/>
                </a:solidFill>
                <a:latin typeface="Aptos"/>
              </a:defRPr>
            </a:pPr>
            <a:r>
              <a:rPr lang="fr-FR" sz="1600" dirty="0"/>
              <a:t>Test d’acceptation </a:t>
            </a:r>
          </a:p>
          <a:p>
            <a:pPr marL="342900" indent="-342900" algn="just">
              <a:buFont typeface="Arial" panose="020B0604020202020204" pitchFamily="34" charset="0"/>
              <a:buChar char="•"/>
              <a:defRPr sz="2000">
                <a:solidFill>
                  <a:srgbClr val="232323"/>
                </a:solidFill>
                <a:latin typeface="Aptos"/>
              </a:defRPr>
            </a:pPr>
            <a:endParaRPr lang="fr-FR" sz="1600" dirty="0"/>
          </a:p>
          <a:p>
            <a:pPr algn="just">
              <a:defRPr sz="2000">
                <a:solidFill>
                  <a:srgbClr val="232323"/>
                </a:solidFill>
                <a:latin typeface="Aptos"/>
              </a:defRPr>
            </a:pPr>
            <a:r>
              <a:rPr lang="fr-FR" sz="1600" dirty="0"/>
              <a:t>Chaque test à sa fonctionnalité : le </a:t>
            </a:r>
            <a:r>
              <a:rPr lang="fr-FR" sz="1600" b="1" dirty="0"/>
              <a:t>test unitaire </a:t>
            </a:r>
            <a:r>
              <a:rPr lang="fr-FR" sz="1600" dirty="0"/>
              <a:t>est </a:t>
            </a:r>
            <a:r>
              <a:rPr lang="fr-FR" sz="1600" b="1" dirty="0"/>
              <a:t>rapide</a:t>
            </a:r>
            <a:r>
              <a:rPr lang="fr-FR" sz="1600" dirty="0"/>
              <a:t>, ne nécessite pas de base de données alors que le </a:t>
            </a:r>
            <a:r>
              <a:rPr lang="fr-FR" sz="1600" b="1" dirty="0"/>
              <a:t>test</a:t>
            </a:r>
            <a:r>
              <a:rPr lang="fr-FR" sz="1600" dirty="0"/>
              <a:t> </a:t>
            </a:r>
            <a:r>
              <a:rPr lang="fr-FR" sz="1600" b="1" dirty="0"/>
              <a:t>d’intégration</a:t>
            </a:r>
            <a:r>
              <a:rPr lang="fr-FR" sz="1600" dirty="0"/>
              <a:t> va être plus long car il </a:t>
            </a:r>
            <a:r>
              <a:rPr lang="fr-FR" sz="1600" b="1" dirty="0"/>
              <a:t>démarre toute l’application </a:t>
            </a:r>
            <a:r>
              <a:rPr lang="fr-FR" sz="1600" dirty="0"/>
              <a:t>(et donc lancement de springboot), il demande une </a:t>
            </a:r>
            <a:r>
              <a:rPr lang="fr-FR" sz="1600" b="1" dirty="0"/>
              <a:t>base de données </a:t>
            </a:r>
            <a:r>
              <a:rPr lang="fr-FR" sz="1600" dirty="0"/>
              <a:t>mais permet de tester l’ensemble de fonctionnalité.</a:t>
            </a:r>
          </a:p>
          <a:p>
            <a:pPr marL="342900" indent="-342900" algn="just">
              <a:buFont typeface="Arial" panose="020B0604020202020204" pitchFamily="34" charset="0"/>
              <a:buChar char="•"/>
              <a:defRPr sz="2000">
                <a:solidFill>
                  <a:srgbClr val="232323"/>
                </a:solidFill>
                <a:latin typeface="Aptos"/>
              </a:defRPr>
            </a:pPr>
            <a:endParaRPr lang="fr-FR" sz="1600" dirty="0"/>
          </a:p>
          <a:p>
            <a:pPr algn="just">
              <a:defRPr sz="2000">
                <a:solidFill>
                  <a:srgbClr val="232323"/>
                </a:solidFill>
                <a:latin typeface="Aptos"/>
              </a:defRPr>
            </a:pPr>
            <a:r>
              <a:rPr lang="fr-FR" sz="1600" dirty="0"/>
              <a:t>En fonction de votre rôle dans l’équipe vous ne ferez pas les mêmes tests. Le développeur va se concentrer sur les deux premiers, l’AF les deux suivants et le dernier sera fait par le BA. Ils seront donc effectués dans des environnements différents et avec des jeux de tests différents. </a:t>
            </a:r>
          </a:p>
          <a:p>
            <a:pPr>
              <a:defRPr sz="2000">
                <a:solidFill>
                  <a:srgbClr val="232323"/>
                </a:solidFill>
                <a:latin typeface="Aptos"/>
              </a:defRPr>
            </a:pPr>
            <a:endParaRPr lang="fr-FR" sz="1600" dirty="0"/>
          </a:p>
        </p:txBody>
      </p:sp>
      <p:sp>
        <p:nvSpPr>
          <p:cNvPr id="8" name="TextBox 7">
            <a:extLst>
              <a:ext uri="{FF2B5EF4-FFF2-40B4-BE49-F238E27FC236}">
                <a16:creationId xmlns:a16="http://schemas.microsoft.com/office/drawing/2014/main" id="{11518096-FA65-DE89-0674-D16FFEBF67D9}"/>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9" name="Espace réservé du numéro de diapositive 8">
            <a:extLst>
              <a:ext uri="{FF2B5EF4-FFF2-40B4-BE49-F238E27FC236}">
                <a16:creationId xmlns:a16="http://schemas.microsoft.com/office/drawing/2014/main" id="{7A91F91E-E30F-4D64-2F78-64FDEF620782}"/>
              </a:ext>
            </a:extLst>
          </p:cNvPr>
          <p:cNvSpPr>
            <a:spLocks noGrp="1"/>
          </p:cNvSpPr>
          <p:nvPr>
            <p:ph type="sldNum" sz="quarter" idx="12"/>
          </p:nvPr>
        </p:nvSpPr>
        <p:spPr/>
        <p:txBody>
          <a:bodyPr/>
          <a:lstStyle/>
          <a:p>
            <a:fld id="{C1FF6DA9-008F-8B48-92A6-B652298478BF}" type="slidenum">
              <a:rPr lang="en-US" smtClean="0"/>
              <a:t>42</a:t>
            </a:fld>
            <a:endParaRPr lang="en-US"/>
          </a:p>
        </p:txBody>
      </p:sp>
    </p:spTree>
    <p:extLst>
      <p:ext uri="{BB962C8B-B14F-4D97-AF65-F5344CB8AC3E}">
        <p14:creationId xmlns:p14="http://schemas.microsoft.com/office/powerpoint/2010/main" val="35999225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15FBA-D79E-7809-D856-D2ADEA13DBD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F3BF288-F514-4D7F-2183-C9615E653B09}"/>
              </a:ext>
            </a:extLst>
          </p:cNvPr>
          <p:cNvSpPr/>
          <p:nvPr/>
        </p:nvSpPr>
        <p:spPr>
          <a:xfrm>
            <a:off x="305" y="15388"/>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AA97CB5F-3C1E-9A30-7240-930A48088FA1}"/>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1B9B5D20-0BA6-CD8C-5EE0-67717704D8E7}"/>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52CB8E0A-79C0-0775-7B50-D4B104E801F7}"/>
              </a:ext>
            </a:extLst>
          </p:cNvPr>
          <p:cNvSpPr txBox="1"/>
          <p:nvPr/>
        </p:nvSpPr>
        <p:spPr>
          <a:xfrm>
            <a:off x="502920" y="118872"/>
            <a:ext cx="10058400" cy="411480"/>
          </a:xfrm>
          <a:prstGeom prst="rect">
            <a:avLst/>
          </a:prstGeom>
          <a:noFill/>
        </p:spPr>
        <p:txBody>
          <a:bodyPr wrap="none">
            <a:spAutoFit/>
          </a:bodyPr>
          <a:lstStyle/>
          <a:p>
            <a:pPr>
              <a:defRPr sz="2600" b="1">
                <a:solidFill>
                  <a:srgbClr val="FFFFFF"/>
                </a:solidFill>
                <a:latin typeface="Aptos Display"/>
              </a:defRPr>
            </a:pPr>
            <a:r>
              <a:t>Tester une application Spring Boot</a:t>
            </a:r>
          </a:p>
        </p:txBody>
      </p:sp>
      <p:sp>
        <p:nvSpPr>
          <p:cNvPr id="7" name="TextBox 6">
            <a:extLst>
              <a:ext uri="{FF2B5EF4-FFF2-40B4-BE49-F238E27FC236}">
                <a16:creationId xmlns:a16="http://schemas.microsoft.com/office/drawing/2014/main" id="{E1060210-9A26-62F0-1A3B-BA228B98CA11}"/>
              </a:ext>
            </a:extLst>
          </p:cNvPr>
          <p:cNvSpPr txBox="1"/>
          <p:nvPr/>
        </p:nvSpPr>
        <p:spPr>
          <a:xfrm>
            <a:off x="502920" y="1324367"/>
            <a:ext cx="6168390" cy="2062103"/>
          </a:xfrm>
          <a:prstGeom prst="rect">
            <a:avLst/>
          </a:prstGeom>
          <a:noFill/>
        </p:spPr>
        <p:txBody>
          <a:bodyPr wrap="square">
            <a:spAutoFit/>
          </a:bodyPr>
          <a:lstStyle/>
          <a:p>
            <a:pPr>
              <a:defRPr sz="2000">
                <a:solidFill>
                  <a:srgbClr val="232323"/>
                </a:solidFill>
                <a:latin typeface="Aptos"/>
              </a:defRPr>
            </a:pPr>
            <a:r>
              <a:rPr lang="fr-FR" sz="1600" dirty="0"/>
              <a:t>Le </a:t>
            </a:r>
            <a:r>
              <a:rPr lang="fr-FR" sz="1600" b="1" dirty="0"/>
              <a:t>test unitaire </a:t>
            </a:r>
            <a:r>
              <a:rPr lang="fr-FR" sz="1600" dirty="0"/>
              <a:t>va venir tester méthode par méthode. On va suivre toujours la même architecture : </a:t>
            </a:r>
          </a:p>
          <a:p>
            <a:pPr marL="342900" indent="-342900">
              <a:buAutoNum type="arabicPeriod"/>
              <a:defRPr sz="2000">
                <a:solidFill>
                  <a:srgbClr val="232323"/>
                </a:solidFill>
                <a:latin typeface="Aptos"/>
              </a:defRPr>
            </a:pPr>
            <a:r>
              <a:rPr lang="fr-FR" sz="1600" dirty="0"/>
              <a:t>Initialisation des données / préparation </a:t>
            </a:r>
            <a:endParaRPr lang="fr-FR" sz="1600" dirty="0">
              <a:sym typeface="Wingdings" panose="05000000000000000000" pitchFamily="2" charset="2"/>
            </a:endParaRPr>
          </a:p>
          <a:p>
            <a:pPr marL="342900" indent="-342900">
              <a:buAutoNum type="arabicPeriod"/>
              <a:defRPr sz="2000">
                <a:solidFill>
                  <a:srgbClr val="232323"/>
                </a:solidFill>
                <a:latin typeface="Aptos"/>
              </a:defRPr>
            </a:pPr>
            <a:r>
              <a:rPr lang="fr-FR" sz="1600" dirty="0"/>
              <a:t>Action réalisée</a:t>
            </a:r>
          </a:p>
          <a:p>
            <a:pPr marL="342900" indent="-342900">
              <a:buAutoNum type="arabicPeriod"/>
              <a:defRPr sz="2000">
                <a:solidFill>
                  <a:srgbClr val="232323"/>
                </a:solidFill>
                <a:latin typeface="Aptos"/>
              </a:defRPr>
            </a:pPr>
            <a:r>
              <a:rPr lang="fr-FR" sz="1600" dirty="0"/>
              <a:t>Vérification </a:t>
            </a:r>
          </a:p>
          <a:p>
            <a:pPr marL="342900" indent="-342900">
              <a:buAutoNum type="arabicPeriod"/>
              <a:defRPr sz="2000">
                <a:solidFill>
                  <a:srgbClr val="232323"/>
                </a:solidFill>
                <a:latin typeface="Aptos"/>
              </a:defRPr>
            </a:pPr>
            <a:endParaRPr lang="fr-FR" sz="1600" dirty="0"/>
          </a:p>
          <a:p>
            <a:pPr marL="342900" indent="-342900">
              <a:buAutoNum type="arabicPeriod"/>
              <a:defRPr sz="2000">
                <a:solidFill>
                  <a:srgbClr val="232323"/>
                </a:solidFill>
                <a:latin typeface="Aptos"/>
              </a:defRPr>
            </a:pPr>
            <a:endParaRPr lang="fr-FR" sz="1600" dirty="0"/>
          </a:p>
          <a:p>
            <a:pPr>
              <a:defRPr sz="2000">
                <a:solidFill>
                  <a:srgbClr val="232323"/>
                </a:solidFill>
                <a:latin typeface="Aptos"/>
              </a:defRPr>
            </a:pPr>
            <a:r>
              <a:rPr lang="fr-FR" sz="1600" dirty="0"/>
              <a:t>Le premier exemple de test permet de tester une méthode simple. </a:t>
            </a:r>
          </a:p>
        </p:txBody>
      </p:sp>
      <p:sp>
        <p:nvSpPr>
          <p:cNvPr id="8" name="TextBox 7">
            <a:extLst>
              <a:ext uri="{FF2B5EF4-FFF2-40B4-BE49-F238E27FC236}">
                <a16:creationId xmlns:a16="http://schemas.microsoft.com/office/drawing/2014/main" id="{7C16F3E7-2CCD-DCEE-88FF-CFC0620D2D29}"/>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9" name="Espace réservé du numéro de diapositive 8">
            <a:extLst>
              <a:ext uri="{FF2B5EF4-FFF2-40B4-BE49-F238E27FC236}">
                <a16:creationId xmlns:a16="http://schemas.microsoft.com/office/drawing/2014/main" id="{EC26ACE4-6477-3EB1-F520-18B83A757264}"/>
              </a:ext>
            </a:extLst>
          </p:cNvPr>
          <p:cNvSpPr>
            <a:spLocks noGrp="1"/>
          </p:cNvSpPr>
          <p:nvPr>
            <p:ph type="sldNum" sz="quarter" idx="12"/>
          </p:nvPr>
        </p:nvSpPr>
        <p:spPr/>
        <p:txBody>
          <a:bodyPr/>
          <a:lstStyle/>
          <a:p>
            <a:fld id="{C1FF6DA9-008F-8B48-92A6-B652298478BF}" type="slidenum">
              <a:rPr lang="en-US" smtClean="0"/>
              <a:t>43</a:t>
            </a:fld>
            <a:endParaRPr lang="en-US"/>
          </a:p>
        </p:txBody>
      </p:sp>
      <p:grpSp>
        <p:nvGrpSpPr>
          <p:cNvPr id="6" name="Groupe 5">
            <a:extLst>
              <a:ext uri="{FF2B5EF4-FFF2-40B4-BE49-F238E27FC236}">
                <a16:creationId xmlns:a16="http://schemas.microsoft.com/office/drawing/2014/main" id="{74DCEC5F-EDC1-38B9-50F1-E1FF4A8C1BCA}"/>
              </a:ext>
            </a:extLst>
          </p:cNvPr>
          <p:cNvGrpSpPr/>
          <p:nvPr/>
        </p:nvGrpSpPr>
        <p:grpSpPr>
          <a:xfrm>
            <a:off x="7782064" y="864057"/>
            <a:ext cx="4067415" cy="2777487"/>
            <a:chOff x="7782064" y="2165784"/>
            <a:chExt cx="4067415" cy="2777487"/>
          </a:xfrm>
        </p:grpSpPr>
        <p:pic>
          <p:nvPicPr>
            <p:cNvPr id="10" name="Image 9">
              <a:extLst>
                <a:ext uri="{FF2B5EF4-FFF2-40B4-BE49-F238E27FC236}">
                  <a16:creationId xmlns:a16="http://schemas.microsoft.com/office/drawing/2014/main" id="{AC17E68A-6091-EB21-F72C-91FA7BA09B72}"/>
                </a:ext>
              </a:extLst>
            </p:cNvPr>
            <p:cNvPicPr>
              <a:picLocks noChangeAspect="1"/>
            </p:cNvPicPr>
            <p:nvPr/>
          </p:nvPicPr>
          <p:blipFill>
            <a:blip r:embed="rId2"/>
            <a:stretch>
              <a:fillRect/>
            </a:stretch>
          </p:blipFill>
          <p:spPr>
            <a:xfrm>
              <a:off x="7782064" y="2165784"/>
              <a:ext cx="4067415" cy="2254144"/>
            </a:xfrm>
            <a:prstGeom prst="rect">
              <a:avLst/>
            </a:prstGeom>
          </p:spPr>
        </p:pic>
        <p:cxnSp>
          <p:nvCxnSpPr>
            <p:cNvPr id="12" name="Connecteur : en arc 11">
              <a:extLst>
                <a:ext uri="{FF2B5EF4-FFF2-40B4-BE49-F238E27FC236}">
                  <a16:creationId xmlns:a16="http://schemas.microsoft.com/office/drawing/2014/main" id="{EAD78470-0700-551D-C2D7-429226FE0B88}"/>
                </a:ext>
              </a:extLst>
            </p:cNvPr>
            <p:cNvCxnSpPr>
              <a:cxnSpLocks/>
              <a:stCxn id="10" idx="2"/>
              <a:endCxn id="13" idx="1"/>
            </p:cNvCxnSpPr>
            <p:nvPr/>
          </p:nvCxnSpPr>
          <p:spPr>
            <a:xfrm rot="16200000" flipH="1">
              <a:off x="9908306" y="4327394"/>
              <a:ext cx="292511" cy="477578"/>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ZoneTexte 12">
              <a:extLst>
                <a:ext uri="{FF2B5EF4-FFF2-40B4-BE49-F238E27FC236}">
                  <a16:creationId xmlns:a16="http://schemas.microsoft.com/office/drawing/2014/main" id="{21E92AE6-7EA2-FA83-097D-E41C4CAC2AC0}"/>
                </a:ext>
              </a:extLst>
            </p:cNvPr>
            <p:cNvSpPr txBox="1"/>
            <p:nvPr/>
          </p:nvSpPr>
          <p:spPr>
            <a:xfrm>
              <a:off x="10293350" y="4481606"/>
              <a:ext cx="1511300" cy="461665"/>
            </a:xfrm>
            <a:prstGeom prst="rect">
              <a:avLst/>
            </a:prstGeom>
            <a:noFill/>
          </p:spPr>
          <p:txBody>
            <a:bodyPr wrap="square" rtlCol="0">
              <a:spAutoFit/>
            </a:bodyPr>
            <a:lstStyle/>
            <a:p>
              <a:r>
                <a:rPr lang="fr-FR" sz="1200" dirty="0"/>
                <a:t>Exemple de test qui passe</a:t>
              </a:r>
            </a:p>
          </p:txBody>
        </p:sp>
      </p:grpSp>
      <p:pic>
        <p:nvPicPr>
          <p:cNvPr id="20" name="Image 19">
            <a:extLst>
              <a:ext uri="{FF2B5EF4-FFF2-40B4-BE49-F238E27FC236}">
                <a16:creationId xmlns:a16="http://schemas.microsoft.com/office/drawing/2014/main" id="{49ABE1D7-826E-B740-688A-9AE8F10B41F1}"/>
              </a:ext>
            </a:extLst>
          </p:cNvPr>
          <p:cNvPicPr>
            <a:picLocks noChangeAspect="1"/>
          </p:cNvPicPr>
          <p:nvPr/>
        </p:nvPicPr>
        <p:blipFill>
          <a:blip r:embed="rId3"/>
          <a:stretch>
            <a:fillRect/>
          </a:stretch>
        </p:blipFill>
        <p:spPr>
          <a:xfrm>
            <a:off x="388876" y="3961029"/>
            <a:ext cx="5707124" cy="1727730"/>
          </a:xfrm>
          <a:prstGeom prst="rect">
            <a:avLst/>
          </a:prstGeom>
        </p:spPr>
      </p:pic>
      <p:sp>
        <p:nvSpPr>
          <p:cNvPr id="21" name="ZoneTexte 20">
            <a:extLst>
              <a:ext uri="{FF2B5EF4-FFF2-40B4-BE49-F238E27FC236}">
                <a16:creationId xmlns:a16="http://schemas.microsoft.com/office/drawing/2014/main" id="{172C89CA-F38F-160A-95CD-880B31220B05}"/>
              </a:ext>
            </a:extLst>
          </p:cNvPr>
          <p:cNvSpPr txBox="1"/>
          <p:nvPr/>
        </p:nvSpPr>
        <p:spPr>
          <a:xfrm>
            <a:off x="6353333" y="4167933"/>
            <a:ext cx="5248249" cy="1323439"/>
          </a:xfrm>
          <a:prstGeom prst="rect">
            <a:avLst/>
          </a:prstGeom>
          <a:noFill/>
        </p:spPr>
        <p:txBody>
          <a:bodyPr wrap="square" rtlCol="0">
            <a:spAutoFit/>
          </a:bodyPr>
          <a:lstStyle/>
          <a:p>
            <a:pPr algn="just"/>
            <a:r>
              <a:rPr lang="fr-FR" sz="1600" dirty="0"/>
              <a:t>En revanche si nous avons une méthode comme le deuxième exemple, celui-ci fait appel à un service extérieur (</a:t>
            </a:r>
            <a:r>
              <a:rPr lang="fr-FR" sz="1600" dirty="0" err="1"/>
              <a:t>userInventory</a:t>
            </a:r>
            <a:r>
              <a:rPr lang="fr-FR" sz="1600" dirty="0"/>
              <a:t>)</a:t>
            </a:r>
            <a:endParaRPr lang="fr-FR" sz="1600" dirty="0">
              <a:latin typeface="Aptos" panose="020B0004020202020204" pitchFamily="34" charset="0"/>
            </a:endParaRPr>
          </a:p>
          <a:p>
            <a:pPr algn="just"/>
            <a:r>
              <a:rPr lang="fr-FR" sz="1600" dirty="0">
                <a:latin typeface="Aptos" panose="020B0004020202020204" pitchFamily="34" charset="0"/>
              </a:rPr>
              <a:t>Le test unitaire devra donc </a:t>
            </a:r>
            <a:r>
              <a:rPr lang="fr-FR" sz="1600" b="1" dirty="0">
                <a:latin typeface="Aptos" panose="020B0004020202020204" pitchFamily="34" charset="0"/>
              </a:rPr>
              <a:t>Mocker</a:t>
            </a:r>
            <a:r>
              <a:rPr lang="fr-FR" sz="1600" dirty="0">
                <a:latin typeface="Aptos" panose="020B0004020202020204" pitchFamily="34" charset="0"/>
              </a:rPr>
              <a:t> ce service, c’est-à-dire simuler le comportement qu’on souhaite voir. </a:t>
            </a:r>
          </a:p>
        </p:txBody>
      </p:sp>
    </p:spTree>
    <p:extLst>
      <p:ext uri="{BB962C8B-B14F-4D97-AF65-F5344CB8AC3E}">
        <p14:creationId xmlns:p14="http://schemas.microsoft.com/office/powerpoint/2010/main" val="40319763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73B33-9E4D-8969-CBB4-4C1761E5941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9A8D103-883A-E53B-76E4-4CE912DA5934}"/>
              </a:ext>
            </a:extLst>
          </p:cNvPr>
          <p:cNvSpPr/>
          <p:nvPr/>
        </p:nvSpPr>
        <p:spPr>
          <a:xfrm>
            <a:off x="-1" y="15388"/>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3B8E440A-09F3-5494-A3F8-8F2B87CF3F36}"/>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F972CA28-9B7A-B18E-565C-66103C7B2680}"/>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F96A71B-7A59-AB3B-8501-D49D9612A32A}"/>
              </a:ext>
            </a:extLst>
          </p:cNvPr>
          <p:cNvSpPr txBox="1"/>
          <p:nvPr/>
        </p:nvSpPr>
        <p:spPr>
          <a:xfrm>
            <a:off x="502920" y="118872"/>
            <a:ext cx="10058400" cy="411480"/>
          </a:xfrm>
          <a:prstGeom prst="rect">
            <a:avLst/>
          </a:prstGeom>
          <a:noFill/>
        </p:spPr>
        <p:txBody>
          <a:bodyPr wrap="none">
            <a:spAutoFit/>
          </a:bodyPr>
          <a:lstStyle/>
          <a:p>
            <a:pPr>
              <a:defRPr sz="2600" b="1">
                <a:solidFill>
                  <a:srgbClr val="FFFFFF"/>
                </a:solidFill>
                <a:latin typeface="Aptos Display"/>
              </a:defRPr>
            </a:pPr>
            <a:r>
              <a:t>Tester une application Spring Boot</a:t>
            </a:r>
          </a:p>
        </p:txBody>
      </p:sp>
      <p:sp>
        <p:nvSpPr>
          <p:cNvPr id="8" name="TextBox 7">
            <a:extLst>
              <a:ext uri="{FF2B5EF4-FFF2-40B4-BE49-F238E27FC236}">
                <a16:creationId xmlns:a16="http://schemas.microsoft.com/office/drawing/2014/main" id="{3205C004-ED88-AC4B-D713-86FAA15A0B3E}"/>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9" name="Espace réservé du numéro de diapositive 8">
            <a:extLst>
              <a:ext uri="{FF2B5EF4-FFF2-40B4-BE49-F238E27FC236}">
                <a16:creationId xmlns:a16="http://schemas.microsoft.com/office/drawing/2014/main" id="{C5E685B5-7AB0-F14E-A174-B40FAC843634}"/>
              </a:ext>
            </a:extLst>
          </p:cNvPr>
          <p:cNvSpPr>
            <a:spLocks noGrp="1"/>
          </p:cNvSpPr>
          <p:nvPr>
            <p:ph type="sldNum" sz="quarter" idx="12"/>
          </p:nvPr>
        </p:nvSpPr>
        <p:spPr/>
        <p:txBody>
          <a:bodyPr/>
          <a:lstStyle/>
          <a:p>
            <a:fld id="{C1FF6DA9-008F-8B48-92A6-B652298478BF}" type="slidenum">
              <a:rPr lang="en-US" smtClean="0"/>
              <a:t>44</a:t>
            </a:fld>
            <a:endParaRPr lang="en-US"/>
          </a:p>
        </p:txBody>
      </p:sp>
      <p:pic>
        <p:nvPicPr>
          <p:cNvPr id="20" name="Image 19">
            <a:extLst>
              <a:ext uri="{FF2B5EF4-FFF2-40B4-BE49-F238E27FC236}">
                <a16:creationId xmlns:a16="http://schemas.microsoft.com/office/drawing/2014/main" id="{F03D6AA3-9C8D-D0DC-A589-23F49C536BBF}"/>
              </a:ext>
            </a:extLst>
          </p:cNvPr>
          <p:cNvPicPr>
            <a:picLocks noChangeAspect="1"/>
          </p:cNvPicPr>
          <p:nvPr/>
        </p:nvPicPr>
        <p:blipFill>
          <a:blip r:embed="rId2"/>
          <a:stretch>
            <a:fillRect/>
          </a:stretch>
        </p:blipFill>
        <p:spPr>
          <a:xfrm>
            <a:off x="174800" y="993448"/>
            <a:ext cx="5357320" cy="1621833"/>
          </a:xfrm>
          <a:prstGeom prst="rect">
            <a:avLst/>
          </a:prstGeom>
        </p:spPr>
      </p:pic>
      <p:pic>
        <p:nvPicPr>
          <p:cNvPr id="14" name="Image 13">
            <a:extLst>
              <a:ext uri="{FF2B5EF4-FFF2-40B4-BE49-F238E27FC236}">
                <a16:creationId xmlns:a16="http://schemas.microsoft.com/office/drawing/2014/main" id="{C7D31887-1466-7D56-9D3B-E699F33A8968}"/>
              </a:ext>
            </a:extLst>
          </p:cNvPr>
          <p:cNvPicPr>
            <a:picLocks noChangeAspect="1"/>
          </p:cNvPicPr>
          <p:nvPr/>
        </p:nvPicPr>
        <p:blipFill>
          <a:blip r:embed="rId3"/>
          <a:srcRect/>
          <a:stretch/>
        </p:blipFill>
        <p:spPr>
          <a:xfrm>
            <a:off x="5989320" y="993448"/>
            <a:ext cx="5911040" cy="4230009"/>
          </a:xfrm>
          <a:prstGeom prst="rect">
            <a:avLst/>
          </a:prstGeom>
        </p:spPr>
      </p:pic>
      <p:sp>
        <p:nvSpPr>
          <p:cNvPr id="15" name="ZoneTexte 14">
            <a:extLst>
              <a:ext uri="{FF2B5EF4-FFF2-40B4-BE49-F238E27FC236}">
                <a16:creationId xmlns:a16="http://schemas.microsoft.com/office/drawing/2014/main" id="{668CDD02-9667-1793-225B-CCF66CD65C51}"/>
              </a:ext>
            </a:extLst>
          </p:cNvPr>
          <p:cNvSpPr txBox="1"/>
          <p:nvPr/>
        </p:nvSpPr>
        <p:spPr>
          <a:xfrm>
            <a:off x="2112493" y="2597311"/>
            <a:ext cx="1240307" cy="261610"/>
          </a:xfrm>
          <a:prstGeom prst="rect">
            <a:avLst/>
          </a:prstGeom>
          <a:noFill/>
        </p:spPr>
        <p:txBody>
          <a:bodyPr wrap="square" rtlCol="0">
            <a:spAutoFit/>
          </a:bodyPr>
          <a:lstStyle/>
          <a:p>
            <a:r>
              <a:rPr lang="fr-FR" sz="1100" dirty="0"/>
              <a:t>Méthode à tester</a:t>
            </a:r>
          </a:p>
        </p:txBody>
      </p:sp>
      <p:sp>
        <p:nvSpPr>
          <p:cNvPr id="17" name="ZoneTexte 16">
            <a:extLst>
              <a:ext uri="{FF2B5EF4-FFF2-40B4-BE49-F238E27FC236}">
                <a16:creationId xmlns:a16="http://schemas.microsoft.com/office/drawing/2014/main" id="{AB47584A-6208-A764-7605-5A889FD80D30}"/>
              </a:ext>
            </a:extLst>
          </p:cNvPr>
          <p:cNvSpPr txBox="1"/>
          <p:nvPr/>
        </p:nvSpPr>
        <p:spPr>
          <a:xfrm>
            <a:off x="8616786" y="5182642"/>
            <a:ext cx="1240307" cy="261610"/>
          </a:xfrm>
          <a:prstGeom prst="rect">
            <a:avLst/>
          </a:prstGeom>
          <a:noFill/>
        </p:spPr>
        <p:txBody>
          <a:bodyPr wrap="square" rtlCol="0">
            <a:spAutoFit/>
          </a:bodyPr>
          <a:lstStyle/>
          <a:p>
            <a:r>
              <a:rPr lang="fr-FR" sz="1100" dirty="0"/>
              <a:t>TU associé</a:t>
            </a:r>
          </a:p>
        </p:txBody>
      </p:sp>
      <p:sp>
        <p:nvSpPr>
          <p:cNvPr id="18" name="ZoneTexte 17">
            <a:extLst>
              <a:ext uri="{FF2B5EF4-FFF2-40B4-BE49-F238E27FC236}">
                <a16:creationId xmlns:a16="http://schemas.microsoft.com/office/drawing/2014/main" id="{8B5D82A5-890D-0F74-577A-3F57C1DE65DB}"/>
              </a:ext>
            </a:extLst>
          </p:cNvPr>
          <p:cNvSpPr txBox="1"/>
          <p:nvPr/>
        </p:nvSpPr>
        <p:spPr>
          <a:xfrm>
            <a:off x="330200" y="3200400"/>
            <a:ext cx="5201920" cy="2462213"/>
          </a:xfrm>
          <a:prstGeom prst="rect">
            <a:avLst/>
          </a:prstGeom>
          <a:noFill/>
        </p:spPr>
        <p:txBody>
          <a:bodyPr wrap="square" rtlCol="0">
            <a:spAutoFit/>
          </a:bodyPr>
          <a:lstStyle/>
          <a:p>
            <a:r>
              <a:rPr lang="fr-FR" sz="1400" dirty="0">
                <a:latin typeface="Aptos" panose="020B0004020202020204" pitchFamily="34" charset="0"/>
              </a:rPr>
              <a:t>On peut observé deux choses : le </a:t>
            </a:r>
            <a:r>
              <a:rPr lang="fr-FR" sz="1400" b="1" dirty="0">
                <a:latin typeface="Aptos" panose="020B0004020202020204" pitchFamily="34" charset="0"/>
              </a:rPr>
              <a:t>@InjectMocks </a:t>
            </a:r>
            <a:r>
              <a:rPr lang="fr-FR" sz="1400" dirty="0">
                <a:latin typeface="Aptos" panose="020B0004020202020204" pitchFamily="34" charset="0"/>
              </a:rPr>
              <a:t> et le </a:t>
            </a:r>
            <a:r>
              <a:rPr lang="fr-FR" sz="1400" b="1" dirty="0">
                <a:latin typeface="Aptos" panose="020B0004020202020204" pitchFamily="34" charset="0"/>
              </a:rPr>
              <a:t>@Mock </a:t>
            </a:r>
          </a:p>
          <a:p>
            <a:r>
              <a:rPr lang="fr-FR" sz="1400" dirty="0">
                <a:latin typeface="Aptos" panose="020B0004020202020204" pitchFamily="34" charset="0"/>
              </a:rPr>
              <a:t>Le premier permet </a:t>
            </a:r>
            <a:r>
              <a:rPr lang="fr-FR" sz="1400" b="1" dirty="0">
                <a:latin typeface="Aptos" panose="020B0004020202020204" pitchFamily="34" charset="0"/>
              </a:rPr>
              <a:t>d’injecter le service </a:t>
            </a:r>
            <a:r>
              <a:rPr lang="fr-FR" sz="1400" dirty="0">
                <a:latin typeface="Aptos" panose="020B0004020202020204" pitchFamily="34" charset="0"/>
              </a:rPr>
              <a:t>qu’on veut tester et le deuxième de </a:t>
            </a:r>
            <a:r>
              <a:rPr lang="fr-FR" sz="1400" b="1" dirty="0">
                <a:latin typeface="Aptos" panose="020B0004020202020204" pitchFamily="34" charset="0"/>
              </a:rPr>
              <a:t>simuler les services extérieurs</a:t>
            </a:r>
            <a:r>
              <a:rPr lang="fr-FR" sz="1400" dirty="0">
                <a:latin typeface="Aptos" panose="020B0004020202020204" pitchFamily="34" charset="0"/>
              </a:rPr>
              <a:t>. </a:t>
            </a:r>
          </a:p>
          <a:p>
            <a:endParaRPr lang="fr-FR" sz="1400" dirty="0">
              <a:latin typeface="Aptos" panose="020B0004020202020204" pitchFamily="34" charset="0"/>
            </a:endParaRPr>
          </a:p>
          <a:p>
            <a:r>
              <a:rPr lang="fr-FR" sz="1400" dirty="0">
                <a:latin typeface="Aptos" panose="020B0004020202020204" pitchFamily="34" charset="0"/>
              </a:rPr>
              <a:t>On retrouve nos 3 étapes avec une subtilité : </a:t>
            </a:r>
            <a:r>
              <a:rPr lang="fr-FR" sz="1400" dirty="0" err="1">
                <a:latin typeface="Aptos" panose="020B0004020202020204" pitchFamily="34" charset="0"/>
              </a:rPr>
              <a:t>wen</a:t>
            </a:r>
            <a:r>
              <a:rPr lang="fr-FR" sz="1400" dirty="0">
                <a:latin typeface="Aptos" panose="020B0004020202020204" pitchFamily="34" charset="0"/>
              </a:rPr>
              <a:t>().</a:t>
            </a:r>
            <a:r>
              <a:rPr lang="fr-FR" sz="1400" dirty="0" err="1">
                <a:latin typeface="Aptos" panose="020B0004020202020204" pitchFamily="34" charset="0"/>
              </a:rPr>
              <a:t>thenReturn</a:t>
            </a:r>
            <a:r>
              <a:rPr lang="fr-FR" sz="1400" dirty="0">
                <a:latin typeface="Aptos" panose="020B0004020202020204" pitchFamily="34" charset="0"/>
              </a:rPr>
              <a:t>()</a:t>
            </a:r>
          </a:p>
          <a:p>
            <a:r>
              <a:rPr lang="fr-FR" sz="1400" dirty="0">
                <a:latin typeface="Aptos" panose="020B0004020202020204" pitchFamily="34" charset="0"/>
              </a:rPr>
              <a:t>Ca permet de dire « quand tu fais le </a:t>
            </a:r>
            <a:r>
              <a:rPr lang="fr-FR" sz="1400" dirty="0" err="1">
                <a:latin typeface="Aptos" panose="020B0004020202020204" pitchFamily="34" charset="0"/>
              </a:rPr>
              <a:t>findById</a:t>
            </a:r>
            <a:r>
              <a:rPr lang="fr-FR" sz="1400" dirty="0">
                <a:latin typeface="Aptos" panose="020B0004020202020204" pitchFamily="34" charset="0"/>
              </a:rPr>
              <a:t> tu renvoie cet utilisateur »</a:t>
            </a:r>
          </a:p>
          <a:p>
            <a:endParaRPr lang="fr-FR" sz="1400" dirty="0">
              <a:latin typeface="Aptos" panose="020B0004020202020204" pitchFamily="34" charset="0"/>
            </a:endParaRPr>
          </a:p>
          <a:p>
            <a:r>
              <a:rPr lang="fr-FR" sz="1400" dirty="0">
                <a:latin typeface="Aptos" panose="020B0004020202020204" pitchFamily="34" charset="0"/>
              </a:rPr>
              <a:t>Le test unitaire permet de tester plus précisément. Par exemple si vous avez plein de if </a:t>
            </a:r>
            <a:r>
              <a:rPr lang="fr-FR" sz="1400" dirty="0" err="1">
                <a:latin typeface="Aptos" panose="020B0004020202020204" pitchFamily="34" charset="0"/>
              </a:rPr>
              <a:t>else</a:t>
            </a:r>
            <a:r>
              <a:rPr lang="fr-FR" sz="1400" dirty="0">
                <a:latin typeface="Aptos" panose="020B0004020202020204" pitchFamily="34" charset="0"/>
              </a:rPr>
              <a:t> imbriqué vous pouvez </a:t>
            </a:r>
            <a:r>
              <a:rPr lang="fr-FR" sz="1400" b="1" dirty="0">
                <a:latin typeface="Aptos" panose="020B0004020202020204" pitchFamily="34" charset="0"/>
              </a:rPr>
              <a:t>mieux gérer votre jeu de donnée</a:t>
            </a:r>
            <a:r>
              <a:rPr lang="fr-FR" sz="1400" dirty="0">
                <a:latin typeface="Aptos" panose="020B0004020202020204" pitchFamily="34" charset="0"/>
              </a:rPr>
              <a:t> pour rentrer dans chaque branche</a:t>
            </a:r>
          </a:p>
        </p:txBody>
      </p:sp>
      <p:sp>
        <p:nvSpPr>
          <p:cNvPr id="19" name="Rectangle 18">
            <a:extLst>
              <a:ext uri="{FF2B5EF4-FFF2-40B4-BE49-F238E27FC236}">
                <a16:creationId xmlns:a16="http://schemas.microsoft.com/office/drawing/2014/main" id="{4B401E91-8074-74B6-39FD-D195B43E2D99}"/>
              </a:ext>
            </a:extLst>
          </p:cNvPr>
          <p:cNvSpPr/>
          <p:nvPr/>
        </p:nvSpPr>
        <p:spPr>
          <a:xfrm>
            <a:off x="6445250" y="3429000"/>
            <a:ext cx="5308600" cy="368300"/>
          </a:xfrm>
          <a:prstGeom prst="rect">
            <a:avLst/>
          </a:prstGeom>
          <a:solidFill>
            <a:srgbClr val="1E1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2" name="Rectangle 21">
            <a:extLst>
              <a:ext uri="{FF2B5EF4-FFF2-40B4-BE49-F238E27FC236}">
                <a16:creationId xmlns:a16="http://schemas.microsoft.com/office/drawing/2014/main" id="{7825EF8D-A486-A95F-C207-C6E62BEE73EC}"/>
              </a:ext>
            </a:extLst>
          </p:cNvPr>
          <p:cNvSpPr/>
          <p:nvPr/>
        </p:nvSpPr>
        <p:spPr>
          <a:xfrm>
            <a:off x="6445250" y="2743200"/>
            <a:ext cx="3986530" cy="1373166"/>
          </a:xfrm>
          <a:prstGeom prst="rect">
            <a:avLst/>
          </a:prstGeom>
          <a:no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4" name="Rectangle 23">
            <a:extLst>
              <a:ext uri="{FF2B5EF4-FFF2-40B4-BE49-F238E27FC236}">
                <a16:creationId xmlns:a16="http://schemas.microsoft.com/office/drawing/2014/main" id="{F3667348-4375-6576-4DE8-87EA8689FE60}"/>
              </a:ext>
            </a:extLst>
          </p:cNvPr>
          <p:cNvSpPr/>
          <p:nvPr/>
        </p:nvSpPr>
        <p:spPr>
          <a:xfrm>
            <a:off x="6445250" y="4131200"/>
            <a:ext cx="4556125" cy="163994"/>
          </a:xfrm>
          <a:prstGeom prst="rect">
            <a:avLst/>
          </a:prstGeom>
          <a:no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29636A54-0FE9-F4CB-5AD9-808616A7AEFA}"/>
              </a:ext>
            </a:extLst>
          </p:cNvPr>
          <p:cNvSpPr/>
          <p:nvPr/>
        </p:nvSpPr>
        <p:spPr>
          <a:xfrm>
            <a:off x="6470650" y="4397375"/>
            <a:ext cx="3386443" cy="723900"/>
          </a:xfrm>
          <a:prstGeom prst="rect">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9C992AB2-D13A-7324-BA45-213988B9A1D6}"/>
              </a:ext>
            </a:extLst>
          </p:cNvPr>
          <p:cNvSpPr txBox="1"/>
          <p:nvPr/>
        </p:nvSpPr>
        <p:spPr>
          <a:xfrm>
            <a:off x="9857093" y="2286069"/>
            <a:ext cx="1570497" cy="461665"/>
          </a:xfrm>
          <a:prstGeom prst="rect">
            <a:avLst/>
          </a:prstGeom>
          <a:noFill/>
        </p:spPr>
        <p:txBody>
          <a:bodyPr wrap="square" rtlCol="0">
            <a:spAutoFit/>
          </a:bodyPr>
          <a:lstStyle/>
          <a:p>
            <a:r>
              <a:rPr lang="fr-FR" sz="1200" dirty="0">
                <a:solidFill>
                  <a:srgbClr val="C00000"/>
                </a:solidFill>
              </a:rPr>
              <a:t>Initialisation + préparation</a:t>
            </a:r>
          </a:p>
        </p:txBody>
      </p:sp>
      <p:sp>
        <p:nvSpPr>
          <p:cNvPr id="27" name="ZoneTexte 26">
            <a:extLst>
              <a:ext uri="{FF2B5EF4-FFF2-40B4-BE49-F238E27FC236}">
                <a16:creationId xmlns:a16="http://schemas.microsoft.com/office/drawing/2014/main" id="{C2591D5F-CB9E-21F3-FD49-6952146DECF9}"/>
              </a:ext>
            </a:extLst>
          </p:cNvPr>
          <p:cNvSpPr txBox="1"/>
          <p:nvPr/>
        </p:nvSpPr>
        <p:spPr>
          <a:xfrm>
            <a:off x="10634662" y="3870881"/>
            <a:ext cx="1119188" cy="276999"/>
          </a:xfrm>
          <a:prstGeom prst="rect">
            <a:avLst/>
          </a:prstGeom>
          <a:noFill/>
        </p:spPr>
        <p:txBody>
          <a:bodyPr wrap="square" rtlCol="0">
            <a:spAutoFit/>
          </a:bodyPr>
          <a:lstStyle/>
          <a:p>
            <a:r>
              <a:rPr lang="fr-FR" sz="1200" dirty="0">
                <a:solidFill>
                  <a:srgbClr val="00B050"/>
                </a:solidFill>
              </a:rPr>
              <a:t>Action à tester</a:t>
            </a:r>
          </a:p>
        </p:txBody>
      </p:sp>
      <p:sp>
        <p:nvSpPr>
          <p:cNvPr id="28" name="ZoneTexte 27">
            <a:extLst>
              <a:ext uri="{FF2B5EF4-FFF2-40B4-BE49-F238E27FC236}">
                <a16:creationId xmlns:a16="http://schemas.microsoft.com/office/drawing/2014/main" id="{C93C3FD9-66E5-A0F2-556F-C7BA586D8322}"/>
              </a:ext>
            </a:extLst>
          </p:cNvPr>
          <p:cNvSpPr txBox="1"/>
          <p:nvPr/>
        </p:nvSpPr>
        <p:spPr>
          <a:xfrm>
            <a:off x="9882810" y="4687834"/>
            <a:ext cx="1369190" cy="276999"/>
          </a:xfrm>
          <a:prstGeom prst="rect">
            <a:avLst/>
          </a:prstGeom>
          <a:noFill/>
        </p:spPr>
        <p:txBody>
          <a:bodyPr wrap="square" rtlCol="0">
            <a:spAutoFit/>
          </a:bodyPr>
          <a:lstStyle/>
          <a:p>
            <a:r>
              <a:rPr lang="fr-FR" sz="1200" dirty="0">
                <a:solidFill>
                  <a:schemeClr val="accent6">
                    <a:lumMod val="75000"/>
                  </a:schemeClr>
                </a:solidFill>
              </a:rPr>
              <a:t>Vérification</a:t>
            </a:r>
          </a:p>
        </p:txBody>
      </p:sp>
    </p:spTree>
    <p:extLst>
      <p:ext uri="{BB962C8B-B14F-4D97-AF65-F5344CB8AC3E}">
        <p14:creationId xmlns:p14="http://schemas.microsoft.com/office/powerpoint/2010/main" val="36754630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1EBF7-D1EC-1600-9AE6-7C484737133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FBDA5CE-2253-5881-C9F7-F0678B7A40DF}"/>
              </a:ext>
            </a:extLst>
          </p:cNvPr>
          <p:cNvSpPr/>
          <p:nvPr/>
        </p:nvSpPr>
        <p:spPr>
          <a:xfrm>
            <a:off x="305" y="15388"/>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F80D1A83-4C8B-123F-DD77-0E686CB96235}"/>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5F693253-90D7-6DDF-3BA0-0C41E5BDDF81}"/>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2DAF8887-68C6-BDE2-39B8-396C75A807C1}"/>
              </a:ext>
            </a:extLst>
          </p:cNvPr>
          <p:cNvSpPr txBox="1"/>
          <p:nvPr/>
        </p:nvSpPr>
        <p:spPr>
          <a:xfrm>
            <a:off x="502920" y="118872"/>
            <a:ext cx="10058400" cy="411480"/>
          </a:xfrm>
          <a:prstGeom prst="rect">
            <a:avLst/>
          </a:prstGeom>
          <a:noFill/>
        </p:spPr>
        <p:txBody>
          <a:bodyPr wrap="none">
            <a:spAutoFit/>
          </a:bodyPr>
          <a:lstStyle/>
          <a:p>
            <a:pPr>
              <a:defRPr sz="2600" b="1">
                <a:solidFill>
                  <a:srgbClr val="FFFFFF"/>
                </a:solidFill>
                <a:latin typeface="Aptos Display"/>
              </a:defRPr>
            </a:pPr>
            <a:r>
              <a:t>Tester une application Spring Boot</a:t>
            </a:r>
          </a:p>
        </p:txBody>
      </p:sp>
      <p:sp>
        <p:nvSpPr>
          <p:cNvPr id="7" name="TextBox 6">
            <a:extLst>
              <a:ext uri="{FF2B5EF4-FFF2-40B4-BE49-F238E27FC236}">
                <a16:creationId xmlns:a16="http://schemas.microsoft.com/office/drawing/2014/main" id="{A1B647EF-C108-FEF0-7E17-B6E8BF6EE378}"/>
              </a:ext>
            </a:extLst>
          </p:cNvPr>
          <p:cNvSpPr txBox="1"/>
          <p:nvPr/>
        </p:nvSpPr>
        <p:spPr>
          <a:xfrm>
            <a:off x="384810" y="2044004"/>
            <a:ext cx="6168390" cy="2800767"/>
          </a:xfrm>
          <a:prstGeom prst="rect">
            <a:avLst/>
          </a:prstGeom>
          <a:noFill/>
        </p:spPr>
        <p:txBody>
          <a:bodyPr wrap="square">
            <a:spAutoFit/>
          </a:bodyPr>
          <a:lstStyle/>
          <a:p>
            <a:pPr algn="just">
              <a:defRPr sz="2000">
                <a:solidFill>
                  <a:srgbClr val="232323"/>
                </a:solidFill>
                <a:latin typeface="Aptos"/>
              </a:defRPr>
            </a:pPr>
            <a:r>
              <a:rPr lang="fr-FR" sz="1600" dirty="0"/>
              <a:t>Les </a:t>
            </a:r>
            <a:r>
              <a:rPr lang="fr-FR" sz="1600" b="1" dirty="0"/>
              <a:t>tests d’intégration </a:t>
            </a:r>
            <a:r>
              <a:rPr lang="fr-FR" sz="1600" dirty="0"/>
              <a:t>quand a eux vont tester </a:t>
            </a:r>
            <a:r>
              <a:rPr lang="fr-FR" sz="1600" b="1" dirty="0"/>
              <a:t>l’intégrité d’un service</a:t>
            </a:r>
            <a:r>
              <a:rPr lang="fr-FR" sz="1600" dirty="0"/>
              <a:t> en appelant aussi les service annexes. Lorsqu’un contrôleur est fait, on peut donc </a:t>
            </a:r>
            <a:r>
              <a:rPr lang="fr-FR" sz="1600" b="1" dirty="0"/>
              <a:t>tester une de ses méthodes pour tout tester jusqu’à l’enregistrement en base de données</a:t>
            </a:r>
            <a:r>
              <a:rPr lang="fr-FR" sz="1600" dirty="0"/>
              <a:t>. </a:t>
            </a:r>
          </a:p>
          <a:p>
            <a:pPr algn="just">
              <a:defRPr sz="2000">
                <a:solidFill>
                  <a:srgbClr val="232323"/>
                </a:solidFill>
                <a:latin typeface="Aptos"/>
              </a:defRPr>
            </a:pPr>
            <a:endParaRPr lang="fr-FR" sz="1600" dirty="0"/>
          </a:p>
          <a:p>
            <a:pPr algn="just">
              <a:defRPr sz="2000">
                <a:solidFill>
                  <a:srgbClr val="232323"/>
                </a:solidFill>
                <a:latin typeface="Aptos"/>
              </a:defRPr>
            </a:pPr>
            <a:r>
              <a:rPr lang="fr-FR" sz="1600" dirty="0"/>
              <a:t>Il y a plusieurs façons d’interagir avec la base de données. Pour le TP nous utiliserons une base </a:t>
            </a:r>
            <a:r>
              <a:rPr lang="fr-FR" sz="1600" b="1" dirty="0"/>
              <a:t>H2 </a:t>
            </a:r>
            <a:r>
              <a:rPr lang="fr-FR" sz="1600" dirty="0"/>
              <a:t>qui est une base virtuelle utilisée seulement durant l’exécution du test, elle se supprime après. </a:t>
            </a:r>
          </a:p>
          <a:p>
            <a:pPr algn="just">
              <a:defRPr sz="2000">
                <a:solidFill>
                  <a:srgbClr val="232323"/>
                </a:solidFill>
                <a:latin typeface="Aptos"/>
              </a:defRPr>
            </a:pPr>
            <a:endParaRPr lang="fr-FR" sz="1600" dirty="0"/>
          </a:p>
          <a:p>
            <a:pPr algn="just">
              <a:defRPr sz="2000">
                <a:solidFill>
                  <a:srgbClr val="232323"/>
                </a:solidFill>
                <a:latin typeface="Aptos"/>
              </a:defRPr>
            </a:pPr>
            <a:r>
              <a:rPr lang="fr-FR" sz="1600" dirty="0"/>
              <a:t>On peut aussi utilisé </a:t>
            </a:r>
            <a:r>
              <a:rPr lang="fr-FR" sz="1600" dirty="0" err="1"/>
              <a:t>Zonky</a:t>
            </a:r>
            <a:r>
              <a:rPr lang="fr-FR" sz="1600" dirty="0"/>
              <a:t> qui initialise une base visible sur </a:t>
            </a:r>
            <a:r>
              <a:rPr lang="fr-FR" sz="1600" dirty="0" err="1"/>
              <a:t>Dbeaver</a:t>
            </a:r>
            <a:r>
              <a:rPr lang="fr-FR" sz="1600" dirty="0"/>
              <a:t> ou encore Test Container.</a:t>
            </a:r>
          </a:p>
        </p:txBody>
      </p:sp>
      <p:sp>
        <p:nvSpPr>
          <p:cNvPr id="8" name="TextBox 7">
            <a:extLst>
              <a:ext uri="{FF2B5EF4-FFF2-40B4-BE49-F238E27FC236}">
                <a16:creationId xmlns:a16="http://schemas.microsoft.com/office/drawing/2014/main" id="{E49CF09C-CBAB-28A3-9A43-EFB0032A3908}"/>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9" name="Espace réservé du numéro de diapositive 8">
            <a:extLst>
              <a:ext uri="{FF2B5EF4-FFF2-40B4-BE49-F238E27FC236}">
                <a16:creationId xmlns:a16="http://schemas.microsoft.com/office/drawing/2014/main" id="{55F44F4A-B472-8669-9155-266160A783C6}"/>
              </a:ext>
            </a:extLst>
          </p:cNvPr>
          <p:cNvSpPr>
            <a:spLocks noGrp="1"/>
          </p:cNvSpPr>
          <p:nvPr>
            <p:ph type="sldNum" sz="quarter" idx="12"/>
          </p:nvPr>
        </p:nvSpPr>
        <p:spPr/>
        <p:txBody>
          <a:bodyPr/>
          <a:lstStyle/>
          <a:p>
            <a:fld id="{C1FF6DA9-008F-8B48-92A6-B652298478BF}" type="slidenum">
              <a:rPr lang="en-US" smtClean="0"/>
              <a:t>45</a:t>
            </a:fld>
            <a:endParaRPr lang="en-US"/>
          </a:p>
        </p:txBody>
      </p:sp>
    </p:spTree>
    <p:extLst>
      <p:ext uri="{BB962C8B-B14F-4D97-AF65-F5344CB8AC3E}">
        <p14:creationId xmlns:p14="http://schemas.microsoft.com/office/powerpoint/2010/main" val="35348817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FBFF1-59B8-E483-80FE-2F6DDBACD2A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7FE4DF2-5230-ABDE-240A-A955D2AB773D}"/>
              </a:ext>
            </a:extLst>
          </p:cNvPr>
          <p:cNvSpPr/>
          <p:nvPr/>
        </p:nvSpPr>
        <p:spPr>
          <a:xfrm>
            <a:off x="305" y="15388"/>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FE6478E-9FFB-C183-F740-8C0EFE5659A4}"/>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515B5070-A066-78D3-E18C-EA3C3CDEE927}"/>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63D0E4FF-0E1A-2A57-D2DA-11778148013A}"/>
              </a:ext>
            </a:extLst>
          </p:cNvPr>
          <p:cNvSpPr txBox="1"/>
          <p:nvPr/>
        </p:nvSpPr>
        <p:spPr>
          <a:xfrm>
            <a:off x="502920" y="118872"/>
            <a:ext cx="10058400" cy="411480"/>
          </a:xfrm>
          <a:prstGeom prst="rect">
            <a:avLst/>
          </a:prstGeom>
          <a:noFill/>
        </p:spPr>
        <p:txBody>
          <a:bodyPr wrap="none">
            <a:spAutoFit/>
          </a:bodyPr>
          <a:lstStyle/>
          <a:p>
            <a:pPr>
              <a:defRPr sz="2600" b="1">
                <a:solidFill>
                  <a:srgbClr val="FFFFFF"/>
                </a:solidFill>
                <a:latin typeface="Aptos Display"/>
              </a:defRPr>
            </a:pPr>
            <a:r>
              <a:t>Tester une application Spring Boot</a:t>
            </a:r>
          </a:p>
        </p:txBody>
      </p:sp>
      <p:sp>
        <p:nvSpPr>
          <p:cNvPr id="8" name="TextBox 7">
            <a:extLst>
              <a:ext uri="{FF2B5EF4-FFF2-40B4-BE49-F238E27FC236}">
                <a16:creationId xmlns:a16="http://schemas.microsoft.com/office/drawing/2014/main" id="{730F04A2-7DCB-EC47-AFF6-D699785EAD73}"/>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9" name="Espace réservé du numéro de diapositive 8">
            <a:extLst>
              <a:ext uri="{FF2B5EF4-FFF2-40B4-BE49-F238E27FC236}">
                <a16:creationId xmlns:a16="http://schemas.microsoft.com/office/drawing/2014/main" id="{A66F5C77-9FF4-5823-6641-CD048CFF6963}"/>
              </a:ext>
            </a:extLst>
          </p:cNvPr>
          <p:cNvSpPr>
            <a:spLocks noGrp="1"/>
          </p:cNvSpPr>
          <p:nvPr>
            <p:ph type="sldNum" sz="quarter" idx="12"/>
          </p:nvPr>
        </p:nvSpPr>
        <p:spPr/>
        <p:txBody>
          <a:bodyPr/>
          <a:lstStyle/>
          <a:p>
            <a:fld id="{C1FF6DA9-008F-8B48-92A6-B652298478BF}" type="slidenum">
              <a:rPr lang="en-US" smtClean="0"/>
              <a:t>46</a:t>
            </a:fld>
            <a:endParaRPr lang="en-US"/>
          </a:p>
        </p:txBody>
      </p:sp>
      <p:pic>
        <p:nvPicPr>
          <p:cNvPr id="10" name="Image 9">
            <a:extLst>
              <a:ext uri="{FF2B5EF4-FFF2-40B4-BE49-F238E27FC236}">
                <a16:creationId xmlns:a16="http://schemas.microsoft.com/office/drawing/2014/main" id="{7563EBD7-5150-F78E-F025-1BC3DD37D4BD}"/>
              </a:ext>
            </a:extLst>
          </p:cNvPr>
          <p:cNvPicPr>
            <a:picLocks noChangeAspect="1"/>
          </p:cNvPicPr>
          <p:nvPr/>
        </p:nvPicPr>
        <p:blipFill>
          <a:blip r:embed="rId2"/>
          <a:stretch>
            <a:fillRect/>
          </a:stretch>
        </p:blipFill>
        <p:spPr>
          <a:xfrm>
            <a:off x="292921" y="1200764"/>
            <a:ext cx="4397050" cy="2647336"/>
          </a:xfrm>
          <a:prstGeom prst="rect">
            <a:avLst/>
          </a:prstGeom>
        </p:spPr>
      </p:pic>
      <p:pic>
        <p:nvPicPr>
          <p:cNvPr id="12" name="Image 11">
            <a:extLst>
              <a:ext uri="{FF2B5EF4-FFF2-40B4-BE49-F238E27FC236}">
                <a16:creationId xmlns:a16="http://schemas.microsoft.com/office/drawing/2014/main" id="{8BF058A9-77DB-A87D-F570-7F0D3D523CF5}"/>
              </a:ext>
            </a:extLst>
          </p:cNvPr>
          <p:cNvPicPr>
            <a:picLocks noChangeAspect="1"/>
          </p:cNvPicPr>
          <p:nvPr/>
        </p:nvPicPr>
        <p:blipFill>
          <a:blip r:embed="rId3"/>
          <a:stretch>
            <a:fillRect/>
          </a:stretch>
        </p:blipFill>
        <p:spPr>
          <a:xfrm>
            <a:off x="6634447" y="1200764"/>
            <a:ext cx="5044629" cy="3311201"/>
          </a:xfrm>
          <a:prstGeom prst="rect">
            <a:avLst/>
          </a:prstGeom>
        </p:spPr>
      </p:pic>
      <p:sp>
        <p:nvSpPr>
          <p:cNvPr id="13" name="ZoneTexte 12">
            <a:extLst>
              <a:ext uri="{FF2B5EF4-FFF2-40B4-BE49-F238E27FC236}">
                <a16:creationId xmlns:a16="http://schemas.microsoft.com/office/drawing/2014/main" id="{5F5CEF72-FFE5-17CA-719A-D471457D00FE}"/>
              </a:ext>
            </a:extLst>
          </p:cNvPr>
          <p:cNvSpPr txBox="1"/>
          <p:nvPr/>
        </p:nvSpPr>
        <p:spPr>
          <a:xfrm>
            <a:off x="160020" y="4057805"/>
            <a:ext cx="5250180" cy="2062103"/>
          </a:xfrm>
          <a:prstGeom prst="rect">
            <a:avLst/>
          </a:prstGeom>
          <a:noFill/>
        </p:spPr>
        <p:txBody>
          <a:bodyPr wrap="square" rtlCol="0">
            <a:spAutoFit/>
          </a:bodyPr>
          <a:lstStyle/>
          <a:p>
            <a:r>
              <a:rPr lang="fr-FR" sz="1600" dirty="0">
                <a:latin typeface="Aptos" panose="020B0004020202020204" pitchFamily="34" charset="0"/>
              </a:rPr>
              <a:t>Lorsqu’on fait un test d’intégration on met l’annotation </a:t>
            </a:r>
            <a:r>
              <a:rPr lang="fr-FR" sz="1600" b="1" dirty="0">
                <a:latin typeface="Aptos" panose="020B0004020202020204" pitchFamily="34" charset="0"/>
              </a:rPr>
              <a:t>@SpringBootTest </a:t>
            </a:r>
            <a:r>
              <a:rPr lang="fr-FR" sz="1600" dirty="0">
                <a:latin typeface="Aptos" panose="020B0004020202020204" pitchFamily="34" charset="0"/>
              </a:rPr>
              <a:t>cela permet de préciser qu’on va lancer le </a:t>
            </a:r>
            <a:r>
              <a:rPr lang="fr-FR" sz="1600" dirty="0" err="1">
                <a:latin typeface="Aptos" panose="020B0004020202020204" pitchFamily="34" charset="0"/>
              </a:rPr>
              <a:t>context</a:t>
            </a:r>
            <a:r>
              <a:rPr lang="fr-FR" sz="1600" dirty="0">
                <a:latin typeface="Aptos" panose="020B0004020202020204" pitchFamily="34" charset="0"/>
              </a:rPr>
              <a:t> </a:t>
            </a:r>
            <a:r>
              <a:rPr lang="fr-FR" sz="1600" dirty="0" err="1">
                <a:latin typeface="Aptos" panose="020B0004020202020204" pitchFamily="34" charset="0"/>
              </a:rPr>
              <a:t>spring</a:t>
            </a:r>
            <a:r>
              <a:rPr lang="fr-FR" sz="1600" dirty="0">
                <a:latin typeface="Aptos" panose="020B0004020202020204" pitchFamily="34" charset="0"/>
              </a:rPr>
              <a:t>. </a:t>
            </a:r>
          </a:p>
          <a:p>
            <a:r>
              <a:rPr lang="fr-FR" sz="1600" b="1" dirty="0">
                <a:latin typeface="Aptos" panose="020B0004020202020204" pitchFamily="34" charset="0"/>
              </a:rPr>
              <a:t>@AutoConfigureMockMvc </a:t>
            </a:r>
            <a:r>
              <a:rPr lang="fr-FR" sz="1600" dirty="0">
                <a:latin typeface="Aptos" panose="020B0004020202020204" pitchFamily="34" charset="0"/>
              </a:rPr>
              <a:t>permet de simuler les appel HTTP pour tester un </a:t>
            </a:r>
            <a:r>
              <a:rPr lang="fr-FR" sz="1600" dirty="0" err="1">
                <a:latin typeface="Aptos" panose="020B0004020202020204" pitchFamily="34" charset="0"/>
              </a:rPr>
              <a:t>controller</a:t>
            </a:r>
            <a:endParaRPr lang="fr-FR" sz="1600" dirty="0">
              <a:latin typeface="Aptos" panose="020B0004020202020204" pitchFamily="34" charset="0"/>
            </a:endParaRPr>
          </a:p>
          <a:p>
            <a:r>
              <a:rPr lang="fr-FR" sz="1600" b="1" dirty="0">
                <a:latin typeface="Aptos" panose="020B0004020202020204" pitchFamily="34" charset="0"/>
              </a:rPr>
              <a:t>@Autowired</a:t>
            </a:r>
            <a:r>
              <a:rPr lang="fr-FR" sz="1600" dirty="0">
                <a:latin typeface="Aptos" panose="020B0004020202020204" pitchFamily="34" charset="0"/>
              </a:rPr>
              <a:t> demande à Spring de créer automatiquement l’objet nécessaire et de l’injecter là où il est utilisé</a:t>
            </a:r>
          </a:p>
        </p:txBody>
      </p:sp>
      <p:sp>
        <p:nvSpPr>
          <p:cNvPr id="14" name="ZoneTexte 13">
            <a:extLst>
              <a:ext uri="{FF2B5EF4-FFF2-40B4-BE49-F238E27FC236}">
                <a16:creationId xmlns:a16="http://schemas.microsoft.com/office/drawing/2014/main" id="{B5D40655-1BD5-1ECB-F4AC-4AE3483108CD}"/>
              </a:ext>
            </a:extLst>
          </p:cNvPr>
          <p:cNvSpPr txBox="1"/>
          <p:nvPr/>
        </p:nvSpPr>
        <p:spPr>
          <a:xfrm>
            <a:off x="6553200" y="4719524"/>
            <a:ext cx="4846320" cy="1477328"/>
          </a:xfrm>
          <a:prstGeom prst="rect">
            <a:avLst/>
          </a:prstGeom>
          <a:noFill/>
        </p:spPr>
        <p:txBody>
          <a:bodyPr wrap="square" rtlCol="0">
            <a:spAutoFit/>
          </a:bodyPr>
          <a:lstStyle/>
          <a:p>
            <a:r>
              <a:rPr lang="fr-FR" dirty="0"/>
              <a:t>Pour tester un </a:t>
            </a:r>
            <a:r>
              <a:rPr lang="fr-FR" dirty="0" err="1"/>
              <a:t>controlleur</a:t>
            </a:r>
            <a:r>
              <a:rPr lang="fr-FR" dirty="0"/>
              <a:t> : .</a:t>
            </a:r>
            <a:r>
              <a:rPr lang="fr-FR" dirty="0" err="1"/>
              <a:t>perform</a:t>
            </a:r>
            <a:r>
              <a:rPr lang="fr-FR" dirty="0"/>
              <a:t>(</a:t>
            </a:r>
            <a:r>
              <a:rPr lang="fr-FR" dirty="0" err="1"/>
              <a:t>methode</a:t>
            </a:r>
            <a:r>
              <a:rPr lang="fr-FR" dirty="0"/>
              <a:t>(« url »).param())</a:t>
            </a:r>
          </a:p>
          <a:p>
            <a:endParaRPr lang="fr-FR" dirty="0"/>
          </a:p>
          <a:p>
            <a:r>
              <a:rPr lang="fr-FR" dirty="0"/>
              <a:t>On peut ensuite tester ce qui est renvoyer et cela aura tester le </a:t>
            </a:r>
            <a:r>
              <a:rPr lang="fr-FR" dirty="0" err="1"/>
              <a:t>controlleur</a:t>
            </a:r>
            <a:r>
              <a:rPr lang="fr-FR" dirty="0"/>
              <a:t> + service + repository</a:t>
            </a:r>
          </a:p>
        </p:txBody>
      </p:sp>
    </p:spTree>
    <p:extLst>
      <p:ext uri="{BB962C8B-B14F-4D97-AF65-F5344CB8AC3E}">
        <p14:creationId xmlns:p14="http://schemas.microsoft.com/office/powerpoint/2010/main" val="8531684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D3CF6-2A6A-2EDD-1C2B-9ABCDF95C46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6E1D4D6-FFED-BDDD-06C5-B7B06D618B1B}"/>
              </a:ext>
            </a:extLst>
          </p:cNvPr>
          <p:cNvSpPr/>
          <p:nvPr/>
        </p:nvSpPr>
        <p:spPr>
          <a:xfrm>
            <a:off x="0" y="0"/>
            <a:ext cx="12191695" cy="68580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3200" b="1" dirty="0">
                <a:latin typeface="Aptos" panose="020B0004020202020204" pitchFamily="34" charset="0"/>
              </a:rPr>
              <a:t>Le TP</a:t>
            </a:r>
            <a:endParaRPr sz="3200" b="1" dirty="0">
              <a:latin typeface="Aptos" panose="020B0004020202020204" pitchFamily="34" charset="0"/>
            </a:endParaRPr>
          </a:p>
        </p:txBody>
      </p:sp>
      <p:sp>
        <p:nvSpPr>
          <p:cNvPr id="7" name="Espace réservé du numéro de diapositive 6">
            <a:extLst>
              <a:ext uri="{FF2B5EF4-FFF2-40B4-BE49-F238E27FC236}">
                <a16:creationId xmlns:a16="http://schemas.microsoft.com/office/drawing/2014/main" id="{E5F9C934-619E-2C6E-58BD-16023ED5DAD1}"/>
              </a:ext>
            </a:extLst>
          </p:cNvPr>
          <p:cNvSpPr>
            <a:spLocks noGrp="1"/>
          </p:cNvSpPr>
          <p:nvPr>
            <p:ph type="sldNum" sz="quarter" idx="12"/>
          </p:nvPr>
        </p:nvSpPr>
        <p:spPr/>
        <p:txBody>
          <a:bodyPr/>
          <a:lstStyle/>
          <a:p>
            <a:fld id="{C1FF6DA9-008F-8B48-92A6-B652298478BF}" type="slidenum">
              <a:rPr lang="en-US" smtClean="0"/>
              <a:t>47</a:t>
            </a:fld>
            <a:endParaRPr lang="en-US"/>
          </a:p>
        </p:txBody>
      </p:sp>
    </p:spTree>
    <p:extLst>
      <p:ext uri="{BB962C8B-B14F-4D97-AF65-F5344CB8AC3E}">
        <p14:creationId xmlns:p14="http://schemas.microsoft.com/office/powerpoint/2010/main" val="38604044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18872"/>
            <a:ext cx="3727302" cy="492443"/>
          </a:xfrm>
          <a:prstGeom prst="rect">
            <a:avLst/>
          </a:prstGeom>
          <a:noFill/>
        </p:spPr>
        <p:txBody>
          <a:bodyPr wrap="none">
            <a:spAutoFit/>
          </a:bodyPr>
          <a:lstStyle/>
          <a:p>
            <a:pPr>
              <a:defRPr sz="2600" b="1">
                <a:solidFill>
                  <a:srgbClr val="FFFFFF"/>
                </a:solidFill>
                <a:latin typeface="Aptos Display"/>
              </a:defRPr>
            </a:pPr>
            <a:r>
              <a:rPr lang="fr-FR" dirty="0"/>
              <a:t>Installation pour le projet</a:t>
            </a:r>
            <a:endParaRPr dirty="0"/>
          </a:p>
        </p:txBody>
      </p:sp>
      <p:sp>
        <p:nvSpPr>
          <p:cNvPr id="7" name="TextBox 6"/>
          <p:cNvSpPr txBox="1"/>
          <p:nvPr/>
        </p:nvSpPr>
        <p:spPr>
          <a:xfrm>
            <a:off x="331347" y="1097060"/>
            <a:ext cx="10515600" cy="400110"/>
          </a:xfrm>
          <a:prstGeom prst="rect">
            <a:avLst/>
          </a:prstGeom>
          <a:noFill/>
        </p:spPr>
        <p:txBody>
          <a:bodyPr wrap="square">
            <a:spAutoFit/>
          </a:bodyPr>
          <a:lstStyle/>
          <a:p>
            <a:pPr>
              <a:spcAft>
                <a:spcPts val="1200"/>
              </a:spcAft>
              <a:defRPr sz="2000">
                <a:solidFill>
                  <a:srgbClr val="232323"/>
                </a:solidFill>
                <a:latin typeface="Aptos"/>
              </a:defRPr>
            </a:pPr>
            <a:r>
              <a:rPr lang="fr-FR" dirty="0"/>
              <a:t>2 options s’offrent à vous : PC Polytech ou PC perso</a:t>
            </a:r>
            <a:endParaRPr dirty="0"/>
          </a:p>
        </p:txBody>
      </p:sp>
      <p:sp>
        <p:nvSpPr>
          <p:cNvPr id="8" name="TextBox 7"/>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9" name="Espace réservé du numéro de diapositive 8">
            <a:extLst>
              <a:ext uri="{FF2B5EF4-FFF2-40B4-BE49-F238E27FC236}">
                <a16:creationId xmlns:a16="http://schemas.microsoft.com/office/drawing/2014/main" id="{F7FD1567-6E25-B2D5-58FD-59EFA2BDADA7}"/>
              </a:ext>
            </a:extLst>
          </p:cNvPr>
          <p:cNvSpPr>
            <a:spLocks noGrp="1"/>
          </p:cNvSpPr>
          <p:nvPr>
            <p:ph type="sldNum" sz="quarter" idx="12"/>
          </p:nvPr>
        </p:nvSpPr>
        <p:spPr/>
        <p:txBody>
          <a:bodyPr/>
          <a:lstStyle/>
          <a:p>
            <a:fld id="{C1FF6DA9-008F-8B48-92A6-B652298478BF}" type="slidenum">
              <a:rPr lang="en-US" smtClean="0"/>
              <a:t>48</a:t>
            </a:fld>
            <a:endParaRPr lang="en-US"/>
          </a:p>
        </p:txBody>
      </p:sp>
      <p:cxnSp>
        <p:nvCxnSpPr>
          <p:cNvPr id="10" name="Connecteur droit 9">
            <a:extLst>
              <a:ext uri="{FF2B5EF4-FFF2-40B4-BE49-F238E27FC236}">
                <a16:creationId xmlns:a16="http://schemas.microsoft.com/office/drawing/2014/main" id="{F08A2960-5075-888A-2AAF-ECC44014D966}"/>
              </a:ext>
            </a:extLst>
          </p:cNvPr>
          <p:cNvCxnSpPr>
            <a:cxnSpLocks/>
          </p:cNvCxnSpPr>
          <p:nvPr/>
        </p:nvCxnSpPr>
        <p:spPr>
          <a:xfrm>
            <a:off x="5989167" y="1740310"/>
            <a:ext cx="0" cy="4306529"/>
          </a:xfrm>
          <a:prstGeom prst="line">
            <a:avLst/>
          </a:prstGeom>
          <a:ln w="57150"/>
        </p:spPr>
        <p:style>
          <a:lnRef idx="2">
            <a:schemeClr val="dk1"/>
          </a:lnRef>
          <a:fillRef idx="0">
            <a:schemeClr val="dk1"/>
          </a:fillRef>
          <a:effectRef idx="1">
            <a:schemeClr val="dk1"/>
          </a:effectRef>
          <a:fontRef idx="minor">
            <a:schemeClr val="tx1"/>
          </a:fontRef>
        </p:style>
      </p:cxnSp>
      <p:cxnSp>
        <p:nvCxnSpPr>
          <p:cNvPr id="12" name="Connecteur droit 11">
            <a:extLst>
              <a:ext uri="{FF2B5EF4-FFF2-40B4-BE49-F238E27FC236}">
                <a16:creationId xmlns:a16="http://schemas.microsoft.com/office/drawing/2014/main" id="{240E5F17-1A03-52D2-B795-8AC096767193}"/>
              </a:ext>
            </a:extLst>
          </p:cNvPr>
          <p:cNvCxnSpPr>
            <a:cxnSpLocks/>
          </p:cNvCxnSpPr>
          <p:nvPr/>
        </p:nvCxnSpPr>
        <p:spPr>
          <a:xfrm>
            <a:off x="502920" y="6054213"/>
            <a:ext cx="5138677" cy="27039"/>
          </a:xfrm>
          <a:prstGeom prst="line">
            <a:avLst/>
          </a:prstGeom>
          <a:ln w="57150"/>
        </p:spPr>
        <p:style>
          <a:lnRef idx="2">
            <a:schemeClr val="dk1"/>
          </a:lnRef>
          <a:fillRef idx="0">
            <a:schemeClr val="dk1"/>
          </a:fillRef>
          <a:effectRef idx="1">
            <a:schemeClr val="dk1"/>
          </a:effectRef>
          <a:fontRef idx="minor">
            <a:schemeClr val="tx1"/>
          </a:fontRef>
        </p:style>
      </p:cxnSp>
      <p:sp>
        <p:nvSpPr>
          <p:cNvPr id="14" name="ZoneTexte 13">
            <a:extLst>
              <a:ext uri="{FF2B5EF4-FFF2-40B4-BE49-F238E27FC236}">
                <a16:creationId xmlns:a16="http://schemas.microsoft.com/office/drawing/2014/main" id="{CD86D658-4B9D-68B7-8008-E8ECDA9150DE}"/>
              </a:ext>
            </a:extLst>
          </p:cNvPr>
          <p:cNvSpPr txBox="1"/>
          <p:nvPr/>
        </p:nvSpPr>
        <p:spPr>
          <a:xfrm>
            <a:off x="260066" y="1706564"/>
            <a:ext cx="5531128" cy="3847207"/>
          </a:xfrm>
          <a:prstGeom prst="rect">
            <a:avLst/>
          </a:prstGeom>
          <a:noFill/>
        </p:spPr>
        <p:txBody>
          <a:bodyPr wrap="square" rtlCol="0">
            <a:spAutoFit/>
          </a:bodyPr>
          <a:lstStyle/>
          <a:p>
            <a:pPr algn="ctr"/>
            <a:r>
              <a:rPr lang="fr-FR" b="1" dirty="0">
                <a:solidFill>
                  <a:srgbClr val="FF0000"/>
                </a:solidFill>
                <a:latin typeface="Aptos" panose="020B0004020202020204" pitchFamily="34" charset="0"/>
              </a:rPr>
              <a:t>PC perso</a:t>
            </a:r>
          </a:p>
          <a:p>
            <a:pPr marL="285750" indent="-285750" algn="just">
              <a:buFont typeface="Arial" panose="020B0604020202020204" pitchFamily="34" charset="0"/>
              <a:buChar char="•"/>
            </a:pPr>
            <a:endParaRPr lang="fr-FR" b="1" dirty="0">
              <a:solidFill>
                <a:srgbClr val="FF0000"/>
              </a:solidFill>
              <a:latin typeface="Aptos" panose="020B0004020202020204" pitchFamily="34" charset="0"/>
            </a:endParaRPr>
          </a:p>
          <a:p>
            <a:pPr marL="285750" indent="-285750" algn="just">
              <a:buFont typeface="Arial" panose="020B0604020202020204" pitchFamily="34" charset="0"/>
              <a:buChar char="•"/>
            </a:pPr>
            <a:r>
              <a:rPr lang="fr-FR" sz="1600" dirty="0" err="1">
                <a:solidFill>
                  <a:srgbClr val="1E1F22"/>
                </a:solidFill>
                <a:latin typeface="Aptos" panose="020B0004020202020204" pitchFamily="34" charset="0"/>
              </a:rPr>
              <a:t>IntelliJ</a:t>
            </a:r>
            <a:r>
              <a:rPr lang="fr-FR" sz="1600" dirty="0">
                <a:solidFill>
                  <a:srgbClr val="1E1F22"/>
                </a:solidFill>
                <a:latin typeface="Aptos" panose="020B0004020202020204" pitchFamily="34" charset="0"/>
              </a:rPr>
              <a:t> + VS code</a:t>
            </a:r>
          </a:p>
          <a:p>
            <a:pPr marL="285750" indent="-285750" algn="just">
              <a:buFont typeface="Arial" panose="020B0604020202020204" pitchFamily="34" charset="0"/>
              <a:buChar char="•"/>
            </a:pPr>
            <a:r>
              <a:rPr lang="fr-FR" sz="1600" dirty="0">
                <a:solidFill>
                  <a:srgbClr val="1E1F22"/>
                </a:solidFill>
                <a:latin typeface="Aptos" panose="020B0004020202020204" pitchFamily="34" charset="0"/>
              </a:rPr>
              <a:t>Git</a:t>
            </a:r>
          </a:p>
          <a:p>
            <a:pPr marL="285750" indent="-285750" algn="just">
              <a:buFont typeface="Arial" panose="020B0604020202020204" pitchFamily="34" charset="0"/>
              <a:buChar char="•"/>
            </a:pPr>
            <a:r>
              <a:rPr lang="fr-FR" sz="1600" dirty="0" err="1">
                <a:solidFill>
                  <a:srgbClr val="1E1F22"/>
                </a:solidFill>
                <a:latin typeface="Aptos" panose="020B0004020202020204" pitchFamily="34" charset="0"/>
              </a:rPr>
              <a:t>Jdk</a:t>
            </a:r>
            <a:r>
              <a:rPr lang="fr-FR" sz="1600" dirty="0">
                <a:solidFill>
                  <a:srgbClr val="1E1F22"/>
                </a:solidFill>
                <a:latin typeface="Aptos" panose="020B0004020202020204" pitchFamily="34" charset="0"/>
              </a:rPr>
              <a:t> 21 (via </a:t>
            </a:r>
            <a:r>
              <a:rPr lang="fr-FR" sz="1600" dirty="0" err="1">
                <a:solidFill>
                  <a:srgbClr val="1E1F22"/>
                </a:solidFill>
                <a:latin typeface="Aptos" panose="020B0004020202020204" pitchFamily="34" charset="0"/>
              </a:rPr>
              <a:t>intelliJ</a:t>
            </a:r>
            <a:r>
              <a:rPr lang="fr-FR" sz="1600" dirty="0">
                <a:solidFill>
                  <a:srgbClr val="1E1F22"/>
                </a:solidFill>
                <a:latin typeface="Aptos" panose="020B0004020202020204" pitchFamily="34" charset="0"/>
              </a:rPr>
              <a:t> File/Project Structure/ SDKs ou </a:t>
            </a:r>
            <a:r>
              <a:rPr lang="fr-FR" sz="1600" dirty="0" err="1">
                <a:latin typeface="Aptos" panose="020B0004020202020204" pitchFamily="34" charset="0"/>
                <a:hlinkClick r:id="rId2"/>
              </a:rPr>
              <a:t>Latest</a:t>
            </a:r>
            <a:r>
              <a:rPr lang="fr-FR" sz="1600" dirty="0">
                <a:latin typeface="Aptos" panose="020B0004020202020204" pitchFamily="34" charset="0"/>
                <a:hlinkClick r:id="rId2"/>
              </a:rPr>
              <a:t> Releases | </a:t>
            </a:r>
            <a:r>
              <a:rPr lang="fr-FR" sz="1600" dirty="0" err="1">
                <a:latin typeface="Aptos" panose="020B0004020202020204" pitchFamily="34" charset="0"/>
                <a:hlinkClick r:id="rId2"/>
              </a:rPr>
              <a:t>Adoptium</a:t>
            </a:r>
            <a:r>
              <a:rPr lang="fr-FR" sz="1600" dirty="0">
                <a:latin typeface="Aptos" panose="020B0004020202020204" pitchFamily="34" charset="0"/>
              </a:rPr>
              <a:t>)</a:t>
            </a:r>
          </a:p>
          <a:p>
            <a:pPr marL="285750" indent="-285750" algn="just">
              <a:buFont typeface="Arial" panose="020B0604020202020204" pitchFamily="34" charset="0"/>
              <a:buChar char="•"/>
            </a:pPr>
            <a:r>
              <a:rPr lang="fr-FR" sz="1600" dirty="0" err="1">
                <a:solidFill>
                  <a:srgbClr val="1E1F22"/>
                </a:solidFill>
                <a:latin typeface="Aptos" panose="020B0004020202020204" pitchFamily="34" charset="0"/>
              </a:rPr>
              <a:t>Dbeaver</a:t>
            </a:r>
            <a:r>
              <a:rPr lang="fr-FR" sz="1600" dirty="0">
                <a:solidFill>
                  <a:srgbClr val="1E1F22"/>
                </a:solidFill>
                <a:latin typeface="Aptos" panose="020B0004020202020204" pitchFamily="34" charset="0"/>
              </a:rPr>
              <a:t> version </a:t>
            </a:r>
            <a:r>
              <a:rPr lang="fr-FR" sz="1600" dirty="0" err="1">
                <a:solidFill>
                  <a:srgbClr val="1E1F22"/>
                </a:solidFill>
                <a:latin typeface="Aptos" panose="020B0004020202020204" pitchFamily="34" charset="0"/>
              </a:rPr>
              <a:t>community</a:t>
            </a:r>
            <a:r>
              <a:rPr lang="fr-FR" sz="1600" dirty="0">
                <a:solidFill>
                  <a:srgbClr val="1E1F22"/>
                </a:solidFill>
                <a:latin typeface="Aptos" panose="020B0004020202020204" pitchFamily="34" charset="0"/>
              </a:rPr>
              <a:t> (</a:t>
            </a:r>
            <a:r>
              <a:rPr lang="fr-FR" sz="1600" dirty="0">
                <a:latin typeface="Aptos" panose="020B0004020202020204" pitchFamily="34" charset="0"/>
                <a:hlinkClick r:id="rId3"/>
              </a:rPr>
              <a:t>Download | </a:t>
            </a:r>
            <a:r>
              <a:rPr lang="fr-FR" sz="1600" dirty="0" err="1">
                <a:latin typeface="Aptos" panose="020B0004020202020204" pitchFamily="34" charset="0"/>
                <a:hlinkClick r:id="rId3"/>
              </a:rPr>
              <a:t>DBeaver</a:t>
            </a:r>
            <a:r>
              <a:rPr lang="fr-FR" sz="1600" dirty="0">
                <a:latin typeface="Aptos" panose="020B0004020202020204" pitchFamily="34" charset="0"/>
                <a:hlinkClick r:id="rId3"/>
              </a:rPr>
              <a:t> Community</a:t>
            </a:r>
            <a:r>
              <a:rPr lang="fr-FR" sz="1600" dirty="0">
                <a:latin typeface="Aptos" panose="020B0004020202020204" pitchFamily="34" charset="0"/>
              </a:rPr>
              <a:t>)</a:t>
            </a:r>
            <a:endParaRPr lang="fr-FR" sz="1600" dirty="0">
              <a:solidFill>
                <a:srgbClr val="1E1F22"/>
              </a:solidFill>
              <a:latin typeface="Aptos" panose="020B0004020202020204" pitchFamily="34" charset="0"/>
            </a:endParaRPr>
          </a:p>
          <a:p>
            <a:pPr marL="285750" indent="-285750" algn="just">
              <a:buFont typeface="Arial" panose="020B0604020202020204" pitchFamily="34" charset="0"/>
              <a:buChar char="•"/>
            </a:pPr>
            <a:r>
              <a:rPr lang="fr-FR" sz="1600" dirty="0" err="1">
                <a:solidFill>
                  <a:srgbClr val="1E1F22"/>
                </a:solidFill>
                <a:latin typeface="Aptos" panose="020B0004020202020204" pitchFamily="34" charset="0"/>
              </a:rPr>
              <a:t>Postgre</a:t>
            </a:r>
            <a:r>
              <a:rPr lang="fr-FR" sz="1600" dirty="0">
                <a:solidFill>
                  <a:srgbClr val="1E1F22"/>
                </a:solidFill>
                <a:latin typeface="Aptos" panose="020B0004020202020204" pitchFamily="34" charset="0"/>
              </a:rPr>
              <a:t> (</a:t>
            </a:r>
            <a:r>
              <a:rPr lang="fr-FR" sz="1600" dirty="0">
                <a:hlinkClick r:id="rId4"/>
              </a:rPr>
              <a:t>PostgreSQL: Downloads</a:t>
            </a:r>
            <a:r>
              <a:rPr lang="fr-FR" sz="1600" dirty="0"/>
              <a:t>) </a:t>
            </a:r>
            <a:r>
              <a:rPr lang="fr-FR" sz="1600" dirty="0">
                <a:solidFill>
                  <a:srgbClr val="1E1F22"/>
                </a:solidFill>
                <a:latin typeface="Aptos" panose="020B0004020202020204" pitchFamily="34" charset="0"/>
              </a:rPr>
              <a:t>+ </a:t>
            </a:r>
            <a:r>
              <a:rPr lang="fr-FR" sz="1600" dirty="0" err="1">
                <a:solidFill>
                  <a:srgbClr val="1E1F22"/>
                </a:solidFill>
                <a:latin typeface="Aptos" panose="020B0004020202020204" pitchFamily="34" charset="0"/>
              </a:rPr>
              <a:t>creation</a:t>
            </a:r>
            <a:r>
              <a:rPr lang="fr-FR" sz="1600" dirty="0">
                <a:solidFill>
                  <a:srgbClr val="1E1F22"/>
                </a:solidFill>
                <a:latin typeface="Aptos" panose="020B0004020202020204" pitchFamily="34" charset="0"/>
              </a:rPr>
              <a:t> d’un user (user: </a:t>
            </a:r>
            <a:r>
              <a:rPr lang="fr-FR" sz="1600" dirty="0" err="1">
                <a:solidFill>
                  <a:srgbClr val="1E1F22"/>
                </a:solidFill>
                <a:latin typeface="Aptos" panose="020B0004020202020204" pitchFamily="34" charset="0"/>
              </a:rPr>
              <a:t>postgres</a:t>
            </a:r>
            <a:r>
              <a:rPr lang="fr-FR" sz="1600" dirty="0">
                <a:solidFill>
                  <a:srgbClr val="1E1F22"/>
                </a:solidFill>
                <a:latin typeface="Aptos" panose="020B0004020202020204" pitchFamily="34" charset="0"/>
              </a:rPr>
              <a:t> </a:t>
            </a:r>
            <a:r>
              <a:rPr lang="fr-FR" sz="1600" dirty="0" err="1">
                <a:solidFill>
                  <a:srgbClr val="1E1F22"/>
                </a:solidFill>
                <a:latin typeface="Aptos" panose="020B0004020202020204" pitchFamily="34" charset="0"/>
              </a:rPr>
              <a:t>mdp</a:t>
            </a:r>
            <a:r>
              <a:rPr lang="fr-FR" sz="1600" dirty="0">
                <a:solidFill>
                  <a:srgbClr val="1E1F22"/>
                </a:solidFill>
                <a:latin typeface="Aptos" panose="020B0004020202020204" pitchFamily="34" charset="0"/>
              </a:rPr>
              <a:t>: </a:t>
            </a:r>
            <a:r>
              <a:rPr lang="fr-FR" sz="1600" dirty="0" err="1">
                <a:solidFill>
                  <a:srgbClr val="1E1F22"/>
                </a:solidFill>
                <a:latin typeface="Aptos" panose="020B0004020202020204" pitchFamily="34" charset="0"/>
              </a:rPr>
              <a:t>polytech</a:t>
            </a:r>
            <a:r>
              <a:rPr lang="fr-FR" sz="1600" dirty="0">
                <a:solidFill>
                  <a:srgbClr val="1E1F22"/>
                </a:solidFill>
                <a:latin typeface="Aptos" panose="020B0004020202020204" pitchFamily="34" charset="0"/>
              </a:rPr>
              <a:t>)</a:t>
            </a:r>
          </a:p>
          <a:p>
            <a:pPr marL="285750" indent="-285750" algn="just">
              <a:buFont typeface="Arial" panose="020B0604020202020204" pitchFamily="34" charset="0"/>
              <a:buChar char="•"/>
            </a:pPr>
            <a:r>
              <a:rPr lang="fr-FR" sz="1600" dirty="0">
                <a:solidFill>
                  <a:srgbClr val="1E1F22"/>
                </a:solidFill>
                <a:latin typeface="Aptos" panose="020B0004020202020204" pitchFamily="34" charset="0"/>
              </a:rPr>
              <a:t>Node mini v22 (</a:t>
            </a:r>
            <a:r>
              <a:rPr lang="fr-FR" sz="1600" dirty="0">
                <a:hlinkClick r:id="rId5"/>
              </a:rPr>
              <a:t>Node.js — Télécharger Node.js®</a:t>
            </a:r>
            <a:r>
              <a:rPr lang="fr-FR" sz="1600" dirty="0"/>
              <a:t>)</a:t>
            </a:r>
            <a:endParaRPr lang="fr-FR" sz="1600" dirty="0">
              <a:solidFill>
                <a:srgbClr val="1E1F22"/>
              </a:solidFill>
              <a:latin typeface="Aptos" panose="020B0004020202020204" pitchFamily="34" charset="0"/>
            </a:endParaRPr>
          </a:p>
          <a:p>
            <a:pPr marL="285750" indent="-285750" algn="just">
              <a:buFont typeface="Arial" panose="020B0604020202020204" pitchFamily="34" charset="0"/>
              <a:buChar char="•"/>
            </a:pPr>
            <a:r>
              <a:rPr lang="fr-FR" sz="1600" dirty="0" err="1">
                <a:solidFill>
                  <a:srgbClr val="1E1F22"/>
                </a:solidFill>
                <a:latin typeface="Aptos" panose="020B0004020202020204" pitchFamily="34" charset="0"/>
              </a:rPr>
              <a:t>Angular</a:t>
            </a:r>
            <a:r>
              <a:rPr lang="fr-FR" sz="1600" dirty="0">
                <a:solidFill>
                  <a:srgbClr val="1E1F22"/>
                </a:solidFill>
                <a:latin typeface="Aptos" panose="020B0004020202020204" pitchFamily="34" charset="0"/>
              </a:rPr>
              <a:t> cli (</a:t>
            </a:r>
            <a:r>
              <a:rPr lang="fr-FR" sz="1600" dirty="0" err="1">
                <a:solidFill>
                  <a:srgbClr val="1E1F22"/>
                </a:solidFill>
                <a:latin typeface="Aptos" panose="020B0004020202020204" pitchFamily="34" charset="0"/>
              </a:rPr>
              <a:t>npm</a:t>
            </a:r>
            <a:r>
              <a:rPr lang="fr-FR" sz="1600" dirty="0">
                <a:solidFill>
                  <a:srgbClr val="1E1F22"/>
                </a:solidFill>
                <a:latin typeface="Aptos" panose="020B0004020202020204" pitchFamily="34" charset="0"/>
              </a:rPr>
              <a:t> </a:t>
            </a:r>
            <a:r>
              <a:rPr lang="fr-FR" sz="1600" dirty="0" err="1">
                <a:solidFill>
                  <a:srgbClr val="1E1F22"/>
                </a:solidFill>
                <a:latin typeface="Aptos" panose="020B0004020202020204" pitchFamily="34" charset="0"/>
              </a:rPr>
              <a:t>install</a:t>
            </a:r>
            <a:r>
              <a:rPr lang="fr-FR" sz="1600" dirty="0">
                <a:solidFill>
                  <a:srgbClr val="1E1F22"/>
                </a:solidFill>
                <a:latin typeface="Aptos" panose="020B0004020202020204" pitchFamily="34" charset="0"/>
              </a:rPr>
              <a:t> -g @angular/cli</a:t>
            </a:r>
          </a:p>
          <a:p>
            <a:pPr marL="285750" indent="-285750" algn="just">
              <a:buFont typeface="Arial" panose="020B0604020202020204" pitchFamily="34" charset="0"/>
              <a:buChar char="•"/>
            </a:pPr>
            <a:endParaRPr lang="fr-FR" sz="1600" dirty="0">
              <a:solidFill>
                <a:srgbClr val="1E1F22"/>
              </a:solidFill>
              <a:latin typeface="Aptos" panose="020B0004020202020204" pitchFamily="34" charset="0"/>
            </a:endParaRPr>
          </a:p>
          <a:p>
            <a:pPr algn="just"/>
            <a:r>
              <a:rPr lang="fr-FR" sz="1600" dirty="0">
                <a:solidFill>
                  <a:srgbClr val="1E1F22"/>
                </a:solidFill>
                <a:latin typeface="Aptos" panose="020B0004020202020204" pitchFamily="34" charset="0"/>
                <a:sym typeface="Wingdings" panose="05000000000000000000" pitchFamily="2" charset="2"/>
              </a:rPr>
              <a:t> Dans le terminal faire : </a:t>
            </a:r>
            <a:r>
              <a:rPr lang="fr-FR" sz="1600" dirty="0" err="1">
                <a:solidFill>
                  <a:srgbClr val="1E1F22"/>
                </a:solidFill>
                <a:latin typeface="Aptos" panose="020B0004020202020204" pitchFamily="34" charset="0"/>
                <a:sym typeface="Wingdings" panose="05000000000000000000" pitchFamily="2" charset="2"/>
              </a:rPr>
              <a:t>node</a:t>
            </a:r>
            <a:r>
              <a:rPr lang="fr-FR" sz="1600" dirty="0">
                <a:solidFill>
                  <a:srgbClr val="1E1F22"/>
                </a:solidFill>
                <a:latin typeface="Aptos" panose="020B0004020202020204" pitchFamily="34" charset="0"/>
                <a:sym typeface="Wingdings" panose="05000000000000000000" pitchFamily="2" charset="2"/>
              </a:rPr>
              <a:t> -v, </a:t>
            </a:r>
            <a:r>
              <a:rPr lang="fr-FR" sz="1600" dirty="0" err="1">
                <a:solidFill>
                  <a:srgbClr val="1E1F22"/>
                </a:solidFill>
                <a:latin typeface="Aptos" panose="020B0004020202020204" pitchFamily="34" charset="0"/>
                <a:sym typeface="Wingdings" panose="05000000000000000000" pitchFamily="2" charset="2"/>
              </a:rPr>
              <a:t>npm</a:t>
            </a:r>
            <a:r>
              <a:rPr lang="fr-FR" sz="1600" dirty="0">
                <a:solidFill>
                  <a:srgbClr val="1E1F22"/>
                </a:solidFill>
                <a:latin typeface="Aptos" panose="020B0004020202020204" pitchFamily="34" charset="0"/>
                <a:sym typeface="Wingdings" panose="05000000000000000000" pitchFamily="2" charset="2"/>
              </a:rPr>
              <a:t> - v pour vérifier que cela fonctionne </a:t>
            </a:r>
            <a:endParaRPr lang="fr-FR" sz="1600" dirty="0">
              <a:solidFill>
                <a:srgbClr val="1E1F22"/>
              </a:solidFill>
              <a:latin typeface="Aptos" panose="020B0004020202020204" pitchFamily="34" charset="0"/>
            </a:endParaRPr>
          </a:p>
        </p:txBody>
      </p:sp>
      <p:sp>
        <p:nvSpPr>
          <p:cNvPr id="16" name="ZoneTexte 15">
            <a:extLst>
              <a:ext uri="{FF2B5EF4-FFF2-40B4-BE49-F238E27FC236}">
                <a16:creationId xmlns:a16="http://schemas.microsoft.com/office/drawing/2014/main" id="{08D6FF5B-8C53-25F2-8005-0830E80AB3CF}"/>
              </a:ext>
            </a:extLst>
          </p:cNvPr>
          <p:cNvSpPr txBox="1"/>
          <p:nvPr/>
        </p:nvSpPr>
        <p:spPr>
          <a:xfrm>
            <a:off x="6282324" y="1960859"/>
            <a:ext cx="5531128" cy="1631216"/>
          </a:xfrm>
          <a:prstGeom prst="rect">
            <a:avLst/>
          </a:prstGeom>
          <a:noFill/>
        </p:spPr>
        <p:txBody>
          <a:bodyPr wrap="square" rtlCol="0">
            <a:spAutoFit/>
          </a:bodyPr>
          <a:lstStyle/>
          <a:p>
            <a:pPr algn="ctr"/>
            <a:r>
              <a:rPr lang="fr-FR" b="1" dirty="0">
                <a:solidFill>
                  <a:srgbClr val="FF0000"/>
                </a:solidFill>
                <a:latin typeface="Aptos" panose="020B0004020202020204" pitchFamily="34" charset="0"/>
              </a:rPr>
              <a:t>PC Polytech</a:t>
            </a:r>
          </a:p>
          <a:p>
            <a:pPr marL="285750" indent="-285750" algn="just">
              <a:buFont typeface="Arial" panose="020B0604020202020204" pitchFamily="34" charset="0"/>
              <a:buChar char="•"/>
            </a:pPr>
            <a:endParaRPr lang="fr-FR" b="1" dirty="0">
              <a:solidFill>
                <a:srgbClr val="FF0000"/>
              </a:solidFill>
              <a:latin typeface="Aptos" panose="020B0004020202020204" pitchFamily="34" charset="0"/>
            </a:endParaRPr>
          </a:p>
          <a:p>
            <a:pPr marL="285750" indent="-285750" algn="just">
              <a:buFont typeface="Arial" panose="020B0604020202020204" pitchFamily="34" charset="0"/>
              <a:buChar char="•"/>
            </a:pPr>
            <a:r>
              <a:rPr lang="fr-FR" sz="1600" dirty="0" err="1">
                <a:solidFill>
                  <a:srgbClr val="1E1F22"/>
                </a:solidFill>
                <a:latin typeface="Aptos" panose="020B0004020202020204" pitchFamily="34" charset="0"/>
              </a:rPr>
              <a:t>Angular</a:t>
            </a:r>
            <a:r>
              <a:rPr lang="fr-FR" sz="1600" dirty="0">
                <a:solidFill>
                  <a:srgbClr val="1E1F22"/>
                </a:solidFill>
                <a:latin typeface="Aptos" panose="020B0004020202020204" pitchFamily="34" charset="0"/>
              </a:rPr>
              <a:t> cli (</a:t>
            </a:r>
            <a:r>
              <a:rPr lang="fr-FR" sz="1600" dirty="0" err="1">
                <a:solidFill>
                  <a:srgbClr val="1E1F22"/>
                </a:solidFill>
                <a:latin typeface="Aptos" panose="020B0004020202020204" pitchFamily="34" charset="0"/>
              </a:rPr>
              <a:t>npm</a:t>
            </a:r>
            <a:r>
              <a:rPr lang="fr-FR" sz="1600" dirty="0">
                <a:solidFill>
                  <a:srgbClr val="1E1F22"/>
                </a:solidFill>
                <a:latin typeface="Aptos" panose="020B0004020202020204" pitchFamily="34" charset="0"/>
              </a:rPr>
              <a:t> </a:t>
            </a:r>
            <a:r>
              <a:rPr lang="fr-FR" sz="1600" dirty="0" err="1">
                <a:solidFill>
                  <a:srgbClr val="1E1F22"/>
                </a:solidFill>
                <a:latin typeface="Aptos" panose="020B0004020202020204" pitchFamily="34" charset="0"/>
              </a:rPr>
              <a:t>install</a:t>
            </a:r>
            <a:r>
              <a:rPr lang="fr-FR" sz="1600" dirty="0">
                <a:solidFill>
                  <a:srgbClr val="1E1F22"/>
                </a:solidFill>
                <a:latin typeface="Aptos" panose="020B0004020202020204" pitchFamily="34" charset="0"/>
              </a:rPr>
              <a:t> -g @angular/cli)</a:t>
            </a:r>
          </a:p>
          <a:p>
            <a:pPr algn="just"/>
            <a:endParaRPr lang="fr-FR" sz="1600" dirty="0">
              <a:solidFill>
                <a:srgbClr val="1E1F22"/>
              </a:solidFill>
              <a:latin typeface="Aptos" panose="020B0004020202020204" pitchFamily="34" charset="0"/>
            </a:endParaRPr>
          </a:p>
          <a:p>
            <a:pPr algn="just"/>
            <a:r>
              <a:rPr lang="fr-FR" sz="1600" dirty="0">
                <a:solidFill>
                  <a:srgbClr val="1E1F22"/>
                </a:solidFill>
                <a:latin typeface="Aptos" panose="020B0004020202020204" pitchFamily="34" charset="0"/>
                <a:sym typeface="Wingdings" panose="05000000000000000000" pitchFamily="2" charset="2"/>
              </a:rPr>
              <a:t> Dans le terminal faire : </a:t>
            </a:r>
            <a:r>
              <a:rPr lang="fr-FR" sz="1600" dirty="0" err="1">
                <a:solidFill>
                  <a:srgbClr val="1E1F22"/>
                </a:solidFill>
                <a:latin typeface="Aptos" panose="020B0004020202020204" pitchFamily="34" charset="0"/>
                <a:sym typeface="Wingdings" panose="05000000000000000000" pitchFamily="2" charset="2"/>
              </a:rPr>
              <a:t>node</a:t>
            </a:r>
            <a:r>
              <a:rPr lang="fr-FR" sz="1600" dirty="0">
                <a:solidFill>
                  <a:srgbClr val="1E1F22"/>
                </a:solidFill>
                <a:latin typeface="Aptos" panose="020B0004020202020204" pitchFamily="34" charset="0"/>
                <a:sym typeface="Wingdings" panose="05000000000000000000" pitchFamily="2" charset="2"/>
              </a:rPr>
              <a:t> -v, </a:t>
            </a:r>
            <a:r>
              <a:rPr lang="fr-FR" sz="1600" dirty="0" err="1">
                <a:solidFill>
                  <a:srgbClr val="1E1F22"/>
                </a:solidFill>
                <a:latin typeface="Aptos" panose="020B0004020202020204" pitchFamily="34" charset="0"/>
                <a:sym typeface="Wingdings" panose="05000000000000000000" pitchFamily="2" charset="2"/>
              </a:rPr>
              <a:t>npm</a:t>
            </a:r>
            <a:r>
              <a:rPr lang="fr-FR" sz="1600" dirty="0">
                <a:solidFill>
                  <a:srgbClr val="1E1F22"/>
                </a:solidFill>
                <a:latin typeface="Aptos" panose="020B0004020202020204" pitchFamily="34" charset="0"/>
                <a:sym typeface="Wingdings" panose="05000000000000000000" pitchFamily="2" charset="2"/>
              </a:rPr>
              <a:t> - v pour vérifier que cela fonctionne </a:t>
            </a:r>
            <a:endParaRPr lang="fr-FR" sz="1600" dirty="0">
              <a:solidFill>
                <a:srgbClr val="1E1F22"/>
              </a:solidFill>
              <a:latin typeface="Aptos" panose="020B0004020202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8B5FD-D46E-64F4-B8C3-E6F3893F1B0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3B140F7-E2C7-134A-5F8D-084940C5430A}"/>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2C29C282-ECFD-D701-A51E-8D02086432CF}"/>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7C7BC9E9-F7CE-34E7-6D2A-4AA0320E43DB}"/>
              </a:ext>
            </a:extLst>
          </p:cNvPr>
          <p:cNvSpPr txBox="1"/>
          <p:nvPr/>
        </p:nvSpPr>
        <p:spPr>
          <a:xfrm>
            <a:off x="502920" y="118872"/>
            <a:ext cx="3472104" cy="492443"/>
          </a:xfrm>
          <a:prstGeom prst="rect">
            <a:avLst/>
          </a:prstGeom>
          <a:noFill/>
        </p:spPr>
        <p:txBody>
          <a:bodyPr wrap="none">
            <a:spAutoFit/>
          </a:bodyPr>
          <a:lstStyle/>
          <a:p>
            <a:pPr>
              <a:defRPr sz="2600" b="1">
                <a:solidFill>
                  <a:srgbClr val="FFFFFF"/>
                </a:solidFill>
                <a:latin typeface="Aptos Display"/>
              </a:defRPr>
            </a:pPr>
            <a:r>
              <a:rPr lang="fr-FR" dirty="0"/>
              <a:t>Lancement de </a:t>
            </a:r>
            <a:r>
              <a:rPr lang="fr-FR" dirty="0" err="1"/>
              <a:t>DBeaver</a:t>
            </a:r>
            <a:endParaRPr dirty="0"/>
          </a:p>
        </p:txBody>
      </p:sp>
      <p:sp>
        <p:nvSpPr>
          <p:cNvPr id="8" name="TextBox 7">
            <a:extLst>
              <a:ext uri="{FF2B5EF4-FFF2-40B4-BE49-F238E27FC236}">
                <a16:creationId xmlns:a16="http://schemas.microsoft.com/office/drawing/2014/main" id="{8B5B6324-5E65-1995-5251-EB3F7DB58484}"/>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9" name="Espace réservé du numéro de diapositive 8">
            <a:extLst>
              <a:ext uri="{FF2B5EF4-FFF2-40B4-BE49-F238E27FC236}">
                <a16:creationId xmlns:a16="http://schemas.microsoft.com/office/drawing/2014/main" id="{18638228-5C79-83D2-4328-57BABCC84AE9}"/>
              </a:ext>
            </a:extLst>
          </p:cNvPr>
          <p:cNvSpPr>
            <a:spLocks noGrp="1"/>
          </p:cNvSpPr>
          <p:nvPr>
            <p:ph type="sldNum" sz="quarter" idx="12"/>
          </p:nvPr>
        </p:nvSpPr>
        <p:spPr/>
        <p:txBody>
          <a:bodyPr/>
          <a:lstStyle/>
          <a:p>
            <a:fld id="{C1FF6DA9-008F-8B48-92A6-B652298478BF}" type="slidenum">
              <a:rPr lang="en-US" smtClean="0"/>
              <a:t>49</a:t>
            </a:fld>
            <a:endParaRPr lang="en-US"/>
          </a:p>
        </p:txBody>
      </p:sp>
      <p:pic>
        <p:nvPicPr>
          <p:cNvPr id="13" name="Image 12">
            <a:extLst>
              <a:ext uri="{FF2B5EF4-FFF2-40B4-BE49-F238E27FC236}">
                <a16:creationId xmlns:a16="http://schemas.microsoft.com/office/drawing/2014/main" id="{8FC5805E-830E-3669-1728-728831B1A3D2}"/>
              </a:ext>
            </a:extLst>
          </p:cNvPr>
          <p:cNvPicPr>
            <a:picLocks noChangeAspect="1"/>
          </p:cNvPicPr>
          <p:nvPr/>
        </p:nvPicPr>
        <p:blipFill>
          <a:blip r:embed="rId2"/>
          <a:stretch>
            <a:fillRect/>
          </a:stretch>
        </p:blipFill>
        <p:spPr>
          <a:xfrm>
            <a:off x="237338" y="979769"/>
            <a:ext cx="4677428" cy="3305636"/>
          </a:xfrm>
          <a:prstGeom prst="rect">
            <a:avLst/>
          </a:prstGeom>
        </p:spPr>
      </p:pic>
      <p:sp>
        <p:nvSpPr>
          <p:cNvPr id="15" name="ZoneTexte 14">
            <a:extLst>
              <a:ext uri="{FF2B5EF4-FFF2-40B4-BE49-F238E27FC236}">
                <a16:creationId xmlns:a16="http://schemas.microsoft.com/office/drawing/2014/main" id="{58125C92-0073-4C1A-27B2-C23920D6AAEA}"/>
              </a:ext>
            </a:extLst>
          </p:cNvPr>
          <p:cNvSpPr txBox="1"/>
          <p:nvPr/>
        </p:nvSpPr>
        <p:spPr>
          <a:xfrm>
            <a:off x="545041" y="4353998"/>
            <a:ext cx="3754448" cy="646331"/>
          </a:xfrm>
          <a:prstGeom prst="rect">
            <a:avLst/>
          </a:prstGeom>
          <a:noFill/>
        </p:spPr>
        <p:txBody>
          <a:bodyPr wrap="square" rtlCol="0">
            <a:spAutoFit/>
          </a:bodyPr>
          <a:lstStyle/>
          <a:p>
            <a:r>
              <a:rPr lang="fr-FR" dirty="0"/>
              <a:t>1. Création d’une nouvelle connexion (choisir </a:t>
            </a:r>
            <a:r>
              <a:rPr lang="fr-FR" dirty="0" err="1"/>
              <a:t>postgres</a:t>
            </a:r>
            <a:r>
              <a:rPr lang="fr-FR" dirty="0"/>
              <a:t>)</a:t>
            </a:r>
          </a:p>
        </p:txBody>
      </p:sp>
      <p:pic>
        <p:nvPicPr>
          <p:cNvPr id="18" name="Image 17">
            <a:extLst>
              <a:ext uri="{FF2B5EF4-FFF2-40B4-BE49-F238E27FC236}">
                <a16:creationId xmlns:a16="http://schemas.microsoft.com/office/drawing/2014/main" id="{25E7C2D3-B1AE-034D-DF7A-7396FE7E022D}"/>
              </a:ext>
            </a:extLst>
          </p:cNvPr>
          <p:cNvPicPr>
            <a:picLocks noChangeAspect="1"/>
          </p:cNvPicPr>
          <p:nvPr/>
        </p:nvPicPr>
        <p:blipFill>
          <a:blip r:embed="rId3"/>
          <a:stretch>
            <a:fillRect/>
          </a:stretch>
        </p:blipFill>
        <p:spPr>
          <a:xfrm>
            <a:off x="6913442" y="979769"/>
            <a:ext cx="4662830" cy="4117392"/>
          </a:xfrm>
          <a:prstGeom prst="rect">
            <a:avLst/>
          </a:prstGeom>
        </p:spPr>
      </p:pic>
      <p:sp>
        <p:nvSpPr>
          <p:cNvPr id="20" name="ZoneTexte 19">
            <a:extLst>
              <a:ext uri="{FF2B5EF4-FFF2-40B4-BE49-F238E27FC236}">
                <a16:creationId xmlns:a16="http://schemas.microsoft.com/office/drawing/2014/main" id="{F13E0730-B7EB-D2A9-03DC-84DC4E9FA3FB}"/>
              </a:ext>
            </a:extLst>
          </p:cNvPr>
          <p:cNvSpPr txBox="1"/>
          <p:nvPr/>
        </p:nvSpPr>
        <p:spPr>
          <a:xfrm>
            <a:off x="7620000" y="5074801"/>
            <a:ext cx="3754448" cy="923330"/>
          </a:xfrm>
          <a:prstGeom prst="rect">
            <a:avLst/>
          </a:prstGeom>
          <a:noFill/>
        </p:spPr>
        <p:txBody>
          <a:bodyPr wrap="square" rtlCol="0">
            <a:spAutoFit/>
          </a:bodyPr>
          <a:lstStyle/>
          <a:p>
            <a:r>
              <a:rPr lang="fr-FR" dirty="0"/>
              <a:t>2. Configuration de la connexion</a:t>
            </a:r>
          </a:p>
          <a:p>
            <a:r>
              <a:rPr lang="fr-FR" dirty="0"/>
              <a:t>User : </a:t>
            </a:r>
            <a:r>
              <a:rPr lang="fr-FR" dirty="0" err="1"/>
              <a:t>postgres</a:t>
            </a:r>
            <a:endParaRPr lang="fr-FR" dirty="0"/>
          </a:p>
          <a:p>
            <a:r>
              <a:rPr lang="fr-FR" dirty="0" err="1"/>
              <a:t>Mdp</a:t>
            </a:r>
            <a:r>
              <a:rPr lang="fr-FR" dirty="0"/>
              <a:t> : </a:t>
            </a:r>
            <a:r>
              <a:rPr lang="fr-FR" dirty="0" err="1"/>
              <a:t>polytech</a:t>
            </a:r>
            <a:endParaRPr lang="fr-FR" dirty="0"/>
          </a:p>
        </p:txBody>
      </p:sp>
    </p:spTree>
    <p:extLst>
      <p:ext uri="{BB962C8B-B14F-4D97-AF65-F5344CB8AC3E}">
        <p14:creationId xmlns:p14="http://schemas.microsoft.com/office/powerpoint/2010/main" val="38836240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D7958-899C-1D72-0F62-1E1B0D741304}"/>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2220F7C8-1E9A-5DF8-6379-8632926DA8CC}"/>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36B094AE-C3EC-2611-4192-A5E39CFAF531}"/>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4">
            <a:extLst>
              <a:ext uri="{FF2B5EF4-FFF2-40B4-BE49-F238E27FC236}">
                <a16:creationId xmlns:a16="http://schemas.microsoft.com/office/drawing/2014/main" id="{ADE7135B-D624-C85D-8C31-96C94D4AB031}"/>
              </a:ext>
            </a:extLst>
          </p:cNvPr>
          <p:cNvSpPr txBox="1"/>
          <p:nvPr/>
        </p:nvSpPr>
        <p:spPr>
          <a:xfrm>
            <a:off x="502920" y="118872"/>
            <a:ext cx="2993448" cy="492443"/>
          </a:xfrm>
          <a:prstGeom prst="rect">
            <a:avLst/>
          </a:prstGeom>
          <a:noFill/>
        </p:spPr>
        <p:txBody>
          <a:bodyPr wrap="none">
            <a:spAutoFit/>
          </a:bodyPr>
          <a:lstStyle/>
          <a:p>
            <a:pPr>
              <a:defRPr sz="2600" b="1">
                <a:solidFill>
                  <a:srgbClr val="FFFFFF"/>
                </a:solidFill>
                <a:latin typeface="Aptos Display"/>
              </a:defRPr>
            </a:pPr>
            <a:r>
              <a:rPr lang="fr-FR" dirty="0" err="1"/>
              <a:t>Récuperation</a:t>
            </a:r>
            <a:r>
              <a:rPr lang="fr-FR" dirty="0"/>
              <a:t> du TP </a:t>
            </a:r>
            <a:endParaRPr dirty="0"/>
          </a:p>
        </p:txBody>
      </p:sp>
      <p:sp>
        <p:nvSpPr>
          <p:cNvPr id="19" name="TextBox 7">
            <a:extLst>
              <a:ext uri="{FF2B5EF4-FFF2-40B4-BE49-F238E27FC236}">
                <a16:creationId xmlns:a16="http://schemas.microsoft.com/office/drawing/2014/main" id="{E3993ECC-F5B0-4DBA-FD59-DCA69536700A}"/>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20" name="Espace réservé du numéro de diapositive 8">
            <a:extLst>
              <a:ext uri="{FF2B5EF4-FFF2-40B4-BE49-F238E27FC236}">
                <a16:creationId xmlns:a16="http://schemas.microsoft.com/office/drawing/2014/main" id="{5357EEE4-F3F4-BC34-2B65-C72233B20645}"/>
              </a:ext>
            </a:extLst>
          </p:cNvPr>
          <p:cNvSpPr>
            <a:spLocks noGrp="1"/>
          </p:cNvSpPr>
          <p:nvPr>
            <p:ph type="sldNum" sz="quarter" idx="12"/>
          </p:nvPr>
        </p:nvSpPr>
        <p:spPr>
          <a:xfrm>
            <a:off x="6553200" y="6356350"/>
            <a:ext cx="2133600" cy="365125"/>
          </a:xfrm>
        </p:spPr>
        <p:txBody>
          <a:bodyPr/>
          <a:lstStyle/>
          <a:p>
            <a:fld id="{C1FF6DA9-008F-8B48-92A6-B652298478BF}" type="slidenum">
              <a:rPr lang="en-US" smtClean="0"/>
              <a:t>50</a:t>
            </a:fld>
            <a:endParaRPr lang="en-US"/>
          </a:p>
        </p:txBody>
      </p:sp>
      <p:sp>
        <p:nvSpPr>
          <p:cNvPr id="21" name="ZoneTexte 20">
            <a:extLst>
              <a:ext uri="{FF2B5EF4-FFF2-40B4-BE49-F238E27FC236}">
                <a16:creationId xmlns:a16="http://schemas.microsoft.com/office/drawing/2014/main" id="{3EE81F49-6394-BCD8-4E66-5C72DEF7C9F2}"/>
              </a:ext>
            </a:extLst>
          </p:cNvPr>
          <p:cNvSpPr txBox="1"/>
          <p:nvPr/>
        </p:nvSpPr>
        <p:spPr>
          <a:xfrm>
            <a:off x="294968" y="1248697"/>
            <a:ext cx="9085006" cy="3970318"/>
          </a:xfrm>
          <a:prstGeom prst="rect">
            <a:avLst/>
          </a:prstGeom>
          <a:noFill/>
        </p:spPr>
        <p:txBody>
          <a:bodyPr wrap="square" rtlCol="0">
            <a:spAutoFit/>
          </a:bodyPr>
          <a:lstStyle/>
          <a:p>
            <a:r>
              <a:rPr lang="fr-FR" dirty="0" err="1"/>
              <a:t>Front-end</a:t>
            </a:r>
            <a:r>
              <a:rPr lang="fr-FR" dirty="0"/>
              <a:t> : </a:t>
            </a:r>
            <a:r>
              <a:rPr lang="fr-FR" dirty="0" err="1">
                <a:hlinkClick r:id="rId2"/>
              </a:rPr>
              <a:t>Estellemonv</a:t>
            </a:r>
            <a:r>
              <a:rPr lang="fr-FR" dirty="0">
                <a:hlinkClick r:id="rId2"/>
              </a:rPr>
              <a:t>/</a:t>
            </a:r>
            <a:r>
              <a:rPr lang="fr-FR" dirty="0" err="1">
                <a:hlinkClick r:id="rId2"/>
              </a:rPr>
              <a:t>ludotech</a:t>
            </a:r>
            <a:r>
              <a:rPr lang="fr-FR" dirty="0">
                <a:hlinkClick r:id="rId2"/>
              </a:rPr>
              <a:t>-frontend-</a:t>
            </a:r>
            <a:r>
              <a:rPr lang="fr-FR" dirty="0" err="1">
                <a:hlinkClick r:id="rId2"/>
              </a:rPr>
              <a:t>tp</a:t>
            </a:r>
            <a:endParaRPr lang="fr-FR" dirty="0"/>
          </a:p>
          <a:p>
            <a:endParaRPr lang="fr-FR" dirty="0"/>
          </a:p>
          <a:p>
            <a:r>
              <a:rPr lang="fr-FR" dirty="0" err="1"/>
              <a:t>Back-end</a:t>
            </a:r>
            <a:r>
              <a:rPr lang="fr-FR" dirty="0"/>
              <a:t> : </a:t>
            </a:r>
            <a:r>
              <a:rPr lang="fr-FR" dirty="0" err="1">
                <a:hlinkClick r:id="rId3"/>
              </a:rPr>
              <a:t>Estellemonv</a:t>
            </a:r>
            <a:r>
              <a:rPr lang="fr-FR" dirty="0">
                <a:hlinkClick r:id="rId3"/>
              </a:rPr>
              <a:t>/</a:t>
            </a:r>
            <a:r>
              <a:rPr lang="fr-FR" dirty="0" err="1">
                <a:hlinkClick r:id="rId3"/>
              </a:rPr>
              <a:t>ludotech</a:t>
            </a:r>
            <a:r>
              <a:rPr lang="fr-FR" dirty="0">
                <a:hlinkClick r:id="rId3"/>
              </a:rPr>
              <a:t>-backend-</a:t>
            </a:r>
            <a:r>
              <a:rPr lang="fr-FR" dirty="0" err="1">
                <a:hlinkClick r:id="rId3"/>
              </a:rPr>
              <a:t>tp</a:t>
            </a:r>
            <a:endParaRPr lang="fr-FR" dirty="0"/>
          </a:p>
          <a:p>
            <a:endParaRPr lang="fr-FR" dirty="0"/>
          </a:p>
          <a:p>
            <a:endParaRPr lang="fr-FR" dirty="0"/>
          </a:p>
          <a:p>
            <a:pPr marL="285750" indent="-285750">
              <a:buFont typeface="Arial" panose="020B0604020202020204" pitchFamily="34" charset="0"/>
              <a:buChar char="•"/>
            </a:pPr>
            <a:r>
              <a:rPr lang="fr-FR" dirty="0"/>
              <a:t>Pour le front : lancer VS code, ouvrir un terminal </a:t>
            </a:r>
            <a:r>
              <a:rPr lang="fr-FR" dirty="0">
                <a:sym typeface="Wingdings" panose="05000000000000000000" pitchFamily="2" charset="2"/>
              </a:rPr>
              <a:t> faire </a:t>
            </a:r>
            <a:r>
              <a:rPr lang="fr-FR" dirty="0" err="1">
                <a:sym typeface="Wingdings" panose="05000000000000000000" pitchFamily="2" charset="2"/>
              </a:rPr>
              <a:t>npm</a:t>
            </a:r>
            <a:r>
              <a:rPr lang="fr-FR" dirty="0">
                <a:sym typeface="Wingdings" panose="05000000000000000000" pitchFamily="2" charset="2"/>
              </a:rPr>
              <a:t> </a:t>
            </a:r>
            <a:r>
              <a:rPr lang="fr-FR" dirty="0" err="1">
                <a:sym typeface="Wingdings" panose="05000000000000000000" pitchFamily="2" charset="2"/>
              </a:rPr>
              <a:t>install</a:t>
            </a:r>
            <a:endParaRPr lang="fr-FR" dirty="0">
              <a:sym typeface="Wingdings" panose="05000000000000000000" pitchFamily="2" charset="2"/>
            </a:endParaRPr>
          </a:p>
          <a:p>
            <a:pPr marL="742950" lvl="1" indent="-285750">
              <a:buFont typeface="Arial" panose="020B0604020202020204" pitchFamily="34" charset="0"/>
              <a:buChar char="•"/>
            </a:pPr>
            <a:r>
              <a:rPr lang="fr-FR" dirty="0">
                <a:sym typeface="Wingdings" panose="05000000000000000000" pitchFamily="2" charset="2"/>
              </a:rPr>
              <a:t>Dans le fichier </a:t>
            </a:r>
            <a:r>
              <a:rPr lang="fr-FR" dirty="0" err="1">
                <a:sym typeface="Wingdings" panose="05000000000000000000" pitchFamily="2" charset="2"/>
              </a:rPr>
              <a:t>package.json</a:t>
            </a:r>
            <a:r>
              <a:rPr lang="fr-FR" dirty="0">
                <a:sym typeface="Wingdings" panose="05000000000000000000" pitchFamily="2" charset="2"/>
              </a:rPr>
              <a:t>  modifier la ligne « start » : « </a:t>
            </a:r>
            <a:r>
              <a:rPr lang="fr-FR" dirty="0" err="1">
                <a:sym typeface="Wingdings" panose="05000000000000000000" pitchFamily="2" charset="2"/>
              </a:rPr>
              <a:t>ng</a:t>
            </a:r>
            <a:r>
              <a:rPr lang="fr-FR" dirty="0">
                <a:sym typeface="Wingdings" panose="05000000000000000000" pitchFamily="2" charset="2"/>
              </a:rPr>
              <a:t> serve » en « start » : « </a:t>
            </a:r>
            <a:r>
              <a:rPr lang="fr-FR" dirty="0" err="1">
                <a:sym typeface="Wingdings" panose="05000000000000000000" pitchFamily="2" charset="2"/>
              </a:rPr>
              <a:t>ng</a:t>
            </a:r>
            <a:r>
              <a:rPr lang="fr-FR" dirty="0">
                <a:sym typeface="Wingdings" panose="05000000000000000000" pitchFamily="2" charset="2"/>
              </a:rPr>
              <a:t> serve --</a:t>
            </a:r>
            <a:r>
              <a:rPr lang="fr-FR" dirty="0" err="1">
                <a:sym typeface="Wingdings" panose="05000000000000000000" pitchFamily="2" charset="2"/>
              </a:rPr>
              <a:t>poll</a:t>
            </a:r>
            <a:r>
              <a:rPr lang="fr-FR" dirty="0">
                <a:sym typeface="Wingdings" panose="05000000000000000000" pitchFamily="2" charset="2"/>
              </a:rPr>
              <a:t>=2000 »</a:t>
            </a:r>
          </a:p>
          <a:p>
            <a:pPr marL="742950" lvl="1" indent="-285750">
              <a:buFont typeface="Arial" panose="020B0604020202020204" pitchFamily="34" charset="0"/>
              <a:buChar char="•"/>
            </a:pPr>
            <a:r>
              <a:rPr lang="fr-FR" dirty="0">
                <a:sym typeface="Wingdings" panose="05000000000000000000" pitchFamily="2" charset="2"/>
              </a:rPr>
              <a:t>Une fois tout installer : </a:t>
            </a:r>
            <a:r>
              <a:rPr lang="fr-FR" dirty="0" err="1">
                <a:sym typeface="Wingdings" panose="05000000000000000000" pitchFamily="2" charset="2"/>
              </a:rPr>
              <a:t>npm</a:t>
            </a:r>
            <a:r>
              <a:rPr lang="fr-FR" dirty="0">
                <a:sym typeface="Wingdings" panose="05000000000000000000" pitchFamily="2" charset="2"/>
              </a:rPr>
              <a:t> start </a:t>
            </a:r>
          </a:p>
          <a:p>
            <a:pPr marL="742950" lvl="1" indent="-285750">
              <a:buFont typeface="Arial" panose="020B0604020202020204" pitchFamily="34" charset="0"/>
              <a:buChar char="•"/>
            </a:pPr>
            <a:endParaRPr lang="fr-FR" dirty="0">
              <a:sym typeface="Wingdings" panose="05000000000000000000" pitchFamily="2" charset="2"/>
            </a:endParaRPr>
          </a:p>
          <a:p>
            <a:pPr marL="742950" lvl="1" indent="-285750">
              <a:buFont typeface="Arial" panose="020B0604020202020204" pitchFamily="34" charset="0"/>
              <a:buChar char="•"/>
            </a:pPr>
            <a:endParaRPr lang="fr-FR" dirty="0">
              <a:sym typeface="Wingdings" panose="05000000000000000000" pitchFamily="2" charset="2"/>
            </a:endParaRPr>
          </a:p>
          <a:p>
            <a:pPr marL="285750" indent="-285750">
              <a:buFont typeface="Arial" panose="020B0604020202020204" pitchFamily="34" charset="0"/>
              <a:buChar char="•"/>
            </a:pPr>
            <a:r>
              <a:rPr lang="fr-FR" dirty="0">
                <a:sym typeface="Wingdings" panose="05000000000000000000" pitchFamily="2" charset="2"/>
              </a:rPr>
              <a:t>Pour le back : lancer </a:t>
            </a:r>
            <a:r>
              <a:rPr lang="fr-FR" dirty="0" err="1">
                <a:sym typeface="Wingdings" panose="05000000000000000000" pitchFamily="2" charset="2"/>
              </a:rPr>
              <a:t>intelliJ</a:t>
            </a:r>
            <a:r>
              <a:rPr lang="fr-FR" dirty="0">
                <a:sym typeface="Wingdings" panose="05000000000000000000" pitchFamily="2" charset="2"/>
              </a:rPr>
              <a:t>, ouvrer le projet  configurer un </a:t>
            </a:r>
            <a:r>
              <a:rPr lang="fr-FR" dirty="0" err="1">
                <a:sym typeface="Wingdings" panose="05000000000000000000" pitchFamily="2" charset="2"/>
              </a:rPr>
              <a:t>sdk</a:t>
            </a:r>
            <a:r>
              <a:rPr lang="fr-FR" dirty="0">
                <a:sym typeface="Wingdings" panose="05000000000000000000" pitchFamily="2" charset="2"/>
              </a:rPr>
              <a:t> si pas déjà fait</a:t>
            </a:r>
          </a:p>
          <a:p>
            <a:pPr marL="742950" lvl="1" indent="-285750">
              <a:buFont typeface="Arial" panose="020B0604020202020204" pitchFamily="34" charset="0"/>
              <a:buChar char="•"/>
            </a:pPr>
            <a:r>
              <a:rPr lang="fr-FR" dirty="0">
                <a:sym typeface="Wingdings" panose="05000000000000000000" pitchFamily="2" charset="2"/>
              </a:rPr>
              <a:t>Dans l’onglet Maven (indiquer par un M sur la droite) </a:t>
            </a:r>
          </a:p>
          <a:p>
            <a:pPr marL="742950" lvl="1" indent="-285750">
              <a:buFont typeface="Arial" panose="020B0604020202020204" pitchFamily="34" charset="0"/>
              <a:buChar char="•"/>
            </a:pPr>
            <a:r>
              <a:rPr lang="fr-FR" dirty="0">
                <a:sym typeface="Wingdings" panose="05000000000000000000" pitchFamily="2" charset="2"/>
              </a:rPr>
              <a:t>Ensuite </a:t>
            </a:r>
          </a:p>
        </p:txBody>
      </p:sp>
      <p:pic>
        <p:nvPicPr>
          <p:cNvPr id="22" name="Image 21">
            <a:extLst>
              <a:ext uri="{FF2B5EF4-FFF2-40B4-BE49-F238E27FC236}">
                <a16:creationId xmlns:a16="http://schemas.microsoft.com/office/drawing/2014/main" id="{21665492-4E7D-83B7-2371-93CB4BA64A0B}"/>
              </a:ext>
            </a:extLst>
          </p:cNvPr>
          <p:cNvPicPr>
            <a:picLocks noChangeAspect="1"/>
          </p:cNvPicPr>
          <p:nvPr/>
        </p:nvPicPr>
        <p:blipFill>
          <a:blip r:embed="rId4"/>
          <a:stretch>
            <a:fillRect/>
          </a:stretch>
        </p:blipFill>
        <p:spPr>
          <a:xfrm>
            <a:off x="1999644" y="4878259"/>
            <a:ext cx="3056309" cy="1660653"/>
          </a:xfrm>
          <a:prstGeom prst="rect">
            <a:avLst/>
          </a:prstGeom>
        </p:spPr>
      </p:pic>
      <p:pic>
        <p:nvPicPr>
          <p:cNvPr id="3" name="Image 2">
            <a:extLst>
              <a:ext uri="{FF2B5EF4-FFF2-40B4-BE49-F238E27FC236}">
                <a16:creationId xmlns:a16="http://schemas.microsoft.com/office/drawing/2014/main" id="{AA891B04-D2B2-1250-5668-9D09869A09AA}"/>
              </a:ext>
            </a:extLst>
          </p:cNvPr>
          <p:cNvPicPr>
            <a:picLocks noChangeAspect="1"/>
          </p:cNvPicPr>
          <p:nvPr/>
        </p:nvPicPr>
        <p:blipFill>
          <a:blip r:embed="rId5"/>
          <a:stretch>
            <a:fillRect/>
          </a:stretch>
        </p:blipFill>
        <p:spPr>
          <a:xfrm>
            <a:off x="6194322" y="4610875"/>
            <a:ext cx="2359742" cy="2082533"/>
          </a:xfrm>
          <a:prstGeom prst="rect">
            <a:avLst/>
          </a:prstGeom>
        </p:spPr>
      </p:pic>
    </p:spTree>
    <p:extLst>
      <p:ext uri="{BB962C8B-B14F-4D97-AF65-F5344CB8AC3E}">
        <p14:creationId xmlns:p14="http://schemas.microsoft.com/office/powerpoint/2010/main" val="18905722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F5EFD-0AB1-5A13-EA6B-E607F20EEBB9}"/>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FE8623D6-DD6C-781F-B379-603C6831E397}"/>
              </a:ext>
            </a:extLst>
          </p:cNvPr>
          <p:cNvSpPr/>
          <p:nvPr/>
        </p:nvSpPr>
        <p:spPr>
          <a:xfrm>
            <a:off x="0" y="0"/>
            <a:ext cx="12191695" cy="685800"/>
          </a:xfrm>
          <a:prstGeom prst="rect">
            <a:avLst/>
          </a:prstGeom>
          <a:solidFill>
            <a:srgbClr val="0D27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A64CDC03-F5E6-A817-933A-C12D502AB766}"/>
              </a:ext>
            </a:extLst>
          </p:cNvPr>
          <p:cNvSpPr/>
          <p:nvPr/>
        </p:nvSpPr>
        <p:spPr>
          <a:xfrm>
            <a:off x="0" y="685800"/>
            <a:ext cx="12191695" cy="64008"/>
          </a:xfrm>
          <a:prstGeom prst="rect">
            <a:avLst/>
          </a:prstGeom>
          <a:solidFill>
            <a:srgbClr val="F07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4">
            <a:extLst>
              <a:ext uri="{FF2B5EF4-FFF2-40B4-BE49-F238E27FC236}">
                <a16:creationId xmlns:a16="http://schemas.microsoft.com/office/drawing/2014/main" id="{39243D36-4912-A31F-8B83-4214FA39C3CC}"/>
              </a:ext>
            </a:extLst>
          </p:cNvPr>
          <p:cNvSpPr txBox="1"/>
          <p:nvPr/>
        </p:nvSpPr>
        <p:spPr>
          <a:xfrm>
            <a:off x="502920" y="118872"/>
            <a:ext cx="2737160" cy="492443"/>
          </a:xfrm>
          <a:prstGeom prst="rect">
            <a:avLst/>
          </a:prstGeom>
          <a:noFill/>
        </p:spPr>
        <p:txBody>
          <a:bodyPr wrap="none">
            <a:spAutoFit/>
          </a:bodyPr>
          <a:lstStyle/>
          <a:p>
            <a:pPr>
              <a:defRPr sz="2600" b="1">
                <a:solidFill>
                  <a:srgbClr val="FFFFFF"/>
                </a:solidFill>
                <a:latin typeface="Aptos Display"/>
              </a:defRPr>
            </a:pPr>
            <a:r>
              <a:rPr lang="fr-FR" dirty="0"/>
              <a:t>Premier </a:t>
            </a:r>
            <a:r>
              <a:rPr lang="fr-FR" dirty="0" err="1"/>
              <a:t>Liquibase</a:t>
            </a:r>
            <a:endParaRPr dirty="0"/>
          </a:p>
        </p:txBody>
      </p:sp>
      <p:sp>
        <p:nvSpPr>
          <p:cNvPr id="19" name="TextBox 7">
            <a:extLst>
              <a:ext uri="{FF2B5EF4-FFF2-40B4-BE49-F238E27FC236}">
                <a16:creationId xmlns:a16="http://schemas.microsoft.com/office/drawing/2014/main" id="{1E1C8496-11B4-73E2-DDB2-37F77C200380}"/>
              </a:ext>
            </a:extLst>
          </p:cNvPr>
          <p:cNvSpPr txBox="1"/>
          <p:nvPr/>
        </p:nvSpPr>
        <p:spPr>
          <a:xfrm>
            <a:off x="502920" y="6510528"/>
            <a:ext cx="10972800" cy="182880"/>
          </a:xfrm>
          <a:prstGeom prst="rect">
            <a:avLst/>
          </a:prstGeom>
          <a:noFill/>
        </p:spPr>
        <p:txBody>
          <a:bodyPr wrap="none">
            <a:spAutoFit/>
          </a:bodyPr>
          <a:lstStyle/>
          <a:p>
            <a:pPr>
              <a:defRPr sz="900">
                <a:solidFill>
                  <a:srgbClr val="646E78"/>
                </a:solidFill>
                <a:latin typeface="Aptos"/>
              </a:defRPr>
            </a:pPr>
            <a:r>
              <a:t>Cours Spring Boot — Java 17/21 — Spring Boot 3</a:t>
            </a:r>
          </a:p>
        </p:txBody>
      </p:sp>
      <p:sp>
        <p:nvSpPr>
          <p:cNvPr id="20" name="Espace réservé du numéro de diapositive 8">
            <a:extLst>
              <a:ext uri="{FF2B5EF4-FFF2-40B4-BE49-F238E27FC236}">
                <a16:creationId xmlns:a16="http://schemas.microsoft.com/office/drawing/2014/main" id="{52E2D65F-8E40-2915-28FD-ED702D01A2CA}"/>
              </a:ext>
            </a:extLst>
          </p:cNvPr>
          <p:cNvSpPr>
            <a:spLocks noGrp="1"/>
          </p:cNvSpPr>
          <p:nvPr>
            <p:ph type="sldNum" sz="quarter" idx="12"/>
          </p:nvPr>
        </p:nvSpPr>
        <p:spPr>
          <a:xfrm>
            <a:off x="6553200" y="6356350"/>
            <a:ext cx="2133600" cy="365125"/>
          </a:xfrm>
        </p:spPr>
        <p:txBody>
          <a:bodyPr/>
          <a:lstStyle/>
          <a:p>
            <a:fld id="{C1FF6DA9-008F-8B48-92A6-B652298478BF}" type="slidenum">
              <a:rPr lang="en-US" smtClean="0"/>
              <a:t>51</a:t>
            </a:fld>
            <a:endParaRPr lang="en-US"/>
          </a:p>
        </p:txBody>
      </p:sp>
      <p:sp>
        <p:nvSpPr>
          <p:cNvPr id="2" name="ZoneTexte 1">
            <a:extLst>
              <a:ext uri="{FF2B5EF4-FFF2-40B4-BE49-F238E27FC236}">
                <a16:creationId xmlns:a16="http://schemas.microsoft.com/office/drawing/2014/main" id="{3C603872-77EE-2F6B-275B-5A5F3634B6DF}"/>
              </a:ext>
            </a:extLst>
          </p:cNvPr>
          <p:cNvSpPr txBox="1"/>
          <p:nvPr/>
        </p:nvSpPr>
        <p:spPr>
          <a:xfrm>
            <a:off x="416689" y="1284790"/>
            <a:ext cx="8461093" cy="5909310"/>
          </a:xfrm>
          <a:prstGeom prst="rect">
            <a:avLst/>
          </a:prstGeom>
          <a:noFill/>
        </p:spPr>
        <p:txBody>
          <a:bodyPr wrap="square" rtlCol="0">
            <a:spAutoFit/>
          </a:bodyPr>
          <a:lstStyle/>
          <a:p>
            <a:r>
              <a:rPr lang="fr-FR" dirty="0"/>
              <a:t>Dans </a:t>
            </a:r>
            <a:r>
              <a:rPr lang="fr-FR" dirty="0" err="1"/>
              <a:t>resources</a:t>
            </a:r>
            <a:r>
              <a:rPr lang="fr-FR" dirty="0"/>
              <a:t>/</a:t>
            </a:r>
            <a:r>
              <a:rPr lang="fr-FR" dirty="0" err="1"/>
              <a:t>db</a:t>
            </a:r>
            <a:r>
              <a:rPr lang="fr-FR" dirty="0"/>
              <a:t> : </a:t>
            </a:r>
          </a:p>
          <a:p>
            <a:pPr marL="285750" indent="-285750">
              <a:buFont typeface="Arial" panose="020B0604020202020204" pitchFamily="34" charset="0"/>
              <a:buChar char="•"/>
            </a:pPr>
            <a:r>
              <a:rPr lang="fr-FR" dirty="0"/>
              <a:t>Créer un fichier changelog-</a:t>
            </a:r>
            <a:r>
              <a:rPr lang="fr-FR" dirty="0" err="1"/>
              <a:t>master.yml</a:t>
            </a:r>
            <a:endParaRPr lang="fr-FR" dirty="0"/>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endParaRPr lang="fr-FR" dirty="0"/>
          </a:p>
          <a:p>
            <a:pPr marL="285750" indent="-285750">
              <a:buFont typeface="Arial" panose="020B0604020202020204" pitchFamily="34" charset="0"/>
              <a:buChar char="•"/>
            </a:pPr>
            <a:r>
              <a:rPr lang="fr-FR" dirty="0"/>
              <a:t>Créer un fichier 000_table_user.xml</a:t>
            </a:r>
          </a:p>
          <a:p>
            <a:pPr marL="742950" lvl="1" indent="-285750">
              <a:buFont typeface="Arial" panose="020B0604020202020204" pitchFamily="34" charset="0"/>
              <a:buChar char="•"/>
            </a:pPr>
            <a:r>
              <a:rPr lang="fr-FR" dirty="0"/>
              <a:t>Mettre en </a:t>
            </a:r>
            <a:r>
              <a:rPr lang="fr-FR" dirty="0" err="1"/>
              <a:t>en-tete</a:t>
            </a:r>
            <a:r>
              <a:rPr lang="fr-FR" dirty="0"/>
              <a:t> :</a:t>
            </a:r>
          </a:p>
          <a:p>
            <a:r>
              <a:rPr lang="fr-FR" dirty="0"/>
              <a:t>&lt;?xml version="1.0" </a:t>
            </a:r>
            <a:r>
              <a:rPr lang="fr-FR" dirty="0" err="1"/>
              <a:t>encoding</a:t>
            </a:r>
            <a:r>
              <a:rPr lang="fr-FR" dirty="0"/>
              <a:t>="UTF-8"?&gt;</a:t>
            </a:r>
          </a:p>
          <a:p>
            <a:r>
              <a:rPr lang="fr-FR" dirty="0"/>
              <a:t>&lt;</a:t>
            </a:r>
            <a:r>
              <a:rPr lang="fr-FR" dirty="0" err="1"/>
              <a:t>databaseChangeLog</a:t>
            </a:r>
            <a:endParaRPr lang="fr-FR" dirty="0"/>
          </a:p>
          <a:p>
            <a:r>
              <a:rPr lang="fr-FR" dirty="0"/>
              <a:t>        </a:t>
            </a:r>
            <a:r>
              <a:rPr lang="fr-FR" dirty="0" err="1"/>
              <a:t>xmlns</a:t>
            </a:r>
            <a:r>
              <a:rPr lang="fr-FR" dirty="0"/>
              <a:t>="http://www.liquibase.org/xml/ns/dbchangelog"</a:t>
            </a:r>
          </a:p>
          <a:p>
            <a:r>
              <a:rPr lang="fr-FR" dirty="0"/>
              <a:t>        </a:t>
            </a:r>
            <a:r>
              <a:rPr lang="fr-FR" dirty="0" err="1"/>
              <a:t>xmlns:xsi</a:t>
            </a:r>
            <a:r>
              <a:rPr lang="fr-FR" dirty="0"/>
              <a:t>="http://www.w3.org/2001/XMLSchema-instance"</a:t>
            </a:r>
          </a:p>
          <a:p>
            <a:r>
              <a:rPr lang="fr-FR" dirty="0"/>
              <a:t>        </a:t>
            </a:r>
            <a:r>
              <a:rPr lang="fr-FR" dirty="0" err="1"/>
              <a:t>xsi:schemaLocation</a:t>
            </a:r>
            <a:r>
              <a:rPr lang="fr-FR" dirty="0"/>
              <a:t>="</a:t>
            </a:r>
          </a:p>
          <a:p>
            <a:r>
              <a:rPr lang="fr-FR" dirty="0"/>
              <a:t>            http://www.liquibase.org/xml/ns/dbchangelog</a:t>
            </a:r>
          </a:p>
          <a:p>
            <a:r>
              <a:rPr lang="fr-FR" dirty="0"/>
              <a:t>            </a:t>
            </a:r>
            <a:r>
              <a:rPr lang="fr-FR" dirty="0">
                <a:hlinkClick r:id="rId2"/>
              </a:rPr>
              <a:t>http://www.liquibase.org/xml/ns/dbchangelog/dbchangelog-4.21.xsd</a:t>
            </a:r>
            <a:r>
              <a:rPr lang="fr-FR" dirty="0"/>
              <a:t>"&gt;</a:t>
            </a:r>
          </a:p>
          <a:p>
            <a:endParaRPr lang="fr-FR" dirty="0"/>
          </a:p>
          <a:p>
            <a:r>
              <a:rPr lang="fr-FR" dirty="0"/>
              <a:t>	&lt;</a:t>
            </a:r>
            <a:r>
              <a:rPr lang="fr-FR" dirty="0" err="1"/>
              <a:t>changeSet</a:t>
            </a:r>
            <a:r>
              <a:rPr lang="fr-FR" dirty="0"/>
              <a:t>&gt;</a:t>
            </a:r>
          </a:p>
          <a:p>
            <a:r>
              <a:rPr lang="fr-FR" dirty="0"/>
              <a:t>		…</a:t>
            </a:r>
          </a:p>
          <a:p>
            <a:r>
              <a:rPr lang="fr-FR" dirty="0"/>
              <a:t>	&lt;/</a:t>
            </a:r>
            <a:r>
              <a:rPr lang="fr-FR" dirty="0" err="1"/>
              <a:t>changeSet</a:t>
            </a:r>
            <a:r>
              <a:rPr lang="fr-FR" dirty="0"/>
              <a:t>&gt;</a:t>
            </a:r>
          </a:p>
          <a:p>
            <a:r>
              <a:rPr lang="fr-FR" dirty="0"/>
              <a:t>&lt;/</a:t>
            </a:r>
            <a:r>
              <a:rPr lang="fr-FR" dirty="0" err="1"/>
              <a:t>databaseChangeLog</a:t>
            </a:r>
            <a:r>
              <a:rPr lang="fr-FR" dirty="0"/>
              <a:t>&gt;</a:t>
            </a:r>
          </a:p>
          <a:p>
            <a:pPr lvl="2"/>
            <a:endParaRPr lang="fr-FR" dirty="0"/>
          </a:p>
          <a:p>
            <a:pPr lvl="1"/>
            <a:br>
              <a:rPr lang="fr-FR" dirty="0"/>
            </a:br>
            <a:endParaRPr lang="fr-FR" dirty="0"/>
          </a:p>
        </p:txBody>
      </p:sp>
      <p:pic>
        <p:nvPicPr>
          <p:cNvPr id="5" name="Image 4">
            <a:extLst>
              <a:ext uri="{FF2B5EF4-FFF2-40B4-BE49-F238E27FC236}">
                <a16:creationId xmlns:a16="http://schemas.microsoft.com/office/drawing/2014/main" id="{5526A208-11DF-BE01-FF73-998BF4EF368F}"/>
              </a:ext>
            </a:extLst>
          </p:cNvPr>
          <p:cNvPicPr>
            <a:picLocks noChangeAspect="1"/>
          </p:cNvPicPr>
          <p:nvPr/>
        </p:nvPicPr>
        <p:blipFill>
          <a:blip r:embed="rId3"/>
          <a:stretch>
            <a:fillRect/>
          </a:stretch>
        </p:blipFill>
        <p:spPr>
          <a:xfrm>
            <a:off x="5319391" y="969647"/>
            <a:ext cx="4601217" cy="1257475"/>
          </a:xfrm>
          <a:prstGeom prst="rect">
            <a:avLst/>
          </a:prstGeom>
        </p:spPr>
      </p:pic>
    </p:spTree>
    <p:extLst>
      <p:ext uri="{BB962C8B-B14F-4D97-AF65-F5344CB8AC3E}">
        <p14:creationId xmlns:p14="http://schemas.microsoft.com/office/powerpoint/2010/main" val="1282260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6924</TotalTime>
  <Words>3748</Words>
  <Application>Microsoft Office PowerPoint</Application>
  <PresentationFormat>Grand écran</PresentationFormat>
  <Paragraphs>490</Paragraphs>
  <Slides>51</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51</vt:i4>
      </vt:variant>
    </vt:vector>
  </HeadingPairs>
  <TitlesOfParts>
    <vt:vector size="56" baseType="lpstr">
      <vt:lpstr>Aptos</vt:lpstr>
      <vt:lpstr>Arial</vt:lpstr>
      <vt:lpstr>Calibri</vt:lpstr>
      <vt:lpstr>Wingdings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Estelle Monvoisin</cp:lastModifiedBy>
  <cp:revision>15</cp:revision>
  <dcterms:created xsi:type="dcterms:W3CDTF">2013-01-27T09:14:16Z</dcterms:created>
  <dcterms:modified xsi:type="dcterms:W3CDTF">2026-09-28T18:46:58Z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9e9a456-2778-4ca9-be06-1190b1e1118a_Enabled">
    <vt:lpwstr>true</vt:lpwstr>
  </property>
  <property fmtid="{D5CDD505-2E9C-101B-9397-08002B2CF9AE}" pid="3" name="MSIP_Label_09e9a456-2778-4ca9-be06-1190b1e1118a_SetDate">
    <vt:lpwstr>2026-08-13T15:02:47Z</vt:lpwstr>
  </property>
  <property fmtid="{D5CDD505-2E9C-101B-9397-08002B2CF9AE}" pid="4" name="MSIP_Label_09e9a456-2778-4ca9-be06-1190b1e1118a_Method">
    <vt:lpwstr>Standard</vt:lpwstr>
  </property>
  <property fmtid="{D5CDD505-2E9C-101B-9397-08002B2CF9AE}" pid="5" name="MSIP_Label_09e9a456-2778-4ca9-be06-1190b1e1118a_Name">
    <vt:lpwstr>D3</vt:lpwstr>
  </property>
  <property fmtid="{D5CDD505-2E9C-101B-9397-08002B2CF9AE}" pid="6" name="MSIP_Label_09e9a456-2778-4ca9-be06-1190b1e1118a_SiteId">
    <vt:lpwstr>658ba197-6c73-4fea-91bd-1c7d8de6bf2c</vt:lpwstr>
  </property>
  <property fmtid="{D5CDD505-2E9C-101B-9397-08002B2CF9AE}" pid="7" name="MSIP_Label_09e9a456-2778-4ca9-be06-1190b1e1118a_ActionId">
    <vt:lpwstr>4fa25602-a13a-43e9-ad9f-3ec6c5cb5289</vt:lpwstr>
  </property>
  <property fmtid="{D5CDD505-2E9C-101B-9397-08002B2CF9AE}" pid="8" name="MSIP_Label_09e9a456-2778-4ca9-be06-1190b1e1118a_ContentBits">
    <vt:lpwstr>0</vt:lpwstr>
  </property>
  <property fmtid="{D5CDD505-2E9C-101B-9397-08002B2CF9AE}" pid="9" name="MSIP_Label_09e9a456-2778-4ca9-be06-1190b1e1118a_Tag">
    <vt:lpwstr>10, 3, 0, 1</vt:lpwstr>
  </property>
</Properties>
</file>